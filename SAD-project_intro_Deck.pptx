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iTqFyiD4R1gpTSRH9cvu4yywrp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F25F5D9-C27E-46C7-B8A8-6D8B02E2B88A}">
  <a:tblStyle styleId="{2F25F5D9-C27E-46C7-B8A8-6D8B02E2B88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Arial"/>
                <a:ea typeface="Arial"/>
                <a:cs typeface="Arial"/>
                <a:sym typeface="Arial"/>
              </a:rPr>
              <a:t>GOAL OF THIS SLIDE: Introduce the semester project in one sentence.</a:t>
            </a:r>
            <a:br>
              <a:rPr lang="en-US" sz="1200" b="0" i="0" u="none" strike="noStrike" cap="none">
                <a:solidFill>
                  <a:schemeClr val="dk1"/>
                </a:solidFill>
                <a:latin typeface="Arial"/>
                <a:ea typeface="Arial"/>
                <a:cs typeface="Arial"/>
                <a:sym typeface="Arial"/>
              </a:rPr>
            </a:br>
            <a:br>
              <a:rPr lang="en-US" sz="1200" b="0" i="0" u="none" strike="noStrike" cap="none">
                <a:solidFill>
                  <a:schemeClr val="dk1"/>
                </a:solidFill>
                <a:latin typeface="Arial"/>
                <a:ea typeface="Arial"/>
                <a:cs typeface="Arial"/>
                <a:sym typeface="Arial"/>
              </a:rPr>
            </a:br>
            <a:r>
              <a:rPr lang="en-US" sz="1200" b="0" i="0" u="none" strike="noStrike" cap="none">
                <a:solidFill>
                  <a:schemeClr val="dk1"/>
                </a:solidFill>
                <a:latin typeface="Arial"/>
                <a:ea typeface="Arial"/>
                <a:cs typeface="Arial"/>
                <a:sym typeface="Arial"/>
              </a:rPr>
              <a:t>WHAT TO SAY:</a:t>
            </a:r>
            <a:br>
              <a:rPr lang="en-US" sz="1200" b="0" i="0" u="none" strike="noStrike" cap="none">
                <a:solidFill>
                  <a:schemeClr val="dk1"/>
                </a:solidFill>
                <a:latin typeface="Arial"/>
                <a:ea typeface="Arial"/>
                <a:cs typeface="Arial"/>
                <a:sym typeface="Arial"/>
              </a:rPr>
            </a:br>
            <a:r>
              <a:rPr lang="en-US" sz="1200" b="0" i="0" u="none" strike="noStrike" cap="none">
                <a:solidFill>
                  <a:schemeClr val="dk1"/>
                </a:solidFill>
                <a:latin typeface="Arial"/>
                <a:ea typeface="Arial"/>
                <a:cs typeface="Arial"/>
                <a:sym typeface="Arial"/>
              </a:rPr>
              <a:t>Welcome to the semester project. Starting with Chapter 3, Requirements Determination, you and a partner will study a real company's system — something like Carvana, Airbnb, or Uber — and describe how it works using the tools from our textbook.</a:t>
            </a:r>
            <a:br>
              <a:rPr lang="en-US" sz="1200" b="0" i="0" u="none" strike="noStrike" cap="none">
                <a:solidFill>
                  <a:schemeClr val="dk1"/>
                </a:solidFill>
                <a:latin typeface="Arial"/>
                <a:ea typeface="Arial"/>
                <a:cs typeface="Arial"/>
                <a:sym typeface="Arial"/>
              </a:rPr>
            </a:br>
            <a:br>
              <a:rPr lang="en-US" sz="1200" b="0" i="0" u="none" strike="noStrike" cap="none">
                <a:solidFill>
                  <a:schemeClr val="dk1"/>
                </a:solidFill>
                <a:latin typeface="Arial"/>
                <a:ea typeface="Arial"/>
                <a:cs typeface="Arial"/>
                <a:sym typeface="Arial"/>
              </a:rPr>
            </a:br>
            <a:r>
              <a:rPr lang="en-US" sz="1200" b="0" i="0" u="none" strike="noStrike" cap="none">
                <a:solidFill>
                  <a:schemeClr val="dk1"/>
                </a:solidFill>
                <a:latin typeface="Arial"/>
                <a:ea typeface="Arial"/>
                <a:cs typeface="Arial"/>
                <a:sym typeface="Arial"/>
              </a:rPr>
              <a:t>You will not write any code. You will not build anything. You will act like consultants who were hired to understand and document a system that already exists.</a:t>
            </a:r>
            <a:br>
              <a:rPr lang="en-US" sz="1200" b="0" i="0" u="none" strike="noStrike" cap="none">
                <a:solidFill>
                  <a:schemeClr val="dk1"/>
                </a:solidFill>
                <a:latin typeface="Arial"/>
                <a:ea typeface="Arial"/>
                <a:cs typeface="Arial"/>
                <a:sym typeface="Arial"/>
              </a:rPr>
            </a:br>
            <a:br>
              <a:rPr lang="en-US" sz="1200" b="0" i="0" u="none" strike="noStrike" cap="none">
                <a:solidFill>
                  <a:schemeClr val="dk1"/>
                </a:solidFill>
                <a:latin typeface="Arial"/>
                <a:ea typeface="Arial"/>
                <a:cs typeface="Arial"/>
                <a:sym typeface="Arial"/>
              </a:rPr>
            </a:br>
            <a:r>
              <a:rPr lang="en-US" sz="1200" b="0" i="0" u="none" strike="noStrike" cap="none">
                <a:solidFill>
                  <a:schemeClr val="dk1"/>
                </a:solidFill>
                <a:latin typeface="Arial"/>
                <a:ea typeface="Arial"/>
                <a:cs typeface="Arial"/>
                <a:sym typeface="Arial"/>
              </a:rPr>
              <a:t>You will use an AI tool — ChatGPT, Copilot, Claude, Gemini — as a helper. It will play the role of people at the company so you can practice interviewing, and it will review your work. But the AI does not know the real company from the inside, so you must check what it tells you.</a:t>
            </a:r>
            <a:br>
              <a:rPr lang="en-US" sz="1200" b="0" i="0" u="none" strike="noStrike" cap="none">
                <a:solidFill>
                  <a:schemeClr val="dk1"/>
                </a:solidFill>
                <a:latin typeface="Arial"/>
                <a:ea typeface="Arial"/>
                <a:cs typeface="Arial"/>
                <a:sym typeface="Arial"/>
              </a:rPr>
            </a:br>
            <a:br>
              <a:rPr lang="en-US" sz="1200" b="0" i="0" u="none" strike="noStrike" cap="none">
                <a:solidFill>
                  <a:schemeClr val="dk1"/>
                </a:solidFill>
                <a:latin typeface="Arial"/>
                <a:ea typeface="Arial"/>
                <a:cs typeface="Arial"/>
                <a:sym typeface="Arial"/>
              </a:rPr>
            </a:br>
            <a:r>
              <a:rPr lang="en-US" sz="1200" b="0" i="0" u="none" strike="noStrike" cap="none">
                <a:solidFill>
                  <a:schemeClr val="dk1"/>
                </a:solidFill>
                <a:latin typeface="Arial"/>
                <a:ea typeface="Arial"/>
                <a:cs typeface="Arial"/>
                <a:sym typeface="Arial"/>
              </a:rPr>
              <a:t>Notice the three colored circles: F for Fact, I for Inference, A for Assumption. You will see them all semester. Every claim you make in this project gets one of these three labels. We will spend a full slide on them later.</a:t>
            </a:r>
            <a:br>
              <a:rPr lang="en-US" sz="1200" b="0" i="0" u="none" strike="noStrike" cap="none">
                <a:solidFill>
                  <a:schemeClr val="dk1"/>
                </a:solidFill>
                <a:latin typeface="Arial"/>
                <a:ea typeface="Arial"/>
                <a:cs typeface="Arial"/>
                <a:sym typeface="Arial"/>
              </a:rPr>
            </a:br>
            <a:br>
              <a:rPr lang="en-US" sz="1200" b="0" i="0" u="none" strike="noStrike" cap="none">
                <a:solidFill>
                  <a:schemeClr val="dk1"/>
                </a:solidFill>
                <a:latin typeface="Arial"/>
                <a:ea typeface="Arial"/>
                <a:cs typeface="Arial"/>
                <a:sym typeface="Arial"/>
              </a:rPr>
            </a:br>
            <a:r>
              <a:rPr lang="en-US" sz="1200" b="0" i="0" u="none" strike="noStrike" cap="none">
                <a:solidFill>
                  <a:schemeClr val="dk1"/>
                </a:solidFill>
                <a:latin typeface="Arial"/>
                <a:ea typeface="Arial"/>
                <a:cs typeface="Arial"/>
                <a:sym typeface="Arial"/>
              </a:rPr>
              <a:t>TRANSITION: Let me show you the whole project on one page.</a:t>
            </a:r>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 name="Google Shape;24;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Give students the big picture: observe, interview, model.</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whole project comes down to three activities that repeat all semester.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One — Observe. Go to the company's website or app and use it the way a customer would. Read the FAQ, the help center, the policies, and customer reviews. Take screenshots and write down the date. This is your most trustworthy evidence, because anyone can go and check 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Two — Interview. In Chapter 3 we learn that analysts interview stakeholders. You cannot call Carvana's managers, so the AI will pretend to be them. You will also ask a few real people who use the service — friends, family, classmates.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Three — Model. After each chapter, you draw the diagrams from that chapter for your company: use cases, data flow diagrams, an ERD, and so 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Look at the red box. You do not write code. You do not design a brand new system. And please — do not buy anything, apply for a loan, or put your personal information into these websites just to see a screen. If you cannot see a step safely, you describe what you think happens and label it as an assumption. That is perfectly acceptable.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Point to the bottom: you work in pairs, you pick one company, and you study one process in that company — not the whole company.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So how do you choose a company and a process?</a:t>
            </a:r>
            <a:endParaRPr/>
          </a:p>
        </p:txBody>
      </p:sp>
      <p:sp>
        <p:nvSpPr>
          <p:cNvPr id="25" name="Google Shape;25;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 name="Google Shape;50;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Help teams choose a manageable scope.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 company like Amazon is far too big for one semester. So each team picks one company and one process inside it. The table shows suggestions — you can propose something else, but I must approve 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Why only one process? Because in every chapter you will go deeper into that same process. A narrow topic lets you do real analysis instead of a shallow summary.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Look at the checklist on the right before you decide.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First, can you actually see the process without spending money or entering personal data? Returning an item on Amazon is hard to observe if you have never ordered anything — so think about that.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Second, is there enough public information: a help center, FAQs, reviews, news articles?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Third, is anyone else already doing it? I want each team on a different company or process.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One warning: if you use Uber or Netflix every day, you may think you already know how it works. You probably know the customer side only. Treat it like a system you have never seen.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Ask the class: Which of these processes do you think would be hardest to observe, and why?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Here is when each part is due.</a:t>
            </a:r>
            <a:endParaRPr/>
          </a:p>
        </p:txBody>
      </p:sp>
      <p:sp>
        <p:nvSpPr>
          <p:cNvPr id="51" name="Google Shape;51;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 name="Google Shape;61;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Show the milestone schedule and what repeats every time.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project follows the textbook. After we finish a chapter in class, you apply it to your company.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M1 is Chapter 3, Requirements Determination. This is where the project starts. In M1 you also choose your company and process, so decide early.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M2 is Chapter 4 — use cases and data flow diagrams.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M3 is Chapter 5 — the ERD and data dictionary.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M4 combines Chapters 6 and 7 — how the company probably got its software, and what its architecture probably looks like.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M5 combines Chapters 8 and 10 — the user interface and data storage.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M6 is the final presentation, where you also answer my questions about your work.</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[Instructor: give the due dates for each milestone from the course calendar here.]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bottom box is important. With every milestone, you also submit three things. Your updated logs — I will explain them soon. Your AI chat exports, so I can see how you used the AI. And a short note saying which partner did what.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Each milestone builds on the one before, so I will return feedback before the next one is due. Please use it — mistakes in M1 carry into everything after.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Now let us walk through what you do in each chapter.</a:t>
            </a:r>
            <a:endParaRPr/>
          </a:p>
        </p:txBody>
      </p:sp>
      <p:sp>
        <p:nvSpPr>
          <p:cNvPr id="62" name="Google Shape;62;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 name="Google Shape;96;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Transition to the chapter section.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next seven slides are a map. Each one says what you do and what you hand in for that chapter. We will study the details of each chapter in class when we get there — for now, I just want you to see where the project is going.</a:t>
            </a:r>
            <a:endParaRPr/>
          </a:p>
        </p:txBody>
      </p:sp>
      <p:sp>
        <p:nvSpPr>
          <p:cNvPr id="97" name="Google Shape;97;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0" name="Google Shape;110;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Explain the first milestone, where the project starts.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This is where the project begins. Chapter 3 teaches that a requirement is a statement of what the system must do or a characteristic it must have. Our job in this milestone is to find those requirements for your company's process.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Chapter 3 also teaches several ways to gather requirements: interviews, JAD sessions, questionnaires, document analysis, and observation. Look at the left side — you will use almost all of them.</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Observation: you use the website yourself and take screenshots.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Document analysis: you read FAQs, help pages, policies, and reviews.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Interviews: you interview two or three AI stakeholders — for example an Operations Manager and a Customer Service Manager.</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Questionnaire: you ask a few real users some short questions. Real people give you evidence the AI cannot.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On the right is what you hand in. Your requirements list must have two kinds of requirements. Functional requirements describe what the system does. Nonfunctional requirements describe qualities — the textbook groups them as operational, performance, security, and cultural or political.</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Before every interview, write your questions first. Good interviewers plan, and they ask follow-up questions like "why?" and "what happens if something goes wrong?"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You also start your logs this week. Do not leave them for the end.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Once you know the requirements, Chapter 4 shows you how to model the process.</a:t>
            </a:r>
            <a:endParaRPr/>
          </a:p>
        </p:txBody>
      </p:sp>
      <p:sp>
        <p:nvSpPr>
          <p:cNvPr id="111" name="Google Shape;111;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3" name="Google Shape;133;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Set expectations for use cases and data flow diagrams.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Chapter 4 gives us two tools to describe a process: use cases and data flow diagrams, or DFDs.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First you list the main use cases — the main things a user does with the system, such as "Purchase a vehicle." Then you write three to five of them in detail, using the format from the textbook: actor, trigger, normal flow of events, and what happens when something goes wrong.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Then you draw DFDs. Start with the context diagram: one process for the whole system, with the outside people and organizations around it. Then break it down into a Level 0 diagram, and pick one or two processes to break down again into Level 1.</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Two reminders. A use case describes what the user wants to accomplish, not which buttons they click. And your DFD levels must balance — the data going in and out of a process must match when you break it down.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BPMN is optional. Our textbook does not cover it, so it is extra, not required.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The data stores in your DFDs lead directly into Chapter 5.</a:t>
            </a:r>
            <a:endParaRPr/>
          </a:p>
        </p:txBody>
      </p:sp>
      <p:sp>
        <p:nvSpPr>
          <p:cNvPr id="134" name="Google Shape;134;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Explain the data modeling milestone.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Chapter 5 is about the data. Every system keeps information about people, things, and events — customers, vehicles, orders, payments.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Look at the left side. First, find your entities. A good place to start is the data stores in your DFDs and the nouns in your use cases.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Second, give each entity its attributes and a primary key.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Third, connect entities with relationships and show how many of each can be related — the cardinality and modality we learn in the chapter.</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Fourth, check your ERD against your DFDs. Every data store in your DFDs should match one or more entities. This is called balancing, and it is one of the most important checks in the project.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You also write a data dictionary — a description of each attribute — and you normalize your model to third normal form, as shown in the chapter appendix.</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 common mistake: turning a screen or a report into an entity. A web page is not an entity. The data shown on it is.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After the analysis chapters, we move into design, starting with Chapter 6.</a:t>
            </a:r>
            <a:endParaRPr/>
          </a:p>
        </p:txBody>
      </p:sp>
      <p:sp>
        <p:nvSpPr>
          <p:cNvPr id="157" name="Google Shape;157;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9" name="Google Shape;179;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Explain the acquisition-strategy milestone.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Chapter 6 teaches three ways a company can get a system: build it themselves — custom development — buy packaged software, or outsource it to another company.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You cannot ask the company, so you become a detective. Pick two or three parts of the system, such as payments, customer support, or identity checks. Then look for clues.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Job postings asking for engineers to build that feature suggest custom development.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 vendor's name or logo on a help page or checkout page suggests packaged software.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 news article about a partnership suggests outsourcing.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Then you fill in the alternative matrix from the chapter and explain which option is most likely and why. The textbook lists what influences this decision — business need, in-house experience, project skills, project management, and time frame — so use those ideas in your explanation.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 do not grade whether you guessed right, because nobody outside the company knows for sure. I grade the quality of your clues and your reasoning.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Chapter 7 takes this one step further — the architecture.</a:t>
            </a:r>
            <a:endParaRPr/>
          </a:p>
        </p:txBody>
      </p:sp>
      <p:sp>
        <p:nvSpPr>
          <p:cNvPr id="180" name="Google Shape;180;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2" name="Google Shape;202;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Explain the architecture milestone.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Chapter 7 says every system has four parts: presentation logic — what the user sees; application logic — the rules; data access logic; and data storage. The question is where each part runs: on the user's device, on servers, in a mobile app, in the cloud.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You will draw your best picture of the company's architecture. But almost everything here is a guess, so every box in your diagram needs a label — Fact, Inference, or Assumption.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Chapter 7 also connects architecture to nonfunctional requirements: operational, performance, security, and cultural or political. Look for clues you can observe. For example, if the company has an app in the app store, that is a fact about the operational environment. If the site asks for two-step sign-in, that is a security clue. If it offers several languages, that is a cultural clue.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 also want at least one other possible explanation. Good analysts consider more than one answer.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Very important: observing is fine. Trying to break in, scan, or probe the company's servers is not allowed — ever.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Next, the part of the system users see: the interface.</a:t>
            </a:r>
            <a:endParaRPr/>
          </a:p>
        </p:txBody>
      </p:sp>
      <p:sp>
        <p:nvSpPr>
          <p:cNvPr id="203" name="Google Shape;203;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6" name="Google Shape;226;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Explain the two parts of Milestone 5.</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Milestone 5 combines two chapters.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Left side, Chapter 8, User Interface Design. The chapter gives six design principles: layout, content awareness, aesthetics, usage level, consistency, and minimizing user effort. You use those principles to evaluate the company's screens. "I like it" or "it looks clean" is not an evaluation. "The search page breaks the consistency principle because the filter menu moves between pages" is — and you attach a screenshot.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You also draw an interface structure diagram showing how the screens in your process connect, and you look at navigation, input, and output design.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Right side, Chapter 10, Data Storage Design. You take your ERD from Chapter 5 and turn it into a physical design. What kind of storage would fit? What data types and sizes? Then you build a CRUD matrix — which processes create, read, update, or delete each entity. Finally you suggest indexes to make searching faster and estimate how much storage the data might need. Every number in that estimate is an assumption, so log 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 skip Chapter 9 because it is about programming.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That covers the chapters. Now let us talk about how to use the AI.</a:t>
            </a:r>
            <a:endParaRPr/>
          </a:p>
        </p:txBody>
      </p:sp>
      <p:sp>
        <p:nvSpPr>
          <p:cNvPr id="227" name="Google Shape;227;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9" name="Google Shape;239;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Transition to the AI section.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AI will be very helpful in this project, especially because most of you have never worked in these industries. But AI can also sound confident while being wrong. The next slides show you how to use it safely and simply.</a:t>
            </a:r>
            <a:endParaRPr/>
          </a:p>
        </p:txBody>
      </p:sp>
      <p:sp>
        <p:nvSpPr>
          <p:cNvPr id="240" name="Google Shape;240;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3" name="Google Shape;253;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Explain the three-chat setup in plain terms.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Keep your AI work in three separate chats.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Chat 1 is for interviews. The AI pretends to be a manager at the company, and you interview it — just like Chapter 3 describes.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Chat 2 is for technical help. When we get to data models, architecture, and screens, you ask the AI to help you think through ideas.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Chat 3 is for checking your work. Here is the important part: open a brand new chat every time you want a review. Why? If the AI has already seen all your earlier work and ideas, it tends to agree with you. A fresh chat gives you a more honest review.</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Now read the dark box with me: the AI does not work at the company. When the AI says "our Operations team does this," it is making up a realistic answer — it has no inside information. That is fine for practice, but it is not evidence. You must check what it says against the website, the help pages, or real users.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You may use ChatGPT, Copilot, Claude, Gemini, or another tool. The free version is enough. You are graded on your analysis, not on which AI you used.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So which roles can the AI play?</a:t>
            </a:r>
            <a:endParaRPr/>
          </a:p>
        </p:txBody>
      </p:sp>
      <p:sp>
        <p:nvSpPr>
          <p:cNvPr id="254" name="Google Shape;254;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4" name="Google Shape;274;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Introduce the roles and which chat each belongs to.</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Here are the roles the AI can play, grouped by chat.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Left column — people you interview in Chat 1.</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Operations Manager knows the day-to-day work: steps, rules, and what happens when something goes wrong.</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Customer Service Manager knows complaints, support tickets, and how problems get escalated.</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Finance Manager knows payments, refunds, financing, and approvals.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 added a customer role, because the customer is the most important stakeholder, and the original list did not include one. Still, a pretend customer does not replace real users — ask real people too.</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Middle column — technical helpers in Chat 2.</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Data Architect helps with entities and relationships in Chapter 5.</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Software Architect helps with Chapters 6 and 7.</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UX Expert helps with Chapter 8.</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Database Administrator helps with Chapter 10.</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Right column — reviewers in Chat 3.</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Senior Systems Analyst looks for missing requirements, missing actors, and inconsistencies.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AI Auditor plays devil's advocate: it looks for claims without evidence.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One rule for every role: the AI should point out problems, but you fix them yourself.</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Here are the prompts you can copy.</a:t>
            </a:r>
            <a:endParaRPr/>
          </a:p>
        </p:txBody>
      </p:sp>
      <p:sp>
        <p:nvSpPr>
          <p:cNvPr id="275" name="Google Shape;275;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14</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7" name="Google Shape;307;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Give students a simple interview prompt they can copy.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This is the only prompt you need for interviews. Copy it and fill in the three blanks in square brackets: the role, the company, and the process. For example: "Pretend you are the Operations Manager at a company like Carvana. I am a student interviewing you about buying a car."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Why "short, simple sentences"? Without it, the AI writes long essays, and real managers do not talk that way. Why "say I don't know"? Because real people do not know everything, and it stops the AI from inventing answers for every question.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Now the tips on the right.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Ask one question at a time, like a real interview.</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Use follow-up questions. "Why do you do it that way?" "What happens if the payment fails?" Follow-up questions are where you find business rules and exceptions — that is what Chapter 3 is about.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When you finish, ask: "What did you tell me that I should check?" The AI will give you a list, and that list goes into your assumption log.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Remember to write your questions before you start the chat, and export or save the chat when you finish.</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The second prompt is for technical questions.</a:t>
            </a:r>
            <a:endParaRPr/>
          </a:p>
        </p:txBody>
      </p:sp>
      <p:sp>
        <p:nvSpPr>
          <p:cNvPr id="308" name="Google Shape;308;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15</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h4b9170333d724588_0_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h4b9170333d724588_0_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h4b9170333d724588_0_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h4b9170333d724588_0_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h4b9170333d724588_0_1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h4b9170333d724588_0_1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h4b9170333d724588_0_1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h4b9170333d724588_0_1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h4b9170333d724588_0_2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h4b9170333d724588_0_2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4" name="Google Shape;344;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Define the three labels clearly. This is the most important slide in the project.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If you remember one slide from today, make it this one.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Fact. Something you observed yourself or that is written in a public source anyone can open. A quick test: could a classmate open the same page and see the same thing? If yes, it is a fact. Always record where it came from and the date.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Inference. A conclusion you reasoned from facts. The test: can you name the facts it is based on? If you can point to two screenshots and explain your reasoning, it is an inference.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Assumption. Something you believe, but cannot support yet. Everything the AI tells you starts here.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Read the dark box with me: something the AI said is never a fact by itself. The AI may even write "this is a fact" — it does not matter. Only outside evidence makes something a fact.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Assumptions are not bad. Every analyst makes them. The problem is hiding them. Write them down, and try to check them. When you find evidence, an assumption can become an inference or a fact.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Ask the class: If two different AI tools give you the same answer, is it a fact? The answer is no — both are still AI, so it is still an assumption.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Along with the label, each claim gets a confidence level.</a:t>
            </a:r>
            <a:endParaRPr/>
          </a:p>
        </p:txBody>
      </p:sp>
      <p:sp>
        <p:nvSpPr>
          <p:cNvPr id="345" name="Google Shape;345;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21</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1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8" name="Google Shape;368;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Explain the three logs students maintain.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You keep three logs. A spreadsheet works well for all three.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Evidence Log records every piece of evidence: what you found, where — a link or a screenshot — and the date. Websites change, so the date matters.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Assumption Log records everything you are assuming, including what the AI told you, and how you plan to check each one. When you check it, update the status: confirmed, rejected, or still open.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Traceability Matrix connects everything. Each row is one requirement from Chapter 3. As the semester goes on, you add columns showing which use case, which DFD process, which entity, which screen, and which architecture part relate to that requirement. If a cell stays empty, that is not a failure — it tells you something is missing, and you should explain 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Give every item an ID — E-01 for evidence, A-01 for assumptions, R-01 for requirements — and never renumber them. In your final presentation I may point to any requirement and ask you to trace it through your work.</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Start these logs in Milestone 1 and update them every time. I can tell when a log was filled in the night before.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Next, the rules for using AI.</a:t>
            </a:r>
            <a:endParaRPr/>
          </a:p>
        </p:txBody>
      </p:sp>
      <p:sp>
        <p:nvSpPr>
          <p:cNvPr id="369" name="Google Shape;369;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22</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2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5" name="Google Shape;385;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Transition to rules and grading.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Now the practical part: the rules, how your team works, and how I grade.</a:t>
            </a:r>
            <a:endParaRPr/>
          </a:p>
        </p:txBody>
      </p:sp>
      <p:sp>
        <p:nvSpPr>
          <p:cNvPr id="386" name="Google Shape;386;p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23</a:t>
            </a:fld>
            <a:endParaRPr sz="1800">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9" name="Google Shape;399;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State the AI rules clearly.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Five rules.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One: save and submit your AI chats. Most tools let you export or share a chat. If there is no chat record, I cannot give credit for work that depended on 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Two: everything the AI says is an assumption until you check it. We just covered this.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Three: open every link the AI gives you. AI tools sometimes produce links or sources that do not exist or do not say what the AI claims. If you find one, note it in your reflection — catching the AI's mistakes is a good thing.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Four: protect information. Do not paste your personal information, financial information, or anything about classmates into the AI. And do not fill out real loan or credit applications on these websites — some of them can affect your credit.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Five: only observe. Using the website like a customer is fine. Hacking, scanning, scraping data, creating fake accounts, or breaking the website's terms of use is not allowed.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[Instructor: remind students of the course AI policy in the syllabus.]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Related to these rules is academic integrity.</a:t>
            </a:r>
            <a:endParaRPr/>
          </a:p>
        </p:txBody>
      </p:sp>
      <p:sp>
        <p:nvSpPr>
          <p:cNvPr id="400" name="Google Shape;400;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24</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2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1" name="Google Shape;421;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Explain how the course verifies that the work is the students' own.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AI can help you learn, but it cannot learn for you. Here is how I will know the work is yours.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Chat exports show me how you used the AI.</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In-class drawing: a few times this semester I will ask you to draw part of your own DFD or ERD by hand in class, without AI. If you built your model, this will be easy.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Questions in the final: during your final presentation, I will ask each partner questions about any part of the project. Both of you must be able to answer — not only the partner who made that part.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Reflection: at the end, each of you writes about one time the AI was wrong and how you caught it. Everyone who uses AI seriously will find at least one.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dark box is the line: the AI can explain concepts and give feedback. The diagrams and writing you hand in must be your own.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Now, how do you split the work with your partner?</a:t>
            </a:r>
            <a:endParaRPr/>
          </a:p>
        </p:txBody>
      </p:sp>
      <p:sp>
        <p:nvSpPr>
          <p:cNvPr id="422" name="Google Shape;422;p2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25</a:t>
            </a:fld>
            <a:endParaRPr sz="1800">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2" name="Google Shape;442;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Explain the rotating team roles.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In a pair, it is easy for one person to do all the diagrams and the other to do only formatting. To prevent that, you have two roles and you switch them every milestone.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Lead Analyst plans and runs the interviews and draws that milestone's models.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Evidence Lead keeps the logs up to date, checks the sources and links, and runs the AI review in a new chat.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In Milestone 1, one of you is the Lead Analyst; in Milestone 2 you switch, and so on. By the end, both of you have done both jobs.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Some things you share: both of you attend every interview, both of you must understand every part of the project, and you each sign a short note saying who did what.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If your team has a problem — a partner who is not responding, for example — tell me before the milestone is due, not at the end of the semester. I can help early; I cannot fix it in the last week.</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Here is how the project is graded.</a:t>
            </a:r>
            <a:endParaRPr/>
          </a:p>
        </p:txBody>
      </p:sp>
      <p:sp>
        <p:nvSpPr>
          <p:cNvPr id="443" name="Google Shape;443;p2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26</a:t>
            </a:fld>
            <a:endParaRPr sz="1800">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2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2" name="Google Shape;462;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Walk through the grading weights.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Here is the grading breakdown.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Most of the grade — about 60 percent — comes from the chapter work: requirements, use cases and DFDs, the data model, and the design chapters. For each one, I check whether you applied the textbook correctly.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For the design chapters, notice what I look for: clear reasoning and clues. Nobody outside the company knows exactly how Carvana's system is built, so I do not grade whether your guess is correct. I grade whether your reasoning is supported.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Fifteen percent is for evidence and logs — using the Fact, Inference, and Assumption labels correctly and keeping your logs up to date.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Ten percent is for how you used AI: did you submit your chats, did you check the answers, did you catch mistakes?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last two rows are individual. In the final presentation, each partner must explain the work. And the in-class drawings show that you can build the models yourself.</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[Instructor: adjust the weights to match the syllabus if needed.]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Let me explain the final presentation.</a:t>
            </a:r>
            <a:endParaRPr/>
          </a:p>
        </p:txBody>
      </p:sp>
      <p:sp>
        <p:nvSpPr>
          <p:cNvPr id="463" name="Google Shape;463;p2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27</a:t>
            </a:fld>
            <a:endParaRPr sz="1800">
              <a:solidFill>
                <a:schemeClr val="dk1"/>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2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1" name="Google Shape;471;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Set expectations for the final presentation.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final presentation is 15 minutes, followed by about 10 minutes of questions.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Follow the order on the left.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Start briefly with your company and process — one minute is enough; we do not need a history of the company.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Spend most of your time on your models: use cases, DFDs, the data model, and the architecture.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Then your interface findings.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Then be honest about what you know and what you assume. This is where strong teams stand out.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Finish with at least one thing the AI got wrong and how you found out.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On the right: both partners present. During questions, I may point to any requirement in your traceability matrix and ask you to follow it through your diagrams. I may also ask you to redraw part of a diagram on the board.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If you did the work yourselves, the questions will feel easy.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[Instructor: announce the presentation dates.]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Finally, the mistakes I see most often.</a:t>
            </a:r>
            <a:endParaRPr/>
          </a:p>
        </p:txBody>
      </p:sp>
      <p:sp>
        <p:nvSpPr>
          <p:cNvPr id="472" name="Google Shape;472;p2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28</a:t>
            </a:fld>
            <a:endParaRPr sz="1800">
              <a:solidFill>
                <a:schemeClr val="dk1"/>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2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9" name="Google Shape;499;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Warn students about the most frequent errors.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Before you submit anything, check for these eight mistakes.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Treating AI answers as facts — the most common and the most damaging, because it spreads into everything else.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Asking the AI to "tell me everything" — you get a long essay and no useful requirements. Ask specific questions and follow up.</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Writing use cases as button clicks — "user clicks Login" is not a use case. Describe what the user wants to accomplish.</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DFD levels that don't match — the inputs and outputs of a Level 1 diagram must balance with its parent process.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Making screens into entities — a web page is not an entity; the data on it is.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Vague requirements — "the system should be fast" cannot be tested. Say how fast, or what "fast" means for the user.</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Filling in logs at the last minute — I review logs at every milestone.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Stating guesses as facts — "Carvana uses this database" is a guess unless you have public evidence.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 will come back to this slide before each milestone.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TRANSITION: That is the project. Let us take your questions.</a:t>
            </a:r>
            <a:endParaRPr/>
          </a:p>
        </p:txBody>
      </p:sp>
      <p:sp>
        <p:nvSpPr>
          <p:cNvPr id="500" name="Google Shape;500;p2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29</a:t>
            </a:fld>
            <a:endParaRPr sz="1800">
              <a:solidFill>
                <a:schemeClr val="dk1"/>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2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8" name="Google Shape;538;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GOAL OF THIS SLIDE: Close and give the first action item.</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SAY: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That is the whole project. To summarize: you study one process at one real company, starting with Chapter 3; you use AI as a helper, not as a source of truth; and you label every claim as a fact, inference, or assumption.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Your first step is to choose a partner, a company, and a process. [Instructor: give the deadline for submitting team and topic choices.]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questions do you have?</a:t>
            </a:r>
            <a:endParaRPr/>
          </a:p>
        </p:txBody>
      </p:sp>
      <p:sp>
        <p:nvSpPr>
          <p:cNvPr id="539" name="Google Shape;539;p2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30</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933"/>
        </a:solidFill>
        <a:effectLst/>
      </p:bgPr>
    </p:bg>
    <p:spTree>
      <p:nvGrpSpPr>
        <p:cNvPr id="1" name="Shape 11"/>
        <p:cNvGrpSpPr/>
        <p:nvPr/>
      </p:nvGrpSpPr>
      <p:grpSpPr>
        <a:xfrm>
          <a:off x="0" y="0"/>
          <a:ext cx="0" cy="0"/>
          <a:chOff x="0" y="0"/>
          <a:chExt cx="0" cy="0"/>
        </a:xfrm>
      </p:grpSpPr>
      <p:sp>
        <p:nvSpPr>
          <p:cNvPr id="12" name="Google Shape;12;p1"/>
          <p:cNvSpPr txBox="1"/>
          <p:nvPr/>
        </p:nvSpPr>
        <p:spPr>
          <a:xfrm>
            <a:off x="731520" y="1280160"/>
            <a:ext cx="1005840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6EAEA"/>
              </a:buClr>
              <a:buSzPts val="1300"/>
              <a:buFont typeface="Calibri"/>
              <a:buNone/>
            </a:pPr>
            <a:r>
              <a:rPr lang="en-US" sz="1300" b="1" i="0" u="none" strike="noStrike" cap="none">
                <a:solidFill>
                  <a:srgbClr val="D6EAEA"/>
                </a:solidFill>
                <a:latin typeface="Calibri"/>
                <a:ea typeface="Calibri"/>
                <a:cs typeface="Calibri"/>
                <a:sym typeface="Calibri"/>
              </a:rPr>
              <a:t>CMIS 307 · SYSTEMS ANALYSIS &amp; DESIGN · SEMESTER PROJECT</a:t>
            </a:r>
            <a:endParaRPr sz="1300" b="0" i="0" u="none" strike="noStrike" cap="none">
              <a:solidFill>
                <a:schemeClr val="dk1"/>
              </a:solidFill>
              <a:latin typeface="Calibri"/>
              <a:ea typeface="Calibri"/>
              <a:cs typeface="Calibri"/>
              <a:sym typeface="Calibri"/>
            </a:endParaRPr>
          </a:p>
        </p:txBody>
      </p:sp>
      <p:sp>
        <p:nvSpPr>
          <p:cNvPr id="13" name="Google Shape;13;p1"/>
          <p:cNvSpPr txBox="1"/>
          <p:nvPr/>
        </p:nvSpPr>
        <p:spPr>
          <a:xfrm>
            <a:off x="731520" y="1828800"/>
            <a:ext cx="9601200" cy="1645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4400"/>
              <a:buFont typeface="Cambria"/>
              <a:buNone/>
            </a:pPr>
            <a:r>
              <a:rPr lang="en-US" sz="4400" b="1" i="0" u="none" strike="noStrike" cap="none">
                <a:solidFill>
                  <a:srgbClr val="FFFFFF"/>
                </a:solidFill>
                <a:latin typeface="Cambria"/>
                <a:ea typeface="Cambria"/>
                <a:cs typeface="Cambria"/>
                <a:sym typeface="Cambria"/>
              </a:rPr>
              <a:t>Analyze a Real System with AI as Your Helper</a:t>
            </a:r>
            <a:endParaRPr sz="4400" b="0" i="0" u="none" strike="noStrike" cap="none">
              <a:solidFill>
                <a:schemeClr val="dk1"/>
              </a:solidFill>
              <a:latin typeface="Calibri"/>
              <a:ea typeface="Calibri"/>
              <a:cs typeface="Calibri"/>
              <a:sym typeface="Calibri"/>
            </a:endParaRPr>
          </a:p>
        </p:txBody>
      </p:sp>
      <p:sp>
        <p:nvSpPr>
          <p:cNvPr id="14" name="Google Shape;14;p1"/>
          <p:cNvSpPr txBox="1"/>
          <p:nvPr/>
        </p:nvSpPr>
        <p:spPr>
          <a:xfrm>
            <a:off x="731520" y="3657600"/>
            <a:ext cx="91440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000"/>
              <a:buFont typeface="Calibri"/>
              <a:buNone/>
            </a:pPr>
            <a:endParaRPr sz="2000" b="0" i="0" u="none" strike="noStrike" cap="none">
              <a:solidFill>
                <a:schemeClr val="dk1"/>
              </a:solidFill>
              <a:latin typeface="Calibri"/>
              <a:ea typeface="Calibri"/>
              <a:cs typeface="Calibri"/>
              <a:sym typeface="Calibri"/>
            </a:endParaRPr>
          </a:p>
        </p:txBody>
      </p:sp>
      <p:sp>
        <p:nvSpPr>
          <p:cNvPr id="15" name="Google Shape;15;p1"/>
          <p:cNvSpPr/>
          <p:nvPr/>
        </p:nvSpPr>
        <p:spPr>
          <a:xfrm>
            <a:off x="731520" y="5029200"/>
            <a:ext cx="502920" cy="502920"/>
          </a:xfrm>
          <a:prstGeom prst="ellipse">
            <a:avLst/>
          </a:prstGeom>
          <a:solidFill>
            <a:srgbClr val="2E7D4F"/>
          </a:solidFill>
          <a:ln w="12700" cap="flat" cmpd="sng">
            <a:solidFill>
              <a:srgbClr val="2E7D4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1"/>
          <p:cNvSpPr txBox="1"/>
          <p:nvPr/>
        </p:nvSpPr>
        <p:spPr>
          <a:xfrm>
            <a:off x="731520" y="502920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70"/>
              <a:buFont typeface="Calibri"/>
              <a:buNone/>
            </a:pPr>
            <a:r>
              <a:rPr lang="en-US" sz="1870" b="1">
                <a:solidFill>
                  <a:srgbClr val="FFFFFF"/>
                </a:solidFill>
                <a:latin typeface="Calibri"/>
                <a:ea typeface="Calibri"/>
                <a:cs typeface="Calibri"/>
                <a:sym typeface="Calibri"/>
              </a:rPr>
              <a:t>F</a:t>
            </a:r>
            <a:endParaRPr sz="1870">
              <a:solidFill>
                <a:schemeClr val="dk1"/>
              </a:solidFill>
              <a:latin typeface="Calibri"/>
              <a:ea typeface="Calibri"/>
              <a:cs typeface="Calibri"/>
              <a:sym typeface="Calibri"/>
            </a:endParaRPr>
          </a:p>
        </p:txBody>
      </p:sp>
      <p:sp>
        <p:nvSpPr>
          <p:cNvPr id="17" name="Google Shape;17;p1"/>
          <p:cNvSpPr/>
          <p:nvPr/>
        </p:nvSpPr>
        <p:spPr>
          <a:xfrm>
            <a:off x="1344168" y="5029200"/>
            <a:ext cx="502920" cy="502920"/>
          </a:xfrm>
          <a:prstGeom prst="ellipse">
            <a:avLst/>
          </a:prstGeom>
          <a:solidFill>
            <a:srgbClr val="B7791F"/>
          </a:solidFill>
          <a:ln w="12700" cap="flat" cmpd="sng">
            <a:solidFill>
              <a:srgbClr val="B7791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8;p1"/>
          <p:cNvSpPr txBox="1"/>
          <p:nvPr/>
        </p:nvSpPr>
        <p:spPr>
          <a:xfrm>
            <a:off x="1344168" y="502920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70"/>
              <a:buFont typeface="Calibri"/>
              <a:buNone/>
            </a:pPr>
            <a:r>
              <a:rPr lang="en-US" sz="1870" b="1">
                <a:solidFill>
                  <a:srgbClr val="FFFFFF"/>
                </a:solidFill>
                <a:latin typeface="Calibri"/>
                <a:ea typeface="Calibri"/>
                <a:cs typeface="Calibri"/>
                <a:sym typeface="Calibri"/>
              </a:rPr>
              <a:t>I</a:t>
            </a:r>
            <a:endParaRPr sz="1870">
              <a:solidFill>
                <a:schemeClr val="dk1"/>
              </a:solidFill>
              <a:latin typeface="Calibri"/>
              <a:ea typeface="Calibri"/>
              <a:cs typeface="Calibri"/>
              <a:sym typeface="Calibri"/>
            </a:endParaRPr>
          </a:p>
        </p:txBody>
      </p:sp>
      <p:sp>
        <p:nvSpPr>
          <p:cNvPr id="19" name="Google Shape;19;p1"/>
          <p:cNvSpPr/>
          <p:nvPr/>
        </p:nvSpPr>
        <p:spPr>
          <a:xfrm>
            <a:off x="1956816" y="5029200"/>
            <a:ext cx="502920" cy="502920"/>
          </a:xfrm>
          <a:prstGeom prst="ellipse">
            <a:avLst/>
          </a:prstGeom>
          <a:solidFill>
            <a:srgbClr val="B23A48"/>
          </a:solidFill>
          <a:ln w="12700" cap="flat" cmpd="sng">
            <a:solidFill>
              <a:srgbClr val="B23A4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 name="Google Shape;20;p1"/>
          <p:cNvSpPr txBox="1"/>
          <p:nvPr/>
        </p:nvSpPr>
        <p:spPr>
          <a:xfrm>
            <a:off x="1956816" y="502920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70"/>
              <a:buFont typeface="Calibri"/>
              <a:buNone/>
            </a:pPr>
            <a:r>
              <a:rPr lang="en-US" sz="1870" b="1">
                <a:solidFill>
                  <a:srgbClr val="FFFFFF"/>
                </a:solidFill>
                <a:latin typeface="Calibri"/>
                <a:ea typeface="Calibri"/>
                <a:cs typeface="Calibri"/>
                <a:sym typeface="Calibri"/>
              </a:rPr>
              <a:t>A</a:t>
            </a:r>
            <a:endParaRPr sz="1870">
              <a:solidFill>
                <a:schemeClr val="dk1"/>
              </a:solidFill>
              <a:latin typeface="Calibri"/>
              <a:ea typeface="Calibri"/>
              <a:cs typeface="Calibri"/>
              <a:sym typeface="Calibri"/>
            </a:endParaRPr>
          </a:p>
        </p:txBody>
      </p:sp>
      <p:sp>
        <p:nvSpPr>
          <p:cNvPr id="21" name="Google Shape;21;p1"/>
          <p:cNvSpPr txBox="1"/>
          <p:nvPr/>
        </p:nvSpPr>
        <p:spPr>
          <a:xfrm>
            <a:off x="2651760" y="5074920"/>
            <a:ext cx="73152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8C4C4"/>
              </a:buClr>
              <a:buSzPts val="1800"/>
              <a:buFont typeface="Calibri"/>
              <a:buNone/>
            </a:pPr>
            <a:r>
              <a:rPr lang="en-US" sz="1800" i="1">
                <a:solidFill>
                  <a:srgbClr val="B8C4C4"/>
                </a:solidFill>
                <a:latin typeface="Calibri"/>
                <a:ea typeface="Calibri"/>
                <a:cs typeface="Calibri"/>
                <a:sym typeface="Calibri"/>
              </a:rPr>
              <a:t>Fact · Inference · Assumption</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
        <p:cNvGrpSpPr/>
        <p:nvPr/>
      </p:nvGrpSpPr>
      <p:grpSpPr>
        <a:xfrm>
          <a:off x="0" y="0"/>
          <a:ext cx="0" cy="0"/>
          <a:chOff x="0" y="0"/>
          <a:chExt cx="0" cy="0"/>
        </a:xfrm>
      </p:grpSpPr>
      <p:sp>
        <p:nvSpPr>
          <p:cNvPr id="27" name="Google Shape;27;p2"/>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PROJECT AT A GLANCE</a:t>
            </a:r>
            <a:endParaRPr sz="1100">
              <a:solidFill>
                <a:schemeClr val="dk1"/>
              </a:solidFill>
              <a:latin typeface="Calibri"/>
              <a:ea typeface="Calibri"/>
              <a:cs typeface="Calibri"/>
              <a:sym typeface="Calibri"/>
            </a:endParaRPr>
          </a:p>
        </p:txBody>
      </p:sp>
      <p:sp>
        <p:nvSpPr>
          <p:cNvPr id="28" name="Google Shape;28;p2"/>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You will study how a real system works — not build one</a:t>
            </a:r>
            <a:endParaRPr sz="2800">
              <a:solidFill>
                <a:schemeClr val="dk1"/>
              </a:solidFill>
              <a:latin typeface="Calibri"/>
              <a:ea typeface="Calibri"/>
              <a:cs typeface="Calibri"/>
              <a:sym typeface="Calibri"/>
            </a:endParaRPr>
          </a:p>
        </p:txBody>
      </p:sp>
      <p:sp>
        <p:nvSpPr>
          <p:cNvPr id="29" name="Google Shape;29;p2"/>
          <p:cNvSpPr/>
          <p:nvPr/>
        </p:nvSpPr>
        <p:spPr>
          <a:xfrm>
            <a:off x="1325880" y="1737360"/>
            <a:ext cx="1005840" cy="1005840"/>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 name="Google Shape;30;p2"/>
          <p:cNvSpPr txBox="1"/>
          <p:nvPr/>
        </p:nvSpPr>
        <p:spPr>
          <a:xfrm>
            <a:off x="1325880" y="1737360"/>
            <a:ext cx="100584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3000"/>
              <a:buFont typeface="Cambria"/>
              <a:buNone/>
            </a:pPr>
            <a:r>
              <a:rPr lang="en-US" sz="3000" b="1">
                <a:solidFill>
                  <a:srgbClr val="FFFFFF"/>
                </a:solidFill>
                <a:latin typeface="Cambria"/>
                <a:ea typeface="Cambria"/>
                <a:cs typeface="Cambria"/>
                <a:sym typeface="Cambria"/>
              </a:rPr>
              <a:t>1</a:t>
            </a:r>
            <a:endParaRPr sz="3000">
              <a:solidFill>
                <a:schemeClr val="dk1"/>
              </a:solidFill>
              <a:latin typeface="Calibri"/>
              <a:ea typeface="Calibri"/>
              <a:cs typeface="Calibri"/>
              <a:sym typeface="Calibri"/>
            </a:endParaRPr>
          </a:p>
        </p:txBody>
      </p:sp>
      <p:sp>
        <p:nvSpPr>
          <p:cNvPr id="31" name="Google Shape;31;p2"/>
          <p:cNvSpPr txBox="1"/>
          <p:nvPr/>
        </p:nvSpPr>
        <p:spPr>
          <a:xfrm>
            <a:off x="548640" y="2926080"/>
            <a:ext cx="2560320" cy="5029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F2933"/>
              </a:buClr>
              <a:buSzPts val="2400"/>
              <a:buFont typeface="Cambria"/>
              <a:buNone/>
            </a:pPr>
            <a:r>
              <a:rPr lang="en-US" sz="2400" b="1">
                <a:solidFill>
                  <a:srgbClr val="1F2933"/>
                </a:solidFill>
                <a:latin typeface="Cambria"/>
                <a:ea typeface="Cambria"/>
                <a:cs typeface="Cambria"/>
                <a:sym typeface="Cambria"/>
              </a:rPr>
              <a:t>Observe</a:t>
            </a:r>
            <a:endParaRPr sz="2400">
              <a:solidFill>
                <a:schemeClr val="dk1"/>
              </a:solidFill>
              <a:latin typeface="Calibri"/>
              <a:ea typeface="Calibri"/>
              <a:cs typeface="Calibri"/>
              <a:sym typeface="Calibri"/>
            </a:endParaRPr>
          </a:p>
        </p:txBody>
      </p:sp>
      <p:sp>
        <p:nvSpPr>
          <p:cNvPr id="32" name="Google Shape;32;p2"/>
          <p:cNvSpPr txBox="1"/>
          <p:nvPr/>
        </p:nvSpPr>
        <p:spPr>
          <a:xfrm>
            <a:off x="640080" y="3474720"/>
            <a:ext cx="2377440" cy="11887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B6770"/>
              </a:buClr>
              <a:buSzPts val="1600"/>
              <a:buFont typeface="Calibri"/>
              <a:buNone/>
            </a:pPr>
            <a:r>
              <a:rPr lang="en-US" sz="1600">
                <a:solidFill>
                  <a:srgbClr val="5B6770"/>
                </a:solidFill>
                <a:latin typeface="Calibri"/>
                <a:ea typeface="Calibri"/>
                <a:cs typeface="Calibri"/>
                <a:sym typeface="Calibri"/>
              </a:rPr>
              <a:t>Use the website or app. Read FAQs, policies, and reviews.</a:t>
            </a:r>
            <a:endParaRPr sz="1600">
              <a:solidFill>
                <a:schemeClr val="dk1"/>
              </a:solidFill>
              <a:latin typeface="Calibri"/>
              <a:ea typeface="Calibri"/>
              <a:cs typeface="Calibri"/>
              <a:sym typeface="Calibri"/>
            </a:endParaRPr>
          </a:p>
        </p:txBody>
      </p:sp>
      <p:cxnSp>
        <p:nvCxnSpPr>
          <p:cNvPr id="33" name="Google Shape;33;p2"/>
          <p:cNvCxnSpPr/>
          <p:nvPr/>
        </p:nvCxnSpPr>
        <p:spPr>
          <a:xfrm>
            <a:off x="2514600" y="2240280"/>
            <a:ext cx="1463040" cy="914"/>
          </a:xfrm>
          <a:prstGeom prst="straightConnector1">
            <a:avLst/>
          </a:prstGeom>
          <a:noFill/>
          <a:ln w="25400" cap="flat" cmpd="sng">
            <a:solidFill>
              <a:srgbClr val="C9D3D3"/>
            </a:solidFill>
            <a:prstDash val="solid"/>
            <a:round/>
            <a:headEnd type="none" w="sm" len="sm"/>
            <a:tailEnd type="triangle" w="med" len="med"/>
          </a:ln>
        </p:spPr>
      </p:cxnSp>
      <p:sp>
        <p:nvSpPr>
          <p:cNvPr id="34" name="Google Shape;34;p2"/>
          <p:cNvSpPr/>
          <p:nvPr/>
        </p:nvSpPr>
        <p:spPr>
          <a:xfrm>
            <a:off x="4160520" y="1737360"/>
            <a:ext cx="1005840" cy="1005840"/>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 name="Google Shape;35;p2"/>
          <p:cNvSpPr txBox="1"/>
          <p:nvPr/>
        </p:nvSpPr>
        <p:spPr>
          <a:xfrm>
            <a:off x="4160520" y="1737360"/>
            <a:ext cx="100584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3000"/>
              <a:buFont typeface="Cambria"/>
              <a:buNone/>
            </a:pPr>
            <a:r>
              <a:rPr lang="en-US" sz="3000" b="1">
                <a:solidFill>
                  <a:srgbClr val="FFFFFF"/>
                </a:solidFill>
                <a:latin typeface="Cambria"/>
                <a:ea typeface="Cambria"/>
                <a:cs typeface="Cambria"/>
                <a:sym typeface="Cambria"/>
              </a:rPr>
              <a:t>2</a:t>
            </a:r>
            <a:endParaRPr sz="3000">
              <a:solidFill>
                <a:schemeClr val="dk1"/>
              </a:solidFill>
              <a:latin typeface="Calibri"/>
              <a:ea typeface="Calibri"/>
              <a:cs typeface="Calibri"/>
              <a:sym typeface="Calibri"/>
            </a:endParaRPr>
          </a:p>
        </p:txBody>
      </p:sp>
      <p:sp>
        <p:nvSpPr>
          <p:cNvPr id="36" name="Google Shape;36;p2"/>
          <p:cNvSpPr txBox="1"/>
          <p:nvPr/>
        </p:nvSpPr>
        <p:spPr>
          <a:xfrm>
            <a:off x="3383280" y="2926080"/>
            <a:ext cx="2560320" cy="5029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F2933"/>
              </a:buClr>
              <a:buSzPts val="2400"/>
              <a:buFont typeface="Cambria"/>
              <a:buNone/>
            </a:pPr>
            <a:r>
              <a:rPr lang="en-US" sz="2400" b="1">
                <a:solidFill>
                  <a:srgbClr val="1F2933"/>
                </a:solidFill>
                <a:latin typeface="Cambria"/>
                <a:ea typeface="Cambria"/>
                <a:cs typeface="Cambria"/>
                <a:sym typeface="Cambria"/>
              </a:rPr>
              <a:t>Interview</a:t>
            </a:r>
            <a:endParaRPr sz="2400">
              <a:solidFill>
                <a:schemeClr val="dk1"/>
              </a:solidFill>
              <a:latin typeface="Calibri"/>
              <a:ea typeface="Calibri"/>
              <a:cs typeface="Calibri"/>
              <a:sym typeface="Calibri"/>
            </a:endParaRPr>
          </a:p>
        </p:txBody>
      </p:sp>
      <p:sp>
        <p:nvSpPr>
          <p:cNvPr id="37" name="Google Shape;37;p2"/>
          <p:cNvSpPr txBox="1"/>
          <p:nvPr/>
        </p:nvSpPr>
        <p:spPr>
          <a:xfrm>
            <a:off x="3474720" y="3474720"/>
            <a:ext cx="2377440" cy="11887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B6770"/>
              </a:buClr>
              <a:buSzPts val="1600"/>
              <a:buFont typeface="Calibri"/>
              <a:buNone/>
            </a:pPr>
            <a:r>
              <a:rPr lang="en-US" sz="1600">
                <a:solidFill>
                  <a:srgbClr val="5B6770"/>
                </a:solidFill>
                <a:latin typeface="Calibri"/>
                <a:ea typeface="Calibri"/>
                <a:cs typeface="Calibri"/>
                <a:sym typeface="Calibri"/>
              </a:rPr>
              <a:t>Ask AI "stakeholders" questions, and a few real users.</a:t>
            </a:r>
            <a:endParaRPr sz="1600">
              <a:solidFill>
                <a:schemeClr val="dk1"/>
              </a:solidFill>
              <a:latin typeface="Calibri"/>
              <a:ea typeface="Calibri"/>
              <a:cs typeface="Calibri"/>
              <a:sym typeface="Calibri"/>
            </a:endParaRPr>
          </a:p>
        </p:txBody>
      </p:sp>
      <p:cxnSp>
        <p:nvCxnSpPr>
          <p:cNvPr id="38" name="Google Shape;38;p2"/>
          <p:cNvCxnSpPr/>
          <p:nvPr/>
        </p:nvCxnSpPr>
        <p:spPr>
          <a:xfrm>
            <a:off x="5349240" y="2240280"/>
            <a:ext cx="1463040" cy="914"/>
          </a:xfrm>
          <a:prstGeom prst="straightConnector1">
            <a:avLst/>
          </a:prstGeom>
          <a:noFill/>
          <a:ln w="25400" cap="flat" cmpd="sng">
            <a:solidFill>
              <a:srgbClr val="C9D3D3"/>
            </a:solidFill>
            <a:prstDash val="solid"/>
            <a:round/>
            <a:headEnd type="none" w="sm" len="sm"/>
            <a:tailEnd type="triangle" w="med" len="med"/>
          </a:ln>
        </p:spPr>
      </p:cxnSp>
      <p:sp>
        <p:nvSpPr>
          <p:cNvPr id="39" name="Google Shape;39;p2"/>
          <p:cNvSpPr/>
          <p:nvPr/>
        </p:nvSpPr>
        <p:spPr>
          <a:xfrm>
            <a:off x="6995160" y="1737360"/>
            <a:ext cx="1005840" cy="1005840"/>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 name="Google Shape;40;p2"/>
          <p:cNvSpPr txBox="1"/>
          <p:nvPr/>
        </p:nvSpPr>
        <p:spPr>
          <a:xfrm>
            <a:off x="6995160" y="1737360"/>
            <a:ext cx="100584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3000"/>
              <a:buFont typeface="Cambria"/>
              <a:buNone/>
            </a:pPr>
            <a:r>
              <a:rPr lang="en-US" sz="3000" b="1">
                <a:solidFill>
                  <a:srgbClr val="FFFFFF"/>
                </a:solidFill>
                <a:latin typeface="Cambria"/>
                <a:ea typeface="Cambria"/>
                <a:cs typeface="Cambria"/>
                <a:sym typeface="Cambria"/>
              </a:rPr>
              <a:t>3</a:t>
            </a:r>
            <a:endParaRPr sz="3000">
              <a:solidFill>
                <a:schemeClr val="dk1"/>
              </a:solidFill>
              <a:latin typeface="Calibri"/>
              <a:ea typeface="Calibri"/>
              <a:cs typeface="Calibri"/>
              <a:sym typeface="Calibri"/>
            </a:endParaRPr>
          </a:p>
        </p:txBody>
      </p:sp>
      <p:sp>
        <p:nvSpPr>
          <p:cNvPr id="41" name="Google Shape;41;p2"/>
          <p:cNvSpPr txBox="1"/>
          <p:nvPr/>
        </p:nvSpPr>
        <p:spPr>
          <a:xfrm>
            <a:off x="6217920" y="2926080"/>
            <a:ext cx="2560320" cy="5029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F2933"/>
              </a:buClr>
              <a:buSzPts val="2400"/>
              <a:buFont typeface="Cambria"/>
              <a:buNone/>
            </a:pPr>
            <a:r>
              <a:rPr lang="en-US" sz="2400" b="1">
                <a:solidFill>
                  <a:srgbClr val="1F2933"/>
                </a:solidFill>
                <a:latin typeface="Cambria"/>
                <a:ea typeface="Cambria"/>
                <a:cs typeface="Cambria"/>
                <a:sym typeface="Cambria"/>
              </a:rPr>
              <a:t>Model</a:t>
            </a:r>
            <a:endParaRPr sz="2400">
              <a:solidFill>
                <a:schemeClr val="dk1"/>
              </a:solidFill>
              <a:latin typeface="Calibri"/>
              <a:ea typeface="Calibri"/>
              <a:cs typeface="Calibri"/>
              <a:sym typeface="Calibri"/>
            </a:endParaRPr>
          </a:p>
        </p:txBody>
      </p:sp>
      <p:sp>
        <p:nvSpPr>
          <p:cNvPr id="42" name="Google Shape;42;p2"/>
          <p:cNvSpPr txBox="1"/>
          <p:nvPr/>
        </p:nvSpPr>
        <p:spPr>
          <a:xfrm>
            <a:off x="6309360" y="3474720"/>
            <a:ext cx="2377440" cy="11887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B6770"/>
              </a:buClr>
              <a:buSzPts val="1600"/>
              <a:buFont typeface="Calibri"/>
              <a:buNone/>
            </a:pPr>
            <a:r>
              <a:rPr lang="en-US" sz="1600">
                <a:solidFill>
                  <a:srgbClr val="5B6770"/>
                </a:solidFill>
                <a:latin typeface="Calibri"/>
                <a:ea typeface="Calibri"/>
                <a:cs typeface="Calibri"/>
                <a:sym typeface="Calibri"/>
              </a:rPr>
              <a:t>Draw the diagrams we learn in each chapter.</a:t>
            </a:r>
            <a:endParaRPr sz="1600">
              <a:solidFill>
                <a:schemeClr val="dk1"/>
              </a:solidFill>
              <a:latin typeface="Calibri"/>
              <a:ea typeface="Calibri"/>
              <a:cs typeface="Calibri"/>
              <a:sym typeface="Calibri"/>
            </a:endParaRPr>
          </a:p>
        </p:txBody>
      </p:sp>
      <p:sp>
        <p:nvSpPr>
          <p:cNvPr id="43" name="Google Shape;43;p2"/>
          <p:cNvSpPr/>
          <p:nvPr/>
        </p:nvSpPr>
        <p:spPr>
          <a:xfrm>
            <a:off x="9052560" y="1737360"/>
            <a:ext cx="2560320" cy="3108960"/>
          </a:xfrm>
          <a:prstGeom prst="roundRect">
            <a:avLst>
              <a:gd name="adj" fmla="val 2857"/>
            </a:avLst>
          </a:prstGeom>
          <a:solidFill>
            <a:srgbClr val="F6E1E5"/>
          </a:solidFill>
          <a:ln w="12700" cap="flat" cmpd="sng">
            <a:solidFill>
              <a:srgbClr val="F6E1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 name="Google Shape;44;p2"/>
          <p:cNvSpPr txBox="1"/>
          <p:nvPr/>
        </p:nvSpPr>
        <p:spPr>
          <a:xfrm>
            <a:off x="9235440" y="1901952"/>
            <a:ext cx="219456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23A48"/>
              </a:buClr>
              <a:buSzPts val="2000"/>
              <a:buFont typeface="Calibri"/>
              <a:buNone/>
            </a:pPr>
            <a:r>
              <a:rPr lang="en-US" sz="2000" b="1">
                <a:solidFill>
                  <a:srgbClr val="B23A48"/>
                </a:solidFill>
                <a:latin typeface="Calibri"/>
                <a:ea typeface="Calibri"/>
                <a:cs typeface="Calibri"/>
                <a:sym typeface="Calibri"/>
              </a:rPr>
              <a:t>Not included</a:t>
            </a:r>
            <a:endParaRPr sz="2000">
              <a:solidFill>
                <a:schemeClr val="dk1"/>
              </a:solidFill>
              <a:latin typeface="Calibri"/>
              <a:ea typeface="Calibri"/>
              <a:cs typeface="Calibri"/>
              <a:sym typeface="Calibri"/>
            </a:endParaRPr>
          </a:p>
        </p:txBody>
      </p:sp>
      <p:sp>
        <p:nvSpPr>
          <p:cNvPr id="45" name="Google Shape;45;p2"/>
          <p:cNvSpPr txBox="1"/>
          <p:nvPr/>
        </p:nvSpPr>
        <p:spPr>
          <a:xfrm>
            <a:off x="9235440" y="2450592"/>
            <a:ext cx="2194560" cy="2240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1600"/>
              <a:buFont typeface="Calibri"/>
              <a:buNone/>
            </a:pPr>
            <a:r>
              <a:rPr lang="en-US" sz="1600">
                <a:solidFill>
                  <a:srgbClr val="334155"/>
                </a:solidFill>
                <a:latin typeface="Calibri"/>
                <a:ea typeface="Calibri"/>
                <a:cs typeface="Calibri"/>
                <a:sym typeface="Calibri"/>
              </a:rPr>
              <a:t>Writing code</a:t>
            </a:r>
            <a:endParaRPr sz="16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1600"/>
              <a:buFont typeface="Calibri"/>
              <a:buNone/>
            </a:pPr>
            <a:r>
              <a:rPr lang="en-US" sz="1600">
                <a:solidFill>
                  <a:srgbClr val="334155"/>
                </a:solidFill>
                <a:latin typeface="Calibri"/>
                <a:ea typeface="Calibri"/>
                <a:cs typeface="Calibri"/>
                <a:sym typeface="Calibri"/>
              </a:rPr>
              <a:t>Building a new system</a:t>
            </a:r>
            <a:endParaRPr sz="16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1600"/>
              <a:buFont typeface="Calibri"/>
              <a:buNone/>
            </a:pPr>
            <a:r>
              <a:rPr lang="en-US" sz="1600">
                <a:solidFill>
                  <a:srgbClr val="334155"/>
                </a:solidFill>
                <a:latin typeface="Calibri"/>
                <a:ea typeface="Calibri"/>
                <a:cs typeface="Calibri"/>
                <a:sym typeface="Calibri"/>
              </a:rPr>
              <a:t>Buying anything</a:t>
            </a:r>
            <a:endParaRPr sz="16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1600"/>
              <a:buFont typeface="Calibri"/>
              <a:buNone/>
            </a:pPr>
            <a:r>
              <a:rPr lang="en-US" sz="1600">
                <a:solidFill>
                  <a:srgbClr val="334155"/>
                </a:solidFill>
                <a:latin typeface="Calibri"/>
                <a:ea typeface="Calibri"/>
                <a:cs typeface="Calibri"/>
                <a:sym typeface="Calibri"/>
              </a:rPr>
              <a:t>Entering personal or financial data</a:t>
            </a:r>
            <a:endParaRPr sz="1600">
              <a:solidFill>
                <a:schemeClr val="dk1"/>
              </a:solidFill>
              <a:latin typeface="Calibri"/>
              <a:ea typeface="Calibri"/>
              <a:cs typeface="Calibri"/>
              <a:sym typeface="Calibri"/>
            </a:endParaRPr>
          </a:p>
        </p:txBody>
      </p:sp>
      <p:sp>
        <p:nvSpPr>
          <p:cNvPr id="46" name="Google Shape;46;p2"/>
          <p:cNvSpPr/>
          <p:nvPr/>
        </p:nvSpPr>
        <p:spPr>
          <a:xfrm>
            <a:off x="548640" y="5212080"/>
            <a:ext cx="11064240" cy="914400"/>
          </a:xfrm>
          <a:prstGeom prst="roundRect">
            <a:avLst>
              <a:gd name="adj" fmla="val 8000"/>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 name="Google Shape;47;p2"/>
          <p:cNvSpPr txBox="1"/>
          <p:nvPr/>
        </p:nvSpPr>
        <p:spPr>
          <a:xfrm>
            <a:off x="731520" y="5376672"/>
            <a:ext cx="106984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900"/>
              <a:buFont typeface="Calibri"/>
              <a:buNone/>
            </a:pPr>
            <a:r>
              <a:rPr lang="en-US" sz="1900" b="1">
                <a:solidFill>
                  <a:srgbClr val="1F2933"/>
                </a:solidFill>
                <a:latin typeface="Calibri"/>
                <a:ea typeface="Calibri"/>
                <a:cs typeface="Calibri"/>
                <a:sym typeface="Calibri"/>
              </a:rPr>
              <a:t>Teams of two  ·  one company  ·  one business process  ·  Chapters 3 → 10</a:t>
            </a:r>
            <a:endParaRPr sz="1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2"/>
        <p:cNvGrpSpPr/>
        <p:nvPr/>
      </p:nvGrpSpPr>
      <p:grpSpPr>
        <a:xfrm>
          <a:off x="0" y="0"/>
          <a:ext cx="0" cy="0"/>
          <a:chOff x="0" y="0"/>
          <a:chExt cx="0" cy="0"/>
        </a:xfrm>
      </p:grpSpPr>
      <p:sp>
        <p:nvSpPr>
          <p:cNvPr id="53" name="Google Shape;53;p3"/>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CHOOSING YOUR SYSTEM</a:t>
            </a:r>
            <a:endParaRPr sz="1100">
              <a:solidFill>
                <a:schemeClr val="dk1"/>
              </a:solidFill>
              <a:latin typeface="Calibri"/>
              <a:ea typeface="Calibri"/>
              <a:cs typeface="Calibri"/>
              <a:sym typeface="Calibri"/>
            </a:endParaRPr>
          </a:p>
        </p:txBody>
      </p:sp>
      <p:sp>
        <p:nvSpPr>
          <p:cNvPr id="54" name="Google Shape;54;p3"/>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Project topics</a:t>
            </a:r>
            <a:endParaRPr sz="2800">
              <a:solidFill>
                <a:schemeClr val="dk1"/>
              </a:solidFill>
              <a:latin typeface="Calibri"/>
              <a:ea typeface="Calibri"/>
              <a:cs typeface="Calibri"/>
              <a:sym typeface="Calibri"/>
            </a:endParaRPr>
          </a:p>
        </p:txBody>
      </p:sp>
      <p:graphicFrame>
        <p:nvGraphicFramePr>
          <p:cNvPr id="55" name="Google Shape;55;p3"/>
          <p:cNvGraphicFramePr/>
          <p:nvPr>
            <p:extLst>
              <p:ext uri="{D42A27DB-BD31-4B8C-83A1-F6EECF244321}">
                <p14:modId xmlns:p14="http://schemas.microsoft.com/office/powerpoint/2010/main" val="1828928602"/>
              </p:ext>
            </p:extLst>
          </p:nvPr>
        </p:nvGraphicFramePr>
        <p:xfrm>
          <a:off x="548640" y="1300870"/>
          <a:ext cx="6145123" cy="4803055"/>
        </p:xfrm>
        <a:graphic>
          <a:graphicData uri="http://schemas.openxmlformats.org/drawingml/2006/table">
            <a:tbl>
              <a:tblPr>
                <a:noFill/>
                <a:tableStyleId>{2F25F5D9-C27E-46C7-B8A8-6D8B02E2B88A}</a:tableStyleId>
              </a:tblPr>
              <a:tblGrid>
                <a:gridCol w="1999251">
                  <a:extLst>
                    <a:ext uri="{9D8B030D-6E8A-4147-A177-3AD203B41FA5}">
                      <a16:colId xmlns:a16="http://schemas.microsoft.com/office/drawing/2014/main" val="20000"/>
                    </a:ext>
                  </a:extLst>
                </a:gridCol>
                <a:gridCol w="4145872">
                  <a:extLst>
                    <a:ext uri="{9D8B030D-6E8A-4147-A177-3AD203B41FA5}">
                      <a16:colId xmlns:a16="http://schemas.microsoft.com/office/drawing/2014/main" val="20001"/>
                    </a:ext>
                  </a:extLst>
                </a:gridCol>
              </a:tblGrid>
              <a:tr h="469325">
                <a:tc>
                  <a:txBody>
                    <a:bodyPr/>
                    <a:lstStyle/>
                    <a:p>
                      <a:pPr marL="0" marR="0" lvl="0" indent="0" algn="l" rtl="0">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Project #</a:t>
                      </a:r>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1F2933"/>
                    </a:solidFill>
                  </a:tcPr>
                </a:tc>
                <a:tc>
                  <a:txBody>
                    <a:bodyPr/>
                    <a:lstStyle/>
                    <a:p>
                      <a:pPr marL="0" marR="0" lvl="0" indent="0" algn="l" rtl="0">
                        <a:spcBef>
                          <a:spcPts val="0"/>
                        </a:spcBef>
                        <a:spcAft>
                          <a:spcPts val="0"/>
                        </a:spcAft>
                        <a:buClr>
                          <a:srgbClr val="FFFFFF"/>
                        </a:buClr>
                        <a:buSzPts val="1800"/>
                        <a:buFont typeface="Calibri"/>
                        <a:buNone/>
                      </a:pPr>
                      <a:r>
                        <a:rPr lang="en-US" sz="1800" b="1" u="none" strike="noStrike" cap="none">
                          <a:solidFill>
                            <a:srgbClr val="FFFFFF"/>
                          </a:solidFill>
                          <a:latin typeface="Calibri"/>
                          <a:ea typeface="Calibri"/>
                          <a:cs typeface="Calibri"/>
                          <a:sym typeface="Calibri"/>
                        </a:rPr>
                        <a:t>Project name</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1F2933"/>
                    </a:solidFill>
                  </a:tcPr>
                </a:tc>
                <a:extLst>
                  <a:ext uri="{0D108BD9-81ED-4DB2-BD59-A6C34878D82A}">
                    <a16:rowId xmlns:a16="http://schemas.microsoft.com/office/drawing/2014/main" val="10000"/>
                  </a:ext>
                </a:extLst>
              </a:tr>
              <a:tr h="469325">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latin typeface="Calibri"/>
                          <a:ea typeface="Calibri"/>
                          <a:cs typeface="Calibri"/>
                          <a:sym typeface="Calibri"/>
                        </a:rPr>
                        <a:t>1 Team 3</a:t>
                      </a:r>
                      <a:endParaRPr dirty="0"/>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4155"/>
                        </a:buClr>
                        <a:buSzPts val="1800"/>
                        <a:buFont typeface="Calibri"/>
                        <a:buNone/>
                      </a:pPr>
                      <a:r>
                        <a:rPr lang="en-US" sz="1800" u="none" strike="noStrike" cap="none">
                          <a:solidFill>
                            <a:srgbClr val="334155"/>
                          </a:solidFill>
                          <a:latin typeface="Calibri"/>
                          <a:ea typeface="Calibri"/>
                          <a:cs typeface="Calibri"/>
                          <a:sym typeface="Calibri"/>
                        </a:rPr>
                        <a:t>Carvana</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69325">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latin typeface="Calibri"/>
                          <a:ea typeface="Calibri"/>
                          <a:cs typeface="Calibri"/>
                          <a:sym typeface="Calibri"/>
                        </a:rPr>
                        <a:t>2   Team 2</a:t>
                      </a:r>
                      <a:endParaRPr dirty="0"/>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7FAFA"/>
                    </a:solidFill>
                  </a:tcPr>
                </a:tc>
                <a:tc>
                  <a:txBody>
                    <a:bodyPr/>
                    <a:lstStyle/>
                    <a:p>
                      <a:pPr marL="0" marR="0" lvl="0" indent="0" algn="l" rtl="0">
                        <a:spcBef>
                          <a:spcPts val="0"/>
                        </a:spcBef>
                        <a:spcAft>
                          <a:spcPts val="0"/>
                        </a:spcAft>
                        <a:buClr>
                          <a:schemeClr val="dk1"/>
                        </a:buClr>
                        <a:buSzPts val="1600"/>
                        <a:buFont typeface="Calibri"/>
                        <a:buNone/>
                      </a:pPr>
                      <a:r>
                        <a:rPr lang="en-US" sz="1600" u="none" strike="noStrike" cap="none"/>
                        <a:t>Rental Property Management</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7FAFA"/>
                    </a:solidFill>
                  </a:tcPr>
                </a:tc>
                <a:extLst>
                  <a:ext uri="{0D108BD9-81ED-4DB2-BD59-A6C34878D82A}">
                    <a16:rowId xmlns:a16="http://schemas.microsoft.com/office/drawing/2014/main" val="10002"/>
                  </a:ext>
                </a:extLst>
              </a:tr>
              <a:tr h="469325">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latin typeface="Calibri"/>
                          <a:ea typeface="Calibri"/>
                          <a:cs typeface="Calibri"/>
                          <a:sym typeface="Calibri"/>
                        </a:rPr>
                        <a:t>3   Team 6</a:t>
                      </a:r>
                      <a:endParaRPr dirty="0"/>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600"/>
                        <a:buFont typeface="Calibri"/>
                        <a:buNone/>
                      </a:pPr>
                      <a:r>
                        <a:rPr lang="en-US" sz="1600" u="none" strike="noStrike" cap="none" dirty="0"/>
                        <a:t>Fitness Gym Membership   </a:t>
                      </a:r>
                      <a:endParaRPr sz="1800" u="none" strike="noStrike" cap="none" dirty="0">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69325">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latin typeface="Calibri"/>
                          <a:ea typeface="Calibri"/>
                          <a:cs typeface="Calibri"/>
                          <a:sym typeface="Calibri"/>
                        </a:rPr>
                        <a:t>4</a:t>
                      </a:r>
                      <a:endParaRPr dirty="0"/>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7FAFA"/>
                    </a:solidFill>
                  </a:tcPr>
                </a:tc>
                <a:tc>
                  <a:txBody>
                    <a:bodyPr/>
                    <a:lstStyle/>
                    <a:p>
                      <a:pPr marL="0" marR="0" lvl="0" indent="0" algn="l" rtl="0">
                        <a:spcBef>
                          <a:spcPts val="0"/>
                        </a:spcBef>
                        <a:spcAft>
                          <a:spcPts val="0"/>
                        </a:spcAft>
                        <a:buClr>
                          <a:schemeClr val="dk1"/>
                        </a:buClr>
                        <a:buSzPts val="1600"/>
                        <a:buFont typeface="Calibri"/>
                        <a:buNone/>
                      </a:pPr>
                      <a:r>
                        <a:rPr lang="en-US" sz="1600" u="none" strike="noStrike" cap="none"/>
                        <a:t>Self-Storage Facility</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7FAFA"/>
                    </a:solidFill>
                  </a:tcPr>
                </a:tc>
                <a:extLst>
                  <a:ext uri="{0D108BD9-81ED-4DB2-BD59-A6C34878D82A}">
                    <a16:rowId xmlns:a16="http://schemas.microsoft.com/office/drawing/2014/main" val="10004"/>
                  </a:ext>
                </a:extLst>
              </a:tr>
              <a:tr h="469325">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latin typeface="Calibri"/>
                          <a:ea typeface="Calibri"/>
                          <a:cs typeface="Calibri"/>
                          <a:sym typeface="Calibri"/>
                        </a:rPr>
                        <a:t>5    Team 7</a:t>
                      </a:r>
                      <a:endParaRPr dirty="0"/>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4155"/>
                        </a:buClr>
                        <a:buSzPts val="1800"/>
                        <a:buFont typeface="Calibri"/>
                        <a:buNone/>
                      </a:pPr>
                      <a:r>
                        <a:rPr lang="en-US" sz="1800" u="none" strike="noStrike" cap="none">
                          <a:solidFill>
                            <a:srgbClr val="334155"/>
                          </a:solidFill>
                          <a:latin typeface="Calibri"/>
                          <a:ea typeface="Calibri"/>
                          <a:cs typeface="Calibri"/>
                          <a:sym typeface="Calibri"/>
                        </a:rPr>
                        <a:t>Netflix </a:t>
                      </a:r>
                      <a:r>
                        <a:rPr lang="en-US" sz="1800" u="none" strike="noStrike" cap="none"/>
                        <a:t>(</a:t>
                      </a:r>
                      <a:r>
                        <a:rPr lang="en-US" sz="1800" u="sng" strike="noStrike" cap="none"/>
                        <a:t>3-member team</a:t>
                      </a:r>
                      <a:r>
                        <a:rPr lang="en-US" sz="1800" u="none" strike="noStrike" cap="none"/>
                        <a:t>)</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69325">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latin typeface="Calibri"/>
                          <a:ea typeface="Calibri"/>
                          <a:cs typeface="Calibri"/>
                          <a:sym typeface="Calibri"/>
                        </a:rPr>
                        <a:t>6   Team 5</a:t>
                      </a:r>
                      <a:endParaRPr dirty="0"/>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7FAFA"/>
                    </a:solidFill>
                  </a:tcPr>
                </a:tc>
                <a:tc>
                  <a:txBody>
                    <a:bodyPr/>
                    <a:lstStyle/>
                    <a:p>
                      <a:pPr marL="0" marR="0" lvl="0" indent="0" algn="l" rtl="0">
                        <a:spcBef>
                          <a:spcPts val="0"/>
                        </a:spcBef>
                        <a:spcAft>
                          <a:spcPts val="0"/>
                        </a:spcAft>
                        <a:buClr>
                          <a:schemeClr val="dk1"/>
                        </a:buClr>
                        <a:buSzPts val="1600"/>
                        <a:buFont typeface="Calibri"/>
                        <a:buNone/>
                      </a:pPr>
                      <a:r>
                        <a:rPr lang="en-US" sz="1600" u="none" strike="noStrike" cap="none"/>
                        <a:t>Car Rental Agency</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7FAFA"/>
                    </a:solidFill>
                  </a:tcPr>
                </a:tc>
                <a:extLst>
                  <a:ext uri="{0D108BD9-81ED-4DB2-BD59-A6C34878D82A}">
                    <a16:rowId xmlns:a16="http://schemas.microsoft.com/office/drawing/2014/main" val="10006"/>
                  </a:ext>
                </a:extLst>
              </a:tr>
              <a:tr h="469325">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latin typeface="Calibri"/>
                          <a:ea typeface="Calibri"/>
                          <a:cs typeface="Calibri"/>
                          <a:sym typeface="Calibri"/>
                        </a:rPr>
                        <a:t>7    Team 1</a:t>
                      </a:r>
                      <a:endParaRPr dirty="0"/>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4155"/>
                        </a:buClr>
                        <a:buSzPts val="1800"/>
                        <a:buFont typeface="Calibri"/>
                        <a:buNone/>
                      </a:pPr>
                      <a:r>
                        <a:rPr lang="en-US" sz="1800" u="none" strike="noStrike" cap="none" dirty="0">
                          <a:solidFill>
                            <a:srgbClr val="334155"/>
                          </a:solidFill>
                          <a:latin typeface="Calibri"/>
                          <a:ea typeface="Calibri"/>
                          <a:cs typeface="Calibri"/>
                          <a:sym typeface="Calibri"/>
                        </a:rPr>
                        <a:t>Zillow  </a:t>
                      </a:r>
                      <a:endParaRPr sz="1800" u="none" strike="noStrike" cap="none" dirty="0">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469325">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latin typeface="Calibri"/>
                          <a:ea typeface="Calibri"/>
                          <a:cs typeface="Calibri"/>
                          <a:sym typeface="Calibri"/>
                        </a:rPr>
                        <a:t>9  Team 4</a:t>
                      </a:r>
                      <a:endParaRPr dirty="0"/>
                    </a:p>
                  </a:txBody>
                  <a:tcPr marL="45725" marR="45725" marT="45725" marB="45725" anchor="ctr">
                    <a:lnL w="9525" cap="flat" cmpd="sng">
                      <a:solidFill>
                        <a:srgbClr val="C9D3D3"/>
                      </a:solidFill>
                      <a:prstDash val="solid"/>
                      <a:round/>
                      <a:headEnd type="none" w="sm" len="sm"/>
                      <a:tailEnd type="none" w="sm" len="sm"/>
                    </a:lnL>
                    <a:lnR w="9525" cap="flat" cmpd="sng" algn="ctr">
                      <a:solidFill>
                        <a:srgbClr val="C9D3D3"/>
                      </a:solidFill>
                      <a:prstDash val="solid"/>
                      <a:round/>
                      <a:headEnd type="none" w="sm" len="sm"/>
                      <a:tailEnd type="none" w="sm" len="sm"/>
                    </a:lnR>
                    <a:lnT w="9525" cap="flat" cmpd="sng" algn="ctr">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600"/>
                        <a:buFont typeface="Calibri"/>
                        <a:buNone/>
                      </a:pPr>
                      <a:r>
                        <a:rPr lang="en-US" sz="1600" u="none" strike="noStrike" cap="none" dirty="0"/>
                        <a:t>Pet Grooming &amp; Daycare</a:t>
                      </a:r>
                      <a:endParaRPr sz="1800" u="none" strike="noStrike" cap="none" dirty="0">
                        <a:latin typeface="Calibri"/>
                        <a:ea typeface="Calibri"/>
                        <a:cs typeface="Calibri"/>
                        <a:sym typeface="Calibri"/>
                      </a:endParaRPr>
                    </a:p>
                  </a:txBody>
                  <a:tcPr marL="45725" marR="45725" marT="45725" marB="45725" anchor="ctr">
                    <a:lnL w="9525" cap="flat" cmpd="sng" algn="ctr">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lgn="ctr">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469325">
                <a:tc>
                  <a:txBody>
                    <a:bodyPr/>
                    <a:lstStyle/>
                    <a:p>
                      <a:pPr marL="0" marR="0" lvl="0" indent="0" algn="l" rtl="0">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10</a:t>
                      </a:r>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600"/>
                        <a:buFont typeface="Calibri"/>
                        <a:buNone/>
                      </a:pPr>
                      <a:r>
                        <a:rPr lang="en-US" sz="1600" u="none" strike="noStrike" cap="none" dirty="0"/>
                        <a:t>Community Recreation Center (</a:t>
                      </a:r>
                      <a:r>
                        <a:rPr lang="en-US" sz="1600" u="sng" strike="noStrike" cap="none" dirty="0"/>
                        <a:t>3-member team</a:t>
                      </a:r>
                      <a:r>
                        <a:rPr lang="en-US" sz="1600" u="none" strike="noStrike" cap="none" dirty="0"/>
                        <a:t>)</a:t>
                      </a:r>
                      <a:endParaRPr sz="1800" u="none" strike="noStrike" cap="none" dirty="0">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bl>
          </a:graphicData>
        </a:graphic>
      </p:graphicFrame>
      <p:sp>
        <p:nvSpPr>
          <p:cNvPr id="56" name="Google Shape;56;p3"/>
          <p:cNvSpPr/>
          <p:nvPr/>
        </p:nvSpPr>
        <p:spPr>
          <a:xfrm>
            <a:off x="7772400" y="1691640"/>
            <a:ext cx="3840480" cy="4389120"/>
          </a:xfrm>
          <a:prstGeom prst="roundRect">
            <a:avLst>
              <a:gd name="adj" fmla="val 1905"/>
            </a:avLst>
          </a:prstGeom>
          <a:solidFill>
            <a:srgbClr val="D6EAEA"/>
          </a:solidFill>
          <a:ln w="12700" cap="flat" cmpd="sng">
            <a:solidFill>
              <a:srgbClr val="D6EAE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 name="Google Shape;57;p3"/>
          <p:cNvSpPr txBox="1"/>
          <p:nvPr/>
        </p:nvSpPr>
        <p:spPr>
          <a:xfrm>
            <a:off x="7955280" y="1856232"/>
            <a:ext cx="347472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200"/>
              <a:buFont typeface="Calibri"/>
              <a:buNone/>
            </a:pPr>
            <a:r>
              <a:rPr lang="en-US" sz="2200" b="1">
                <a:solidFill>
                  <a:srgbClr val="1F2933"/>
                </a:solidFill>
                <a:latin typeface="Calibri"/>
                <a:ea typeface="Calibri"/>
                <a:cs typeface="Calibri"/>
                <a:sym typeface="Calibri"/>
              </a:rPr>
              <a:t>A good choice…</a:t>
            </a:r>
            <a:endParaRPr sz="2200">
              <a:solidFill>
                <a:schemeClr val="dk1"/>
              </a:solidFill>
              <a:latin typeface="Calibri"/>
              <a:ea typeface="Calibri"/>
              <a:cs typeface="Calibri"/>
              <a:sym typeface="Calibri"/>
            </a:endParaRPr>
          </a:p>
        </p:txBody>
      </p:sp>
      <p:sp>
        <p:nvSpPr>
          <p:cNvPr id="58" name="Google Shape;58;p3"/>
          <p:cNvSpPr txBox="1"/>
          <p:nvPr/>
        </p:nvSpPr>
        <p:spPr>
          <a:xfrm>
            <a:off x="7955280" y="2450592"/>
            <a:ext cx="3474720" cy="34747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 You can see the process without buying anything</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20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 There is plenty of public information</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20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 No other team has picked it</a:t>
            </a:r>
            <a:endParaRPr sz="20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3"/>
        <p:cNvGrpSpPr/>
        <p:nvPr/>
      </p:nvGrpSpPr>
      <p:grpSpPr>
        <a:xfrm>
          <a:off x="0" y="0"/>
          <a:ext cx="0" cy="0"/>
          <a:chOff x="0" y="0"/>
          <a:chExt cx="0" cy="0"/>
        </a:xfrm>
      </p:grpSpPr>
      <p:sp>
        <p:nvSpPr>
          <p:cNvPr id="64" name="Google Shape;64;p4"/>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TIMELINE</a:t>
            </a:r>
            <a:endParaRPr sz="1100">
              <a:solidFill>
                <a:schemeClr val="dk1"/>
              </a:solidFill>
              <a:latin typeface="Calibri"/>
              <a:ea typeface="Calibri"/>
              <a:cs typeface="Calibri"/>
              <a:sym typeface="Calibri"/>
            </a:endParaRPr>
          </a:p>
        </p:txBody>
      </p:sp>
      <p:sp>
        <p:nvSpPr>
          <p:cNvPr id="65" name="Google Shape;65;p4"/>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Six milestones — one for each part of the textbook</a:t>
            </a:r>
            <a:endParaRPr sz="2800">
              <a:solidFill>
                <a:schemeClr val="dk1"/>
              </a:solidFill>
              <a:latin typeface="Calibri"/>
              <a:ea typeface="Calibri"/>
              <a:cs typeface="Calibri"/>
              <a:sym typeface="Calibri"/>
            </a:endParaRPr>
          </a:p>
        </p:txBody>
      </p:sp>
      <p:cxnSp>
        <p:nvCxnSpPr>
          <p:cNvPr id="66" name="Google Shape;66;p4"/>
          <p:cNvCxnSpPr/>
          <p:nvPr/>
        </p:nvCxnSpPr>
        <p:spPr>
          <a:xfrm>
            <a:off x="1097280" y="2514600"/>
            <a:ext cx="9966960" cy="0"/>
          </a:xfrm>
          <a:prstGeom prst="straightConnector1">
            <a:avLst/>
          </a:prstGeom>
          <a:noFill/>
          <a:ln w="38100" cap="flat" cmpd="sng">
            <a:solidFill>
              <a:srgbClr val="C9D3D3"/>
            </a:solidFill>
            <a:prstDash val="solid"/>
            <a:round/>
            <a:headEnd type="none" w="sm" len="sm"/>
            <a:tailEnd type="none" w="sm" len="sm"/>
          </a:ln>
        </p:spPr>
      </p:cxnSp>
      <p:sp>
        <p:nvSpPr>
          <p:cNvPr id="67" name="Google Shape;67;p4"/>
          <p:cNvSpPr/>
          <p:nvPr/>
        </p:nvSpPr>
        <p:spPr>
          <a:xfrm>
            <a:off x="914400" y="2011680"/>
            <a:ext cx="1005840" cy="1005840"/>
          </a:xfrm>
          <a:prstGeom prst="ellipse">
            <a:avLst/>
          </a:prstGeom>
          <a:solidFill>
            <a:srgbClr val="0F6E6E"/>
          </a:solidFill>
          <a:ln w="254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 name="Google Shape;68;p4"/>
          <p:cNvSpPr txBox="1"/>
          <p:nvPr/>
        </p:nvSpPr>
        <p:spPr>
          <a:xfrm>
            <a:off x="914400" y="2011680"/>
            <a:ext cx="100584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M1</a:t>
            </a:r>
            <a:endParaRPr sz="2200">
              <a:solidFill>
                <a:schemeClr val="dk1"/>
              </a:solidFill>
              <a:latin typeface="Calibri"/>
              <a:ea typeface="Calibri"/>
              <a:cs typeface="Calibri"/>
              <a:sym typeface="Calibri"/>
            </a:endParaRPr>
          </a:p>
        </p:txBody>
      </p:sp>
      <p:sp>
        <p:nvSpPr>
          <p:cNvPr id="69" name="Google Shape;69;p4"/>
          <p:cNvSpPr txBox="1"/>
          <p:nvPr/>
        </p:nvSpPr>
        <p:spPr>
          <a:xfrm>
            <a:off x="548640" y="3200400"/>
            <a:ext cx="1737360" cy="4114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0F6E6E"/>
              </a:buClr>
              <a:buSzPts val="1800"/>
              <a:buFont typeface="Calibri"/>
              <a:buNone/>
            </a:pPr>
            <a:r>
              <a:rPr lang="en-US" sz="1800" b="1">
                <a:solidFill>
                  <a:srgbClr val="0F6E6E"/>
                </a:solidFill>
                <a:latin typeface="Calibri"/>
                <a:ea typeface="Calibri"/>
                <a:cs typeface="Calibri"/>
                <a:sym typeface="Calibri"/>
              </a:rPr>
              <a:t>Ch 3</a:t>
            </a:r>
            <a:endParaRPr sz="1800">
              <a:solidFill>
                <a:schemeClr val="dk1"/>
              </a:solidFill>
              <a:latin typeface="Calibri"/>
              <a:ea typeface="Calibri"/>
              <a:cs typeface="Calibri"/>
              <a:sym typeface="Calibri"/>
            </a:endParaRPr>
          </a:p>
        </p:txBody>
      </p:sp>
      <p:sp>
        <p:nvSpPr>
          <p:cNvPr id="70" name="Google Shape;70;p4"/>
          <p:cNvSpPr txBox="1"/>
          <p:nvPr/>
        </p:nvSpPr>
        <p:spPr>
          <a:xfrm>
            <a:off x="548640" y="3657600"/>
            <a:ext cx="1737360" cy="914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F2933"/>
              </a:buClr>
              <a:buSzPts val="1700"/>
              <a:buFont typeface="Calibri"/>
              <a:buNone/>
            </a:pPr>
            <a:r>
              <a:rPr lang="en-US" sz="1700" b="1">
                <a:solidFill>
                  <a:srgbClr val="1F2933"/>
                </a:solidFill>
                <a:latin typeface="Calibri"/>
                <a:ea typeface="Calibri"/>
                <a:cs typeface="Calibri"/>
                <a:sym typeface="Calibri"/>
              </a:rPr>
              <a:t>Requirements</a:t>
            </a:r>
            <a:endParaRPr sz="1700">
              <a:solidFill>
                <a:schemeClr val="dk1"/>
              </a:solidFill>
              <a:latin typeface="Calibri"/>
              <a:ea typeface="Calibri"/>
              <a:cs typeface="Calibri"/>
              <a:sym typeface="Calibri"/>
            </a:endParaRPr>
          </a:p>
        </p:txBody>
      </p:sp>
      <p:sp>
        <p:nvSpPr>
          <p:cNvPr id="71" name="Google Shape;71;p4"/>
          <p:cNvSpPr/>
          <p:nvPr/>
        </p:nvSpPr>
        <p:spPr>
          <a:xfrm>
            <a:off x="2788920" y="2011680"/>
            <a:ext cx="1005840" cy="1005840"/>
          </a:xfrm>
          <a:prstGeom prst="ellipse">
            <a:avLst/>
          </a:prstGeom>
          <a:solidFill>
            <a:srgbClr val="0F6E6E"/>
          </a:solidFill>
          <a:ln w="254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 name="Google Shape;72;p4"/>
          <p:cNvSpPr txBox="1"/>
          <p:nvPr/>
        </p:nvSpPr>
        <p:spPr>
          <a:xfrm>
            <a:off x="2788920" y="2011680"/>
            <a:ext cx="100584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M2</a:t>
            </a:r>
            <a:endParaRPr sz="2200">
              <a:solidFill>
                <a:schemeClr val="dk1"/>
              </a:solidFill>
              <a:latin typeface="Calibri"/>
              <a:ea typeface="Calibri"/>
              <a:cs typeface="Calibri"/>
              <a:sym typeface="Calibri"/>
            </a:endParaRPr>
          </a:p>
        </p:txBody>
      </p:sp>
      <p:sp>
        <p:nvSpPr>
          <p:cNvPr id="73" name="Google Shape;73;p4"/>
          <p:cNvSpPr txBox="1"/>
          <p:nvPr/>
        </p:nvSpPr>
        <p:spPr>
          <a:xfrm>
            <a:off x="2423160" y="3200400"/>
            <a:ext cx="1737360" cy="4114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0F6E6E"/>
              </a:buClr>
              <a:buSzPts val="1800"/>
              <a:buFont typeface="Calibri"/>
              <a:buNone/>
            </a:pPr>
            <a:r>
              <a:rPr lang="en-US" sz="1800" b="1">
                <a:solidFill>
                  <a:srgbClr val="0F6E6E"/>
                </a:solidFill>
                <a:latin typeface="Calibri"/>
                <a:ea typeface="Calibri"/>
                <a:cs typeface="Calibri"/>
                <a:sym typeface="Calibri"/>
              </a:rPr>
              <a:t>Ch 4</a:t>
            </a:r>
            <a:endParaRPr sz="1800">
              <a:solidFill>
                <a:schemeClr val="dk1"/>
              </a:solidFill>
              <a:latin typeface="Calibri"/>
              <a:ea typeface="Calibri"/>
              <a:cs typeface="Calibri"/>
              <a:sym typeface="Calibri"/>
            </a:endParaRPr>
          </a:p>
        </p:txBody>
      </p:sp>
      <p:sp>
        <p:nvSpPr>
          <p:cNvPr id="74" name="Google Shape;74;p4"/>
          <p:cNvSpPr txBox="1"/>
          <p:nvPr/>
        </p:nvSpPr>
        <p:spPr>
          <a:xfrm>
            <a:off x="2423160" y="3657600"/>
            <a:ext cx="1737360" cy="914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F2933"/>
              </a:buClr>
              <a:buSzPts val="1700"/>
              <a:buFont typeface="Calibri"/>
              <a:buNone/>
            </a:pPr>
            <a:r>
              <a:rPr lang="en-US" sz="1700" b="1">
                <a:solidFill>
                  <a:srgbClr val="1F2933"/>
                </a:solidFill>
                <a:latin typeface="Calibri"/>
                <a:ea typeface="Calibri"/>
                <a:cs typeface="Calibri"/>
                <a:sym typeface="Calibri"/>
              </a:rPr>
              <a:t>Use cases &amp; DFDs</a:t>
            </a:r>
            <a:endParaRPr sz="1700">
              <a:solidFill>
                <a:schemeClr val="dk1"/>
              </a:solidFill>
              <a:latin typeface="Calibri"/>
              <a:ea typeface="Calibri"/>
              <a:cs typeface="Calibri"/>
              <a:sym typeface="Calibri"/>
            </a:endParaRPr>
          </a:p>
        </p:txBody>
      </p:sp>
      <p:sp>
        <p:nvSpPr>
          <p:cNvPr id="75" name="Google Shape;75;p4"/>
          <p:cNvSpPr/>
          <p:nvPr/>
        </p:nvSpPr>
        <p:spPr>
          <a:xfrm>
            <a:off x="4663440" y="2011680"/>
            <a:ext cx="1005840" cy="1005840"/>
          </a:xfrm>
          <a:prstGeom prst="ellipse">
            <a:avLst/>
          </a:prstGeom>
          <a:solidFill>
            <a:srgbClr val="0F6E6E"/>
          </a:solidFill>
          <a:ln w="254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 name="Google Shape;76;p4"/>
          <p:cNvSpPr txBox="1"/>
          <p:nvPr/>
        </p:nvSpPr>
        <p:spPr>
          <a:xfrm>
            <a:off x="4663440" y="2011680"/>
            <a:ext cx="100584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M3</a:t>
            </a:r>
            <a:endParaRPr sz="2200">
              <a:solidFill>
                <a:schemeClr val="dk1"/>
              </a:solidFill>
              <a:latin typeface="Calibri"/>
              <a:ea typeface="Calibri"/>
              <a:cs typeface="Calibri"/>
              <a:sym typeface="Calibri"/>
            </a:endParaRPr>
          </a:p>
        </p:txBody>
      </p:sp>
      <p:sp>
        <p:nvSpPr>
          <p:cNvPr id="77" name="Google Shape;77;p4"/>
          <p:cNvSpPr txBox="1"/>
          <p:nvPr/>
        </p:nvSpPr>
        <p:spPr>
          <a:xfrm>
            <a:off x="4297680" y="3200400"/>
            <a:ext cx="1737360" cy="4114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0F6E6E"/>
              </a:buClr>
              <a:buSzPts val="1800"/>
              <a:buFont typeface="Calibri"/>
              <a:buNone/>
            </a:pPr>
            <a:r>
              <a:rPr lang="en-US" sz="1800" b="1">
                <a:solidFill>
                  <a:srgbClr val="0F6E6E"/>
                </a:solidFill>
                <a:latin typeface="Calibri"/>
                <a:ea typeface="Calibri"/>
                <a:cs typeface="Calibri"/>
                <a:sym typeface="Calibri"/>
              </a:rPr>
              <a:t>Ch 5</a:t>
            </a:r>
            <a:endParaRPr sz="1800">
              <a:solidFill>
                <a:schemeClr val="dk1"/>
              </a:solidFill>
              <a:latin typeface="Calibri"/>
              <a:ea typeface="Calibri"/>
              <a:cs typeface="Calibri"/>
              <a:sym typeface="Calibri"/>
            </a:endParaRPr>
          </a:p>
        </p:txBody>
      </p:sp>
      <p:sp>
        <p:nvSpPr>
          <p:cNvPr id="78" name="Google Shape;78;p4"/>
          <p:cNvSpPr txBox="1"/>
          <p:nvPr/>
        </p:nvSpPr>
        <p:spPr>
          <a:xfrm>
            <a:off x="4297680" y="3657600"/>
            <a:ext cx="1737360" cy="914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F2933"/>
              </a:buClr>
              <a:buSzPts val="1700"/>
              <a:buFont typeface="Calibri"/>
              <a:buNone/>
            </a:pPr>
            <a:r>
              <a:rPr lang="en-US" sz="1700" b="1">
                <a:solidFill>
                  <a:srgbClr val="1F2933"/>
                </a:solidFill>
                <a:latin typeface="Calibri"/>
                <a:ea typeface="Calibri"/>
                <a:cs typeface="Calibri"/>
                <a:sym typeface="Calibri"/>
              </a:rPr>
              <a:t>Data model</a:t>
            </a:r>
            <a:endParaRPr sz="1700">
              <a:solidFill>
                <a:schemeClr val="dk1"/>
              </a:solidFill>
              <a:latin typeface="Calibri"/>
              <a:ea typeface="Calibri"/>
              <a:cs typeface="Calibri"/>
              <a:sym typeface="Calibri"/>
            </a:endParaRPr>
          </a:p>
        </p:txBody>
      </p:sp>
      <p:sp>
        <p:nvSpPr>
          <p:cNvPr id="79" name="Google Shape;79;p4"/>
          <p:cNvSpPr/>
          <p:nvPr/>
        </p:nvSpPr>
        <p:spPr>
          <a:xfrm>
            <a:off x="6537960" y="2011680"/>
            <a:ext cx="1005840" cy="1005840"/>
          </a:xfrm>
          <a:prstGeom prst="ellipse">
            <a:avLst/>
          </a:prstGeom>
          <a:solidFill>
            <a:srgbClr val="0F6E6E"/>
          </a:solidFill>
          <a:ln w="254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 name="Google Shape;80;p4"/>
          <p:cNvSpPr txBox="1"/>
          <p:nvPr/>
        </p:nvSpPr>
        <p:spPr>
          <a:xfrm>
            <a:off x="6537960" y="2011680"/>
            <a:ext cx="100584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M4</a:t>
            </a:r>
            <a:endParaRPr sz="2200">
              <a:solidFill>
                <a:schemeClr val="dk1"/>
              </a:solidFill>
              <a:latin typeface="Calibri"/>
              <a:ea typeface="Calibri"/>
              <a:cs typeface="Calibri"/>
              <a:sym typeface="Calibri"/>
            </a:endParaRPr>
          </a:p>
        </p:txBody>
      </p:sp>
      <p:sp>
        <p:nvSpPr>
          <p:cNvPr id="81" name="Google Shape;81;p4"/>
          <p:cNvSpPr txBox="1"/>
          <p:nvPr/>
        </p:nvSpPr>
        <p:spPr>
          <a:xfrm>
            <a:off x="6172200" y="3200400"/>
            <a:ext cx="1737360" cy="4114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0F6E6E"/>
              </a:buClr>
              <a:buSzPts val="1800"/>
              <a:buFont typeface="Calibri"/>
              <a:buNone/>
            </a:pPr>
            <a:r>
              <a:rPr lang="en-US" sz="1800" b="1">
                <a:solidFill>
                  <a:srgbClr val="0F6E6E"/>
                </a:solidFill>
                <a:latin typeface="Calibri"/>
                <a:ea typeface="Calibri"/>
                <a:cs typeface="Calibri"/>
                <a:sym typeface="Calibri"/>
              </a:rPr>
              <a:t>Ch 6–7</a:t>
            </a:r>
            <a:endParaRPr sz="1800">
              <a:solidFill>
                <a:schemeClr val="dk1"/>
              </a:solidFill>
              <a:latin typeface="Calibri"/>
              <a:ea typeface="Calibri"/>
              <a:cs typeface="Calibri"/>
              <a:sym typeface="Calibri"/>
            </a:endParaRPr>
          </a:p>
        </p:txBody>
      </p:sp>
      <p:sp>
        <p:nvSpPr>
          <p:cNvPr id="82" name="Google Shape;82;p4"/>
          <p:cNvSpPr txBox="1"/>
          <p:nvPr/>
        </p:nvSpPr>
        <p:spPr>
          <a:xfrm>
            <a:off x="6172200" y="3657600"/>
            <a:ext cx="1737360" cy="914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F2933"/>
              </a:buClr>
              <a:buSzPts val="1700"/>
              <a:buFont typeface="Calibri"/>
              <a:buNone/>
            </a:pPr>
            <a:r>
              <a:rPr lang="en-US" sz="1700" b="1">
                <a:solidFill>
                  <a:srgbClr val="1F2933"/>
                </a:solidFill>
                <a:latin typeface="Calibri"/>
                <a:ea typeface="Calibri"/>
                <a:cs typeface="Calibri"/>
                <a:sym typeface="Calibri"/>
              </a:rPr>
              <a:t>Acquisition &amp; architecture</a:t>
            </a:r>
            <a:endParaRPr sz="1700">
              <a:solidFill>
                <a:schemeClr val="dk1"/>
              </a:solidFill>
              <a:latin typeface="Calibri"/>
              <a:ea typeface="Calibri"/>
              <a:cs typeface="Calibri"/>
              <a:sym typeface="Calibri"/>
            </a:endParaRPr>
          </a:p>
        </p:txBody>
      </p:sp>
      <p:sp>
        <p:nvSpPr>
          <p:cNvPr id="83" name="Google Shape;83;p4"/>
          <p:cNvSpPr/>
          <p:nvPr/>
        </p:nvSpPr>
        <p:spPr>
          <a:xfrm>
            <a:off x="8412480" y="2011680"/>
            <a:ext cx="1005840" cy="1005840"/>
          </a:xfrm>
          <a:prstGeom prst="ellipse">
            <a:avLst/>
          </a:prstGeom>
          <a:solidFill>
            <a:srgbClr val="0F6E6E"/>
          </a:solidFill>
          <a:ln w="254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 name="Google Shape;84;p4"/>
          <p:cNvSpPr txBox="1"/>
          <p:nvPr/>
        </p:nvSpPr>
        <p:spPr>
          <a:xfrm>
            <a:off x="8412480" y="2011680"/>
            <a:ext cx="100584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M5</a:t>
            </a:r>
            <a:endParaRPr sz="2200">
              <a:solidFill>
                <a:schemeClr val="dk1"/>
              </a:solidFill>
              <a:latin typeface="Calibri"/>
              <a:ea typeface="Calibri"/>
              <a:cs typeface="Calibri"/>
              <a:sym typeface="Calibri"/>
            </a:endParaRPr>
          </a:p>
        </p:txBody>
      </p:sp>
      <p:sp>
        <p:nvSpPr>
          <p:cNvPr id="85" name="Google Shape;85;p4"/>
          <p:cNvSpPr txBox="1"/>
          <p:nvPr/>
        </p:nvSpPr>
        <p:spPr>
          <a:xfrm>
            <a:off x="8046720" y="3200400"/>
            <a:ext cx="1737360" cy="4114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0F6E6E"/>
              </a:buClr>
              <a:buSzPts val="1800"/>
              <a:buFont typeface="Calibri"/>
              <a:buNone/>
            </a:pPr>
            <a:r>
              <a:rPr lang="en-US" sz="1800" b="1">
                <a:solidFill>
                  <a:srgbClr val="0F6E6E"/>
                </a:solidFill>
                <a:latin typeface="Calibri"/>
                <a:ea typeface="Calibri"/>
                <a:cs typeface="Calibri"/>
                <a:sym typeface="Calibri"/>
              </a:rPr>
              <a:t>Ch 8 &amp; 10</a:t>
            </a:r>
            <a:endParaRPr sz="1800">
              <a:solidFill>
                <a:schemeClr val="dk1"/>
              </a:solidFill>
              <a:latin typeface="Calibri"/>
              <a:ea typeface="Calibri"/>
              <a:cs typeface="Calibri"/>
              <a:sym typeface="Calibri"/>
            </a:endParaRPr>
          </a:p>
        </p:txBody>
      </p:sp>
      <p:sp>
        <p:nvSpPr>
          <p:cNvPr id="86" name="Google Shape;86;p4"/>
          <p:cNvSpPr txBox="1"/>
          <p:nvPr/>
        </p:nvSpPr>
        <p:spPr>
          <a:xfrm>
            <a:off x="8046720" y="3657600"/>
            <a:ext cx="1737360" cy="914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F2933"/>
              </a:buClr>
              <a:buSzPts val="1700"/>
              <a:buFont typeface="Calibri"/>
              <a:buNone/>
            </a:pPr>
            <a:r>
              <a:rPr lang="en-US" sz="1700" b="1">
                <a:solidFill>
                  <a:srgbClr val="1F2933"/>
                </a:solidFill>
                <a:latin typeface="Calibri"/>
                <a:ea typeface="Calibri"/>
                <a:cs typeface="Calibri"/>
                <a:sym typeface="Calibri"/>
              </a:rPr>
              <a:t>Interface &amp; storage</a:t>
            </a:r>
            <a:endParaRPr sz="1700">
              <a:solidFill>
                <a:schemeClr val="dk1"/>
              </a:solidFill>
              <a:latin typeface="Calibri"/>
              <a:ea typeface="Calibri"/>
              <a:cs typeface="Calibri"/>
              <a:sym typeface="Calibri"/>
            </a:endParaRPr>
          </a:p>
        </p:txBody>
      </p:sp>
      <p:sp>
        <p:nvSpPr>
          <p:cNvPr id="87" name="Google Shape;87;p4"/>
          <p:cNvSpPr/>
          <p:nvPr/>
        </p:nvSpPr>
        <p:spPr>
          <a:xfrm>
            <a:off x="10287000" y="2011680"/>
            <a:ext cx="1005840" cy="1005840"/>
          </a:xfrm>
          <a:prstGeom prst="ellipse">
            <a:avLst/>
          </a:prstGeom>
          <a:solidFill>
            <a:srgbClr val="1F2933"/>
          </a:solidFill>
          <a:ln w="254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 name="Google Shape;88;p4"/>
          <p:cNvSpPr txBox="1"/>
          <p:nvPr/>
        </p:nvSpPr>
        <p:spPr>
          <a:xfrm>
            <a:off x="10287000" y="2011680"/>
            <a:ext cx="100584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M6</a:t>
            </a:r>
            <a:endParaRPr sz="2200">
              <a:solidFill>
                <a:schemeClr val="dk1"/>
              </a:solidFill>
              <a:latin typeface="Calibri"/>
              <a:ea typeface="Calibri"/>
              <a:cs typeface="Calibri"/>
              <a:sym typeface="Calibri"/>
            </a:endParaRPr>
          </a:p>
        </p:txBody>
      </p:sp>
      <p:sp>
        <p:nvSpPr>
          <p:cNvPr id="89" name="Google Shape;89;p4"/>
          <p:cNvSpPr txBox="1"/>
          <p:nvPr/>
        </p:nvSpPr>
        <p:spPr>
          <a:xfrm>
            <a:off x="9921240" y="3200400"/>
            <a:ext cx="1737360" cy="4114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0F6E6E"/>
              </a:buClr>
              <a:buSzPts val="1800"/>
              <a:buFont typeface="Calibri"/>
              <a:buNone/>
            </a:pPr>
            <a:r>
              <a:rPr lang="en-US" sz="1800" b="1">
                <a:solidFill>
                  <a:srgbClr val="0F6E6E"/>
                </a:solidFill>
                <a:latin typeface="Calibri"/>
                <a:ea typeface="Calibri"/>
                <a:cs typeface="Calibri"/>
                <a:sym typeface="Calibri"/>
              </a:rPr>
              <a:t>Final</a:t>
            </a:r>
            <a:endParaRPr sz="1800">
              <a:solidFill>
                <a:schemeClr val="dk1"/>
              </a:solidFill>
              <a:latin typeface="Calibri"/>
              <a:ea typeface="Calibri"/>
              <a:cs typeface="Calibri"/>
              <a:sym typeface="Calibri"/>
            </a:endParaRPr>
          </a:p>
        </p:txBody>
      </p:sp>
      <p:sp>
        <p:nvSpPr>
          <p:cNvPr id="90" name="Google Shape;90;p4"/>
          <p:cNvSpPr txBox="1"/>
          <p:nvPr/>
        </p:nvSpPr>
        <p:spPr>
          <a:xfrm>
            <a:off x="9921240" y="3657600"/>
            <a:ext cx="1737360" cy="914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F2933"/>
              </a:buClr>
              <a:buSzPts val="1700"/>
              <a:buFont typeface="Calibri"/>
              <a:buNone/>
            </a:pPr>
            <a:r>
              <a:rPr lang="en-US" sz="1700" b="1">
                <a:solidFill>
                  <a:srgbClr val="1F2933"/>
                </a:solidFill>
                <a:latin typeface="Calibri"/>
                <a:ea typeface="Calibri"/>
                <a:cs typeface="Calibri"/>
                <a:sym typeface="Calibri"/>
              </a:rPr>
              <a:t>Presentation &amp; defense</a:t>
            </a:r>
            <a:endParaRPr sz="1700">
              <a:solidFill>
                <a:schemeClr val="dk1"/>
              </a:solidFill>
              <a:latin typeface="Calibri"/>
              <a:ea typeface="Calibri"/>
              <a:cs typeface="Calibri"/>
              <a:sym typeface="Calibri"/>
            </a:endParaRPr>
          </a:p>
        </p:txBody>
      </p:sp>
      <p:sp>
        <p:nvSpPr>
          <p:cNvPr id="91" name="Google Shape;91;p4"/>
          <p:cNvSpPr/>
          <p:nvPr/>
        </p:nvSpPr>
        <p:spPr>
          <a:xfrm>
            <a:off x="548640" y="5029200"/>
            <a:ext cx="11064240" cy="1097280"/>
          </a:xfrm>
          <a:prstGeom prst="roundRect">
            <a:avLst>
              <a:gd name="adj" fmla="val 6667"/>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2" name="Google Shape;92;p4"/>
          <p:cNvSpPr txBox="1"/>
          <p:nvPr/>
        </p:nvSpPr>
        <p:spPr>
          <a:xfrm>
            <a:off x="731520" y="5193792"/>
            <a:ext cx="106984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800"/>
              <a:buFont typeface="Calibri"/>
              <a:buNone/>
            </a:pPr>
            <a:r>
              <a:rPr lang="en-US" sz="1800" b="1">
                <a:solidFill>
                  <a:srgbClr val="1F2933"/>
                </a:solidFill>
                <a:latin typeface="Calibri"/>
                <a:ea typeface="Calibri"/>
                <a:cs typeface="Calibri"/>
                <a:sym typeface="Calibri"/>
              </a:rPr>
              <a:t>Every milestone also includes</a:t>
            </a:r>
            <a:endParaRPr sz="1800">
              <a:solidFill>
                <a:schemeClr val="dk1"/>
              </a:solidFill>
              <a:latin typeface="Calibri"/>
              <a:ea typeface="Calibri"/>
              <a:cs typeface="Calibri"/>
              <a:sym typeface="Calibri"/>
            </a:endParaRPr>
          </a:p>
        </p:txBody>
      </p:sp>
      <p:sp>
        <p:nvSpPr>
          <p:cNvPr id="93" name="Google Shape;93;p4"/>
          <p:cNvSpPr txBox="1"/>
          <p:nvPr/>
        </p:nvSpPr>
        <p:spPr>
          <a:xfrm>
            <a:off x="731520" y="5605272"/>
            <a:ext cx="106984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1700"/>
              <a:buFont typeface="Calibri"/>
              <a:buNone/>
            </a:pPr>
            <a:r>
              <a:rPr lang="en-US" sz="1700">
                <a:solidFill>
                  <a:srgbClr val="334155"/>
                </a:solidFill>
                <a:latin typeface="Calibri"/>
                <a:ea typeface="Calibri"/>
                <a:cs typeface="Calibri"/>
                <a:sym typeface="Calibri"/>
              </a:rPr>
              <a:t>Updated logs (evidence, assumptions, traceability)  ·  your AI chat exports  ·  a short note on who did what</a:t>
            </a:r>
            <a:endParaRPr sz="17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F2933"/>
        </a:solidFill>
        <a:effectLst/>
      </p:bgPr>
    </p:bg>
    <p:spTree>
      <p:nvGrpSpPr>
        <p:cNvPr id="1" name="Shape 98"/>
        <p:cNvGrpSpPr/>
        <p:nvPr/>
      </p:nvGrpSpPr>
      <p:grpSpPr>
        <a:xfrm>
          <a:off x="0" y="0"/>
          <a:ext cx="0" cy="0"/>
          <a:chOff x="0" y="0"/>
          <a:chExt cx="0" cy="0"/>
        </a:xfrm>
      </p:grpSpPr>
      <p:sp>
        <p:nvSpPr>
          <p:cNvPr id="99" name="Google Shape;99;p5"/>
          <p:cNvSpPr txBox="1"/>
          <p:nvPr/>
        </p:nvSpPr>
        <p:spPr>
          <a:xfrm>
            <a:off x="731520" y="2011680"/>
            <a:ext cx="274320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6EAEA"/>
              </a:buClr>
              <a:buSzPts val="6600"/>
              <a:buFont typeface="Cambria"/>
              <a:buNone/>
            </a:pPr>
            <a:r>
              <a:rPr lang="en-US" sz="6600" b="1">
                <a:solidFill>
                  <a:srgbClr val="D6EAEA"/>
                </a:solidFill>
                <a:latin typeface="Cambria"/>
                <a:ea typeface="Cambria"/>
                <a:cs typeface="Cambria"/>
                <a:sym typeface="Cambria"/>
              </a:rPr>
              <a:t>01</a:t>
            </a:r>
            <a:endParaRPr sz="6600">
              <a:solidFill>
                <a:schemeClr val="dk1"/>
              </a:solidFill>
              <a:latin typeface="Calibri"/>
              <a:ea typeface="Calibri"/>
              <a:cs typeface="Calibri"/>
              <a:sym typeface="Calibri"/>
            </a:endParaRPr>
          </a:p>
        </p:txBody>
      </p:sp>
      <p:sp>
        <p:nvSpPr>
          <p:cNvPr id="100" name="Google Shape;100;p5"/>
          <p:cNvSpPr txBox="1"/>
          <p:nvPr/>
        </p:nvSpPr>
        <p:spPr>
          <a:xfrm>
            <a:off x="731520" y="3154680"/>
            <a:ext cx="1005840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800"/>
              <a:buFont typeface="Cambria"/>
              <a:buNone/>
            </a:pPr>
            <a:r>
              <a:rPr lang="en-US" sz="3800" b="1">
                <a:solidFill>
                  <a:srgbClr val="FFFFFF"/>
                </a:solidFill>
                <a:latin typeface="Cambria"/>
                <a:ea typeface="Cambria"/>
                <a:cs typeface="Cambria"/>
                <a:sym typeface="Cambria"/>
              </a:rPr>
              <a:t>Chapter by Chapter</a:t>
            </a:r>
            <a:endParaRPr sz="3800">
              <a:solidFill>
                <a:schemeClr val="dk1"/>
              </a:solidFill>
              <a:latin typeface="Calibri"/>
              <a:ea typeface="Calibri"/>
              <a:cs typeface="Calibri"/>
              <a:sym typeface="Calibri"/>
            </a:endParaRPr>
          </a:p>
        </p:txBody>
      </p:sp>
      <p:sp>
        <p:nvSpPr>
          <p:cNvPr id="101" name="Google Shape;101;p5"/>
          <p:cNvSpPr txBox="1"/>
          <p:nvPr/>
        </p:nvSpPr>
        <p:spPr>
          <a:xfrm>
            <a:off x="731520" y="4114800"/>
            <a:ext cx="914400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8C4C4"/>
              </a:buClr>
              <a:buSzPts val="1800"/>
              <a:buFont typeface="Calibri"/>
              <a:buNone/>
            </a:pPr>
            <a:r>
              <a:rPr lang="en-US" sz="1800">
                <a:solidFill>
                  <a:srgbClr val="B8C4C4"/>
                </a:solidFill>
                <a:latin typeface="Calibri"/>
                <a:ea typeface="Calibri"/>
                <a:cs typeface="Calibri"/>
                <a:sym typeface="Calibri"/>
              </a:rPr>
              <a:t>What you do and hand in after each chapter</a:t>
            </a:r>
            <a:endParaRPr sz="1800">
              <a:solidFill>
                <a:schemeClr val="dk1"/>
              </a:solidFill>
              <a:latin typeface="Calibri"/>
              <a:ea typeface="Calibri"/>
              <a:cs typeface="Calibri"/>
              <a:sym typeface="Calibri"/>
            </a:endParaRPr>
          </a:p>
        </p:txBody>
      </p:sp>
      <p:sp>
        <p:nvSpPr>
          <p:cNvPr id="102" name="Google Shape;102;p5"/>
          <p:cNvSpPr/>
          <p:nvPr/>
        </p:nvSpPr>
        <p:spPr>
          <a:xfrm>
            <a:off x="731520" y="5760720"/>
            <a:ext cx="384048" cy="384048"/>
          </a:xfrm>
          <a:prstGeom prst="ellipse">
            <a:avLst/>
          </a:prstGeom>
          <a:solidFill>
            <a:srgbClr val="2E7D4F"/>
          </a:solidFill>
          <a:ln w="12700" cap="flat" cmpd="sng">
            <a:solidFill>
              <a:srgbClr val="2E7D4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 name="Google Shape;103;p5"/>
          <p:cNvSpPr txBox="1"/>
          <p:nvPr/>
        </p:nvSpPr>
        <p:spPr>
          <a:xfrm>
            <a:off x="731520" y="576072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28"/>
              <a:buFont typeface="Calibri"/>
              <a:buNone/>
            </a:pPr>
            <a:r>
              <a:rPr lang="en-US" sz="1428" b="1">
                <a:solidFill>
                  <a:srgbClr val="FFFFFF"/>
                </a:solidFill>
                <a:latin typeface="Calibri"/>
                <a:ea typeface="Calibri"/>
                <a:cs typeface="Calibri"/>
                <a:sym typeface="Calibri"/>
              </a:rPr>
              <a:t>F</a:t>
            </a:r>
            <a:endParaRPr sz="1428">
              <a:solidFill>
                <a:schemeClr val="dk1"/>
              </a:solidFill>
              <a:latin typeface="Calibri"/>
              <a:ea typeface="Calibri"/>
              <a:cs typeface="Calibri"/>
              <a:sym typeface="Calibri"/>
            </a:endParaRPr>
          </a:p>
        </p:txBody>
      </p:sp>
      <p:sp>
        <p:nvSpPr>
          <p:cNvPr id="104" name="Google Shape;104;p5"/>
          <p:cNvSpPr/>
          <p:nvPr/>
        </p:nvSpPr>
        <p:spPr>
          <a:xfrm>
            <a:off x="1225296" y="5760720"/>
            <a:ext cx="384048" cy="384048"/>
          </a:xfrm>
          <a:prstGeom prst="ellipse">
            <a:avLst/>
          </a:prstGeom>
          <a:solidFill>
            <a:srgbClr val="B7791F"/>
          </a:solidFill>
          <a:ln w="12700" cap="flat" cmpd="sng">
            <a:solidFill>
              <a:srgbClr val="B7791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 name="Google Shape;105;p5"/>
          <p:cNvSpPr txBox="1"/>
          <p:nvPr/>
        </p:nvSpPr>
        <p:spPr>
          <a:xfrm>
            <a:off x="1225296" y="576072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28"/>
              <a:buFont typeface="Calibri"/>
              <a:buNone/>
            </a:pPr>
            <a:r>
              <a:rPr lang="en-US" sz="1428" b="1">
                <a:solidFill>
                  <a:srgbClr val="FFFFFF"/>
                </a:solidFill>
                <a:latin typeface="Calibri"/>
                <a:ea typeface="Calibri"/>
                <a:cs typeface="Calibri"/>
                <a:sym typeface="Calibri"/>
              </a:rPr>
              <a:t>I</a:t>
            </a:r>
            <a:endParaRPr sz="1428">
              <a:solidFill>
                <a:schemeClr val="dk1"/>
              </a:solidFill>
              <a:latin typeface="Calibri"/>
              <a:ea typeface="Calibri"/>
              <a:cs typeface="Calibri"/>
              <a:sym typeface="Calibri"/>
            </a:endParaRPr>
          </a:p>
        </p:txBody>
      </p:sp>
      <p:sp>
        <p:nvSpPr>
          <p:cNvPr id="106" name="Google Shape;106;p5"/>
          <p:cNvSpPr/>
          <p:nvPr/>
        </p:nvSpPr>
        <p:spPr>
          <a:xfrm>
            <a:off x="1719072" y="5760720"/>
            <a:ext cx="384048" cy="384048"/>
          </a:xfrm>
          <a:prstGeom prst="ellipse">
            <a:avLst/>
          </a:prstGeom>
          <a:solidFill>
            <a:srgbClr val="B23A48"/>
          </a:solidFill>
          <a:ln w="12700" cap="flat" cmpd="sng">
            <a:solidFill>
              <a:srgbClr val="B23A4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 name="Google Shape;107;p5"/>
          <p:cNvSpPr txBox="1"/>
          <p:nvPr/>
        </p:nvSpPr>
        <p:spPr>
          <a:xfrm>
            <a:off x="1719072" y="576072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28"/>
              <a:buFont typeface="Calibri"/>
              <a:buNone/>
            </a:pPr>
            <a:r>
              <a:rPr lang="en-US" sz="1428" b="1">
                <a:solidFill>
                  <a:srgbClr val="FFFFFF"/>
                </a:solidFill>
                <a:latin typeface="Calibri"/>
                <a:ea typeface="Calibri"/>
                <a:cs typeface="Calibri"/>
                <a:sym typeface="Calibri"/>
              </a:rPr>
              <a:t>A</a:t>
            </a:r>
            <a:endParaRPr sz="1428">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2"/>
        <p:cNvGrpSpPr/>
        <p:nvPr/>
      </p:nvGrpSpPr>
      <p:grpSpPr>
        <a:xfrm>
          <a:off x="0" y="0"/>
          <a:ext cx="0" cy="0"/>
          <a:chOff x="0" y="0"/>
          <a:chExt cx="0" cy="0"/>
        </a:xfrm>
      </p:grpSpPr>
      <p:sp>
        <p:nvSpPr>
          <p:cNvPr id="113" name="Google Shape;113;p6"/>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CHAPTER 3 · REQUIREMENTS DETERMINATION</a:t>
            </a:r>
            <a:endParaRPr sz="1100">
              <a:solidFill>
                <a:schemeClr val="dk1"/>
              </a:solidFill>
              <a:latin typeface="Calibri"/>
              <a:ea typeface="Calibri"/>
              <a:cs typeface="Calibri"/>
              <a:sym typeface="Calibri"/>
            </a:endParaRPr>
          </a:p>
        </p:txBody>
      </p:sp>
      <p:sp>
        <p:nvSpPr>
          <p:cNvPr id="114" name="Google Shape;114;p6"/>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Chapter 3: Find out what the system must do</a:t>
            </a:r>
            <a:endParaRPr sz="2800">
              <a:solidFill>
                <a:schemeClr val="dk1"/>
              </a:solidFill>
              <a:latin typeface="Calibri"/>
              <a:ea typeface="Calibri"/>
              <a:cs typeface="Calibri"/>
              <a:sym typeface="Calibri"/>
            </a:endParaRPr>
          </a:p>
        </p:txBody>
      </p:sp>
      <p:sp>
        <p:nvSpPr>
          <p:cNvPr id="115" name="Google Shape;115;p6"/>
          <p:cNvSpPr txBox="1"/>
          <p:nvPr/>
        </p:nvSpPr>
        <p:spPr>
          <a:xfrm>
            <a:off x="548640" y="1691640"/>
            <a:ext cx="59436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2000"/>
              <a:buFont typeface="Cambria"/>
              <a:buNone/>
            </a:pPr>
            <a:r>
              <a:rPr lang="en-US" sz="2000" b="1">
                <a:solidFill>
                  <a:srgbClr val="0F6E6E"/>
                </a:solidFill>
                <a:latin typeface="Cambria"/>
                <a:ea typeface="Cambria"/>
                <a:cs typeface="Cambria"/>
                <a:sym typeface="Cambria"/>
              </a:rPr>
              <a:t>What you do</a:t>
            </a:r>
            <a:endParaRPr sz="2000">
              <a:solidFill>
                <a:schemeClr val="dk1"/>
              </a:solidFill>
              <a:latin typeface="Calibri"/>
              <a:ea typeface="Calibri"/>
              <a:cs typeface="Calibri"/>
              <a:sym typeface="Calibri"/>
            </a:endParaRPr>
          </a:p>
        </p:txBody>
      </p:sp>
      <p:sp>
        <p:nvSpPr>
          <p:cNvPr id="116" name="Google Shape;116;p6"/>
          <p:cNvSpPr/>
          <p:nvPr/>
        </p:nvSpPr>
        <p:spPr>
          <a:xfrm>
            <a:off x="548640" y="224028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 name="Google Shape;117;p6"/>
          <p:cNvSpPr txBox="1"/>
          <p:nvPr/>
        </p:nvSpPr>
        <p:spPr>
          <a:xfrm>
            <a:off x="548640" y="224028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118" name="Google Shape;118;p6"/>
          <p:cNvSpPr txBox="1"/>
          <p:nvPr/>
        </p:nvSpPr>
        <p:spPr>
          <a:xfrm>
            <a:off x="1371600" y="224028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Use the site and take dated screenshots</a:t>
            </a:r>
            <a:endParaRPr sz="1800">
              <a:solidFill>
                <a:schemeClr val="dk1"/>
              </a:solidFill>
              <a:latin typeface="Calibri"/>
              <a:ea typeface="Calibri"/>
              <a:cs typeface="Calibri"/>
              <a:sym typeface="Calibri"/>
            </a:endParaRPr>
          </a:p>
        </p:txBody>
      </p:sp>
      <p:sp>
        <p:nvSpPr>
          <p:cNvPr id="119" name="Google Shape;119;p6"/>
          <p:cNvSpPr/>
          <p:nvPr/>
        </p:nvSpPr>
        <p:spPr>
          <a:xfrm>
            <a:off x="548640" y="306324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 name="Google Shape;120;p6"/>
          <p:cNvSpPr txBox="1"/>
          <p:nvPr/>
        </p:nvSpPr>
        <p:spPr>
          <a:xfrm>
            <a:off x="548640" y="306324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121" name="Google Shape;121;p6"/>
          <p:cNvSpPr txBox="1"/>
          <p:nvPr/>
        </p:nvSpPr>
        <p:spPr>
          <a:xfrm>
            <a:off x="1371600" y="306324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Read the FAQs, help pages, and reviews</a:t>
            </a:r>
            <a:endParaRPr sz="1800">
              <a:solidFill>
                <a:schemeClr val="dk1"/>
              </a:solidFill>
              <a:latin typeface="Calibri"/>
              <a:ea typeface="Calibri"/>
              <a:cs typeface="Calibri"/>
              <a:sym typeface="Calibri"/>
            </a:endParaRPr>
          </a:p>
        </p:txBody>
      </p:sp>
      <p:sp>
        <p:nvSpPr>
          <p:cNvPr id="122" name="Google Shape;122;p6"/>
          <p:cNvSpPr/>
          <p:nvPr/>
        </p:nvSpPr>
        <p:spPr>
          <a:xfrm>
            <a:off x="548640" y="388620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 name="Google Shape;123;p6"/>
          <p:cNvSpPr txBox="1"/>
          <p:nvPr/>
        </p:nvSpPr>
        <p:spPr>
          <a:xfrm>
            <a:off x="548640" y="388620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124" name="Google Shape;124;p6"/>
          <p:cNvSpPr txBox="1"/>
          <p:nvPr/>
        </p:nvSpPr>
        <p:spPr>
          <a:xfrm>
            <a:off x="1371600" y="388620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Interview 2–3 AI stakeholders</a:t>
            </a:r>
            <a:endParaRPr sz="1800">
              <a:solidFill>
                <a:schemeClr val="dk1"/>
              </a:solidFill>
              <a:latin typeface="Calibri"/>
              <a:ea typeface="Calibri"/>
              <a:cs typeface="Calibri"/>
              <a:sym typeface="Calibri"/>
            </a:endParaRPr>
          </a:p>
        </p:txBody>
      </p:sp>
      <p:sp>
        <p:nvSpPr>
          <p:cNvPr id="125" name="Google Shape;125;p6"/>
          <p:cNvSpPr/>
          <p:nvPr/>
        </p:nvSpPr>
        <p:spPr>
          <a:xfrm>
            <a:off x="548640" y="470916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6" name="Google Shape;126;p6"/>
          <p:cNvSpPr txBox="1"/>
          <p:nvPr/>
        </p:nvSpPr>
        <p:spPr>
          <a:xfrm>
            <a:off x="548640" y="470916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127" name="Google Shape;127;p6"/>
          <p:cNvSpPr txBox="1"/>
          <p:nvPr/>
        </p:nvSpPr>
        <p:spPr>
          <a:xfrm>
            <a:off x="1371600" y="470916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Survey a few real users if possible</a:t>
            </a:r>
            <a:endParaRPr sz="1800">
              <a:solidFill>
                <a:schemeClr val="dk1"/>
              </a:solidFill>
              <a:latin typeface="Calibri"/>
              <a:ea typeface="Calibri"/>
              <a:cs typeface="Calibri"/>
              <a:sym typeface="Calibri"/>
            </a:endParaRPr>
          </a:p>
        </p:txBody>
      </p:sp>
      <p:sp>
        <p:nvSpPr>
          <p:cNvPr id="128" name="Google Shape;128;p6"/>
          <p:cNvSpPr/>
          <p:nvPr/>
        </p:nvSpPr>
        <p:spPr>
          <a:xfrm>
            <a:off x="7040880" y="1691640"/>
            <a:ext cx="4572000" cy="4480560"/>
          </a:xfrm>
          <a:prstGeom prst="roundRect">
            <a:avLst>
              <a:gd name="adj" fmla="val 1633"/>
            </a:avLst>
          </a:prstGeom>
          <a:solidFill>
            <a:srgbClr val="D6EAEA"/>
          </a:solidFill>
          <a:ln w="12700" cap="flat" cmpd="sng">
            <a:solidFill>
              <a:srgbClr val="D6EAE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 name="Google Shape;129;p6"/>
          <p:cNvSpPr txBox="1"/>
          <p:nvPr/>
        </p:nvSpPr>
        <p:spPr>
          <a:xfrm>
            <a:off x="7223760" y="1856232"/>
            <a:ext cx="4206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200"/>
              <a:buFont typeface="Calibri"/>
              <a:buNone/>
            </a:pPr>
            <a:r>
              <a:rPr lang="en-US" sz="2200" b="1">
                <a:solidFill>
                  <a:srgbClr val="1F2933"/>
                </a:solidFill>
                <a:latin typeface="Calibri"/>
                <a:ea typeface="Calibri"/>
                <a:cs typeface="Calibri"/>
                <a:sym typeface="Calibri"/>
              </a:rPr>
              <a:t>What you hand in</a:t>
            </a:r>
            <a:endParaRPr sz="2200">
              <a:solidFill>
                <a:schemeClr val="dk1"/>
              </a:solidFill>
              <a:latin typeface="Calibri"/>
              <a:ea typeface="Calibri"/>
              <a:cs typeface="Calibri"/>
              <a:sym typeface="Calibri"/>
            </a:endParaRPr>
          </a:p>
        </p:txBody>
      </p:sp>
      <p:sp>
        <p:nvSpPr>
          <p:cNvPr id="130" name="Google Shape;130;p6"/>
          <p:cNvSpPr txBox="1"/>
          <p:nvPr/>
        </p:nvSpPr>
        <p:spPr>
          <a:xfrm>
            <a:off x="7223760" y="2450592"/>
            <a:ext cx="4206240" cy="35661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Your company and process</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20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Requirements list (functional and nonfunctional)</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20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Interview notes and AI chat exports</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20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Short survey results</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20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First version of your logs</a:t>
            </a:r>
            <a:endParaRPr sz="2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5"/>
        <p:cNvGrpSpPr/>
        <p:nvPr/>
      </p:nvGrpSpPr>
      <p:grpSpPr>
        <a:xfrm>
          <a:off x="0" y="0"/>
          <a:ext cx="0" cy="0"/>
          <a:chOff x="0" y="0"/>
          <a:chExt cx="0" cy="0"/>
        </a:xfrm>
      </p:grpSpPr>
      <p:sp>
        <p:nvSpPr>
          <p:cNvPr id="136" name="Google Shape;136;p7"/>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CHAPTER 4 · USE CASES AND PROCESS MODELS</a:t>
            </a:r>
            <a:endParaRPr sz="1100">
              <a:solidFill>
                <a:schemeClr val="dk1"/>
              </a:solidFill>
              <a:latin typeface="Calibri"/>
              <a:ea typeface="Calibri"/>
              <a:cs typeface="Calibri"/>
              <a:sym typeface="Calibri"/>
            </a:endParaRPr>
          </a:p>
        </p:txBody>
      </p:sp>
      <p:sp>
        <p:nvSpPr>
          <p:cNvPr id="137" name="Google Shape;137;p7"/>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Chapter 4: Show how the process works</a:t>
            </a:r>
            <a:endParaRPr sz="2800">
              <a:solidFill>
                <a:schemeClr val="dk1"/>
              </a:solidFill>
              <a:latin typeface="Calibri"/>
              <a:ea typeface="Calibri"/>
              <a:cs typeface="Calibri"/>
              <a:sym typeface="Calibri"/>
            </a:endParaRPr>
          </a:p>
        </p:txBody>
      </p:sp>
      <p:sp>
        <p:nvSpPr>
          <p:cNvPr id="138" name="Google Shape;138;p7"/>
          <p:cNvSpPr txBox="1"/>
          <p:nvPr/>
        </p:nvSpPr>
        <p:spPr>
          <a:xfrm>
            <a:off x="548640" y="1691640"/>
            <a:ext cx="59436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2000"/>
              <a:buFont typeface="Cambria"/>
              <a:buNone/>
            </a:pPr>
            <a:r>
              <a:rPr lang="en-US" sz="2000" b="1">
                <a:solidFill>
                  <a:srgbClr val="0F6E6E"/>
                </a:solidFill>
                <a:latin typeface="Cambria"/>
                <a:ea typeface="Cambria"/>
                <a:cs typeface="Cambria"/>
                <a:sym typeface="Cambria"/>
              </a:rPr>
              <a:t>What you do</a:t>
            </a:r>
            <a:endParaRPr sz="2000">
              <a:solidFill>
                <a:schemeClr val="dk1"/>
              </a:solidFill>
              <a:latin typeface="Calibri"/>
              <a:ea typeface="Calibri"/>
              <a:cs typeface="Calibri"/>
              <a:sym typeface="Calibri"/>
            </a:endParaRPr>
          </a:p>
        </p:txBody>
      </p:sp>
      <p:sp>
        <p:nvSpPr>
          <p:cNvPr id="139" name="Google Shape;139;p7"/>
          <p:cNvSpPr/>
          <p:nvPr/>
        </p:nvSpPr>
        <p:spPr>
          <a:xfrm>
            <a:off x="548640" y="224028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0" name="Google Shape;140;p7"/>
          <p:cNvSpPr txBox="1"/>
          <p:nvPr/>
        </p:nvSpPr>
        <p:spPr>
          <a:xfrm>
            <a:off x="548640" y="224028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141" name="Google Shape;141;p7"/>
          <p:cNvSpPr txBox="1"/>
          <p:nvPr/>
        </p:nvSpPr>
        <p:spPr>
          <a:xfrm>
            <a:off x="1371600" y="224028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List the main use cases</a:t>
            </a:r>
            <a:endParaRPr sz="1800">
              <a:solidFill>
                <a:schemeClr val="dk1"/>
              </a:solidFill>
              <a:latin typeface="Calibri"/>
              <a:ea typeface="Calibri"/>
              <a:cs typeface="Calibri"/>
              <a:sym typeface="Calibri"/>
            </a:endParaRPr>
          </a:p>
        </p:txBody>
      </p:sp>
      <p:sp>
        <p:nvSpPr>
          <p:cNvPr id="142" name="Google Shape;142;p7"/>
          <p:cNvSpPr/>
          <p:nvPr/>
        </p:nvSpPr>
        <p:spPr>
          <a:xfrm>
            <a:off x="548640" y="306324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p7"/>
          <p:cNvSpPr txBox="1"/>
          <p:nvPr/>
        </p:nvSpPr>
        <p:spPr>
          <a:xfrm>
            <a:off x="548640" y="306324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144" name="Google Shape;144;p7"/>
          <p:cNvSpPr txBox="1"/>
          <p:nvPr/>
        </p:nvSpPr>
        <p:spPr>
          <a:xfrm>
            <a:off x="1371600" y="306324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Write 5–8 of them in detail</a:t>
            </a:r>
            <a:endParaRPr sz="1800">
              <a:solidFill>
                <a:schemeClr val="dk1"/>
              </a:solidFill>
              <a:latin typeface="Calibri"/>
              <a:ea typeface="Calibri"/>
              <a:cs typeface="Calibri"/>
              <a:sym typeface="Calibri"/>
            </a:endParaRPr>
          </a:p>
        </p:txBody>
      </p:sp>
      <p:sp>
        <p:nvSpPr>
          <p:cNvPr id="145" name="Google Shape;145;p7"/>
          <p:cNvSpPr/>
          <p:nvPr/>
        </p:nvSpPr>
        <p:spPr>
          <a:xfrm>
            <a:off x="548640" y="388620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6" name="Google Shape;146;p7"/>
          <p:cNvSpPr txBox="1"/>
          <p:nvPr/>
        </p:nvSpPr>
        <p:spPr>
          <a:xfrm>
            <a:off x="548640" y="388620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147" name="Google Shape;147;p7"/>
          <p:cNvSpPr txBox="1"/>
          <p:nvPr/>
        </p:nvSpPr>
        <p:spPr>
          <a:xfrm>
            <a:off x="1371600" y="388620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Draw the context diagram</a:t>
            </a:r>
            <a:endParaRPr sz="1800">
              <a:solidFill>
                <a:schemeClr val="dk1"/>
              </a:solidFill>
              <a:latin typeface="Calibri"/>
              <a:ea typeface="Calibri"/>
              <a:cs typeface="Calibri"/>
              <a:sym typeface="Calibri"/>
            </a:endParaRPr>
          </a:p>
        </p:txBody>
      </p:sp>
      <p:sp>
        <p:nvSpPr>
          <p:cNvPr id="148" name="Google Shape;148;p7"/>
          <p:cNvSpPr/>
          <p:nvPr/>
        </p:nvSpPr>
        <p:spPr>
          <a:xfrm>
            <a:off x="548640" y="470916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9" name="Google Shape;149;p7"/>
          <p:cNvSpPr txBox="1"/>
          <p:nvPr/>
        </p:nvSpPr>
        <p:spPr>
          <a:xfrm>
            <a:off x="548640" y="470916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150" name="Google Shape;150;p7"/>
          <p:cNvSpPr txBox="1"/>
          <p:nvPr/>
        </p:nvSpPr>
        <p:spPr>
          <a:xfrm>
            <a:off x="1371600" y="470916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Draw several Level 0 and several Level 1 DFDs</a:t>
            </a:r>
            <a:endParaRPr sz="1800">
              <a:solidFill>
                <a:schemeClr val="dk1"/>
              </a:solidFill>
              <a:latin typeface="Calibri"/>
              <a:ea typeface="Calibri"/>
              <a:cs typeface="Calibri"/>
              <a:sym typeface="Calibri"/>
            </a:endParaRPr>
          </a:p>
        </p:txBody>
      </p:sp>
      <p:sp>
        <p:nvSpPr>
          <p:cNvPr id="151" name="Google Shape;151;p7"/>
          <p:cNvSpPr/>
          <p:nvPr/>
        </p:nvSpPr>
        <p:spPr>
          <a:xfrm>
            <a:off x="7040880" y="1691640"/>
            <a:ext cx="4572000" cy="4480560"/>
          </a:xfrm>
          <a:prstGeom prst="roundRect">
            <a:avLst>
              <a:gd name="adj" fmla="val 1633"/>
            </a:avLst>
          </a:prstGeom>
          <a:solidFill>
            <a:srgbClr val="D6EAEA"/>
          </a:solidFill>
          <a:ln w="12700" cap="flat" cmpd="sng">
            <a:solidFill>
              <a:srgbClr val="D6EAE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2" name="Google Shape;152;p7"/>
          <p:cNvSpPr txBox="1"/>
          <p:nvPr/>
        </p:nvSpPr>
        <p:spPr>
          <a:xfrm>
            <a:off x="7223760" y="1856232"/>
            <a:ext cx="4206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200"/>
              <a:buFont typeface="Calibri"/>
              <a:buNone/>
            </a:pPr>
            <a:r>
              <a:rPr lang="en-US" sz="2200" b="1">
                <a:solidFill>
                  <a:srgbClr val="1F2933"/>
                </a:solidFill>
                <a:latin typeface="Calibri"/>
                <a:ea typeface="Calibri"/>
                <a:cs typeface="Calibri"/>
                <a:sym typeface="Calibri"/>
              </a:rPr>
              <a:t>What you hand in</a:t>
            </a:r>
            <a:endParaRPr sz="2200">
              <a:solidFill>
                <a:schemeClr val="dk1"/>
              </a:solidFill>
              <a:latin typeface="Calibri"/>
              <a:ea typeface="Calibri"/>
              <a:cs typeface="Calibri"/>
              <a:sym typeface="Calibri"/>
            </a:endParaRPr>
          </a:p>
        </p:txBody>
      </p:sp>
      <p:sp>
        <p:nvSpPr>
          <p:cNvPr id="153" name="Google Shape;153;p7"/>
          <p:cNvSpPr txBox="1"/>
          <p:nvPr/>
        </p:nvSpPr>
        <p:spPr>
          <a:xfrm>
            <a:off x="7223760" y="2450592"/>
            <a:ext cx="4206240" cy="35661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Use case list</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20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5–8 detailed use cases</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20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Context diagram, Level 0 DFD, and at Level 1 DFD</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2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8"/>
        <p:cNvGrpSpPr/>
        <p:nvPr/>
      </p:nvGrpSpPr>
      <p:grpSpPr>
        <a:xfrm>
          <a:off x="0" y="0"/>
          <a:ext cx="0" cy="0"/>
          <a:chOff x="0" y="0"/>
          <a:chExt cx="0" cy="0"/>
        </a:xfrm>
      </p:grpSpPr>
      <p:sp>
        <p:nvSpPr>
          <p:cNvPr id="159" name="Google Shape;159;p8"/>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CHAPTER 5 · DATA MODELING</a:t>
            </a:r>
            <a:endParaRPr sz="1100">
              <a:solidFill>
                <a:schemeClr val="dk1"/>
              </a:solidFill>
              <a:latin typeface="Calibri"/>
              <a:ea typeface="Calibri"/>
              <a:cs typeface="Calibri"/>
              <a:sym typeface="Calibri"/>
            </a:endParaRPr>
          </a:p>
        </p:txBody>
      </p:sp>
      <p:sp>
        <p:nvSpPr>
          <p:cNvPr id="160" name="Google Shape;160;p8"/>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Chapter 5: Show what data the system keeps</a:t>
            </a:r>
            <a:endParaRPr sz="2800">
              <a:solidFill>
                <a:schemeClr val="dk1"/>
              </a:solidFill>
              <a:latin typeface="Calibri"/>
              <a:ea typeface="Calibri"/>
              <a:cs typeface="Calibri"/>
              <a:sym typeface="Calibri"/>
            </a:endParaRPr>
          </a:p>
        </p:txBody>
      </p:sp>
      <p:sp>
        <p:nvSpPr>
          <p:cNvPr id="161" name="Google Shape;161;p8"/>
          <p:cNvSpPr txBox="1"/>
          <p:nvPr/>
        </p:nvSpPr>
        <p:spPr>
          <a:xfrm>
            <a:off x="548640" y="1691640"/>
            <a:ext cx="59436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2000"/>
              <a:buFont typeface="Cambria"/>
              <a:buNone/>
            </a:pPr>
            <a:r>
              <a:rPr lang="en-US" sz="2000" b="1">
                <a:solidFill>
                  <a:srgbClr val="0F6E6E"/>
                </a:solidFill>
                <a:latin typeface="Cambria"/>
                <a:ea typeface="Cambria"/>
                <a:cs typeface="Cambria"/>
                <a:sym typeface="Cambria"/>
              </a:rPr>
              <a:t>What you do</a:t>
            </a:r>
            <a:endParaRPr sz="2000">
              <a:solidFill>
                <a:schemeClr val="dk1"/>
              </a:solidFill>
              <a:latin typeface="Calibri"/>
              <a:ea typeface="Calibri"/>
              <a:cs typeface="Calibri"/>
              <a:sym typeface="Calibri"/>
            </a:endParaRPr>
          </a:p>
        </p:txBody>
      </p:sp>
      <p:sp>
        <p:nvSpPr>
          <p:cNvPr id="162" name="Google Shape;162;p8"/>
          <p:cNvSpPr/>
          <p:nvPr/>
        </p:nvSpPr>
        <p:spPr>
          <a:xfrm>
            <a:off x="548640" y="224028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3" name="Google Shape;163;p8"/>
          <p:cNvSpPr txBox="1"/>
          <p:nvPr/>
        </p:nvSpPr>
        <p:spPr>
          <a:xfrm>
            <a:off x="548640" y="224028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164" name="Google Shape;164;p8"/>
          <p:cNvSpPr txBox="1"/>
          <p:nvPr/>
        </p:nvSpPr>
        <p:spPr>
          <a:xfrm>
            <a:off x="1371600" y="224028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Find the entities</a:t>
            </a:r>
            <a:endParaRPr sz="1800">
              <a:solidFill>
                <a:schemeClr val="dk1"/>
              </a:solidFill>
              <a:latin typeface="Calibri"/>
              <a:ea typeface="Calibri"/>
              <a:cs typeface="Calibri"/>
              <a:sym typeface="Calibri"/>
            </a:endParaRPr>
          </a:p>
        </p:txBody>
      </p:sp>
      <p:sp>
        <p:nvSpPr>
          <p:cNvPr id="165" name="Google Shape;165;p8"/>
          <p:cNvSpPr/>
          <p:nvPr/>
        </p:nvSpPr>
        <p:spPr>
          <a:xfrm>
            <a:off x="548640" y="306324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6" name="Google Shape;166;p8"/>
          <p:cNvSpPr txBox="1"/>
          <p:nvPr/>
        </p:nvSpPr>
        <p:spPr>
          <a:xfrm>
            <a:off x="548640" y="306324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167" name="Google Shape;167;p8"/>
          <p:cNvSpPr txBox="1"/>
          <p:nvPr/>
        </p:nvSpPr>
        <p:spPr>
          <a:xfrm>
            <a:off x="1371600" y="306324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Add attributes and keys</a:t>
            </a:r>
            <a:endParaRPr sz="1800">
              <a:solidFill>
                <a:schemeClr val="dk1"/>
              </a:solidFill>
              <a:latin typeface="Calibri"/>
              <a:ea typeface="Calibri"/>
              <a:cs typeface="Calibri"/>
              <a:sym typeface="Calibri"/>
            </a:endParaRPr>
          </a:p>
        </p:txBody>
      </p:sp>
      <p:sp>
        <p:nvSpPr>
          <p:cNvPr id="168" name="Google Shape;168;p8"/>
          <p:cNvSpPr/>
          <p:nvPr/>
        </p:nvSpPr>
        <p:spPr>
          <a:xfrm>
            <a:off x="548640" y="388620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9" name="Google Shape;169;p8"/>
          <p:cNvSpPr txBox="1"/>
          <p:nvPr/>
        </p:nvSpPr>
        <p:spPr>
          <a:xfrm>
            <a:off x="548640" y="388620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170" name="Google Shape;170;p8"/>
          <p:cNvSpPr txBox="1"/>
          <p:nvPr/>
        </p:nvSpPr>
        <p:spPr>
          <a:xfrm>
            <a:off x="1371600" y="388620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Add relationships</a:t>
            </a:r>
            <a:endParaRPr sz="1800">
              <a:solidFill>
                <a:schemeClr val="dk1"/>
              </a:solidFill>
              <a:latin typeface="Calibri"/>
              <a:ea typeface="Calibri"/>
              <a:cs typeface="Calibri"/>
              <a:sym typeface="Calibri"/>
            </a:endParaRPr>
          </a:p>
        </p:txBody>
      </p:sp>
      <p:sp>
        <p:nvSpPr>
          <p:cNvPr id="171" name="Google Shape;171;p8"/>
          <p:cNvSpPr/>
          <p:nvPr/>
        </p:nvSpPr>
        <p:spPr>
          <a:xfrm>
            <a:off x="548640" y="470916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2" name="Google Shape;172;p8"/>
          <p:cNvSpPr txBox="1"/>
          <p:nvPr/>
        </p:nvSpPr>
        <p:spPr>
          <a:xfrm>
            <a:off x="548640" y="470916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173" name="Google Shape;173;p8"/>
          <p:cNvSpPr txBox="1"/>
          <p:nvPr/>
        </p:nvSpPr>
        <p:spPr>
          <a:xfrm>
            <a:off x="1371600" y="470916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Check it against your DFDs</a:t>
            </a:r>
            <a:endParaRPr sz="1800">
              <a:solidFill>
                <a:schemeClr val="dk1"/>
              </a:solidFill>
              <a:latin typeface="Calibri"/>
              <a:ea typeface="Calibri"/>
              <a:cs typeface="Calibri"/>
              <a:sym typeface="Calibri"/>
            </a:endParaRPr>
          </a:p>
        </p:txBody>
      </p:sp>
      <p:sp>
        <p:nvSpPr>
          <p:cNvPr id="174" name="Google Shape;174;p8"/>
          <p:cNvSpPr/>
          <p:nvPr/>
        </p:nvSpPr>
        <p:spPr>
          <a:xfrm>
            <a:off x="7040880" y="1691640"/>
            <a:ext cx="4572000" cy="4480560"/>
          </a:xfrm>
          <a:prstGeom prst="roundRect">
            <a:avLst>
              <a:gd name="adj" fmla="val 1633"/>
            </a:avLst>
          </a:prstGeom>
          <a:solidFill>
            <a:srgbClr val="D6EAEA"/>
          </a:solidFill>
          <a:ln w="12700" cap="flat" cmpd="sng">
            <a:solidFill>
              <a:srgbClr val="D6EAE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5" name="Google Shape;175;p8"/>
          <p:cNvSpPr txBox="1"/>
          <p:nvPr/>
        </p:nvSpPr>
        <p:spPr>
          <a:xfrm>
            <a:off x="7223760" y="1856232"/>
            <a:ext cx="4206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200"/>
              <a:buFont typeface="Calibri"/>
              <a:buNone/>
            </a:pPr>
            <a:r>
              <a:rPr lang="en-US" sz="2200" b="1">
                <a:solidFill>
                  <a:srgbClr val="1F2933"/>
                </a:solidFill>
                <a:latin typeface="Calibri"/>
                <a:ea typeface="Calibri"/>
                <a:cs typeface="Calibri"/>
                <a:sym typeface="Calibri"/>
              </a:rPr>
              <a:t>What you hand in</a:t>
            </a:r>
            <a:endParaRPr sz="2200">
              <a:solidFill>
                <a:schemeClr val="dk1"/>
              </a:solidFill>
              <a:latin typeface="Calibri"/>
              <a:ea typeface="Calibri"/>
              <a:cs typeface="Calibri"/>
              <a:sym typeface="Calibri"/>
            </a:endParaRPr>
          </a:p>
        </p:txBody>
      </p:sp>
      <p:sp>
        <p:nvSpPr>
          <p:cNvPr id="176" name="Google Shape;176;p8"/>
          <p:cNvSpPr txBox="1"/>
          <p:nvPr/>
        </p:nvSpPr>
        <p:spPr>
          <a:xfrm>
            <a:off x="7223760" y="2450592"/>
            <a:ext cx="4206240" cy="35661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ERD</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20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Data dictionary</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20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Normalized model (3NF)</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20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Short table matching DFD data stores to entities</a:t>
            </a:r>
            <a:endParaRPr sz="2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1"/>
        <p:cNvGrpSpPr/>
        <p:nvPr/>
      </p:nvGrpSpPr>
      <p:grpSpPr>
        <a:xfrm>
          <a:off x="0" y="0"/>
          <a:ext cx="0" cy="0"/>
          <a:chOff x="0" y="0"/>
          <a:chExt cx="0" cy="0"/>
        </a:xfrm>
      </p:grpSpPr>
      <p:sp>
        <p:nvSpPr>
          <p:cNvPr id="182" name="Google Shape;182;p9"/>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CHAPTER 6 · MOVING INTO DESIGN</a:t>
            </a:r>
            <a:endParaRPr sz="1100">
              <a:solidFill>
                <a:schemeClr val="dk1"/>
              </a:solidFill>
              <a:latin typeface="Calibri"/>
              <a:ea typeface="Calibri"/>
              <a:cs typeface="Calibri"/>
              <a:sym typeface="Calibri"/>
            </a:endParaRPr>
          </a:p>
        </p:txBody>
      </p:sp>
      <p:sp>
        <p:nvSpPr>
          <p:cNvPr id="183" name="Google Shape;183;p9"/>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Chapter 6: Did they build it, buy it, or outsource it?</a:t>
            </a:r>
            <a:endParaRPr sz="2800">
              <a:solidFill>
                <a:schemeClr val="dk1"/>
              </a:solidFill>
              <a:latin typeface="Calibri"/>
              <a:ea typeface="Calibri"/>
              <a:cs typeface="Calibri"/>
              <a:sym typeface="Calibri"/>
            </a:endParaRPr>
          </a:p>
        </p:txBody>
      </p:sp>
      <p:sp>
        <p:nvSpPr>
          <p:cNvPr id="184" name="Google Shape;184;p9"/>
          <p:cNvSpPr txBox="1"/>
          <p:nvPr/>
        </p:nvSpPr>
        <p:spPr>
          <a:xfrm>
            <a:off x="548640" y="1691640"/>
            <a:ext cx="59436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2000"/>
              <a:buFont typeface="Cambria"/>
              <a:buNone/>
            </a:pPr>
            <a:r>
              <a:rPr lang="en-US" sz="2000" b="1">
                <a:solidFill>
                  <a:srgbClr val="0F6E6E"/>
                </a:solidFill>
                <a:latin typeface="Cambria"/>
                <a:ea typeface="Cambria"/>
                <a:cs typeface="Cambria"/>
                <a:sym typeface="Cambria"/>
              </a:rPr>
              <a:t>What you do</a:t>
            </a:r>
            <a:endParaRPr sz="2000">
              <a:solidFill>
                <a:schemeClr val="dk1"/>
              </a:solidFill>
              <a:latin typeface="Calibri"/>
              <a:ea typeface="Calibri"/>
              <a:cs typeface="Calibri"/>
              <a:sym typeface="Calibri"/>
            </a:endParaRPr>
          </a:p>
        </p:txBody>
      </p:sp>
      <p:sp>
        <p:nvSpPr>
          <p:cNvPr id="185" name="Google Shape;185;p9"/>
          <p:cNvSpPr/>
          <p:nvPr/>
        </p:nvSpPr>
        <p:spPr>
          <a:xfrm>
            <a:off x="548640" y="224028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6" name="Google Shape;186;p9"/>
          <p:cNvSpPr txBox="1"/>
          <p:nvPr/>
        </p:nvSpPr>
        <p:spPr>
          <a:xfrm>
            <a:off x="548640" y="224028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187" name="Google Shape;187;p9"/>
          <p:cNvSpPr txBox="1"/>
          <p:nvPr/>
        </p:nvSpPr>
        <p:spPr>
          <a:xfrm>
            <a:off x="1371600" y="224028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Pick 2–3 parts of the system (e.g., payments)</a:t>
            </a:r>
            <a:endParaRPr sz="1800">
              <a:solidFill>
                <a:schemeClr val="dk1"/>
              </a:solidFill>
              <a:latin typeface="Calibri"/>
              <a:ea typeface="Calibri"/>
              <a:cs typeface="Calibri"/>
              <a:sym typeface="Calibri"/>
            </a:endParaRPr>
          </a:p>
        </p:txBody>
      </p:sp>
      <p:sp>
        <p:nvSpPr>
          <p:cNvPr id="188" name="Google Shape;188;p9"/>
          <p:cNvSpPr/>
          <p:nvPr/>
        </p:nvSpPr>
        <p:spPr>
          <a:xfrm>
            <a:off x="548640" y="306324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9" name="Google Shape;189;p9"/>
          <p:cNvSpPr txBox="1"/>
          <p:nvPr/>
        </p:nvSpPr>
        <p:spPr>
          <a:xfrm>
            <a:off x="548640" y="306324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190" name="Google Shape;190;p9"/>
          <p:cNvSpPr txBox="1"/>
          <p:nvPr/>
        </p:nvSpPr>
        <p:spPr>
          <a:xfrm>
            <a:off x="1371600" y="306324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Look for public clues</a:t>
            </a:r>
            <a:endParaRPr sz="1800">
              <a:solidFill>
                <a:schemeClr val="dk1"/>
              </a:solidFill>
              <a:latin typeface="Calibri"/>
              <a:ea typeface="Calibri"/>
              <a:cs typeface="Calibri"/>
              <a:sym typeface="Calibri"/>
            </a:endParaRPr>
          </a:p>
        </p:txBody>
      </p:sp>
      <p:sp>
        <p:nvSpPr>
          <p:cNvPr id="191" name="Google Shape;191;p9"/>
          <p:cNvSpPr/>
          <p:nvPr/>
        </p:nvSpPr>
        <p:spPr>
          <a:xfrm>
            <a:off x="548640" y="388620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2" name="Google Shape;192;p9"/>
          <p:cNvSpPr txBox="1"/>
          <p:nvPr/>
        </p:nvSpPr>
        <p:spPr>
          <a:xfrm>
            <a:off x="548640" y="388620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193" name="Google Shape;193;p9"/>
          <p:cNvSpPr txBox="1"/>
          <p:nvPr/>
        </p:nvSpPr>
        <p:spPr>
          <a:xfrm>
            <a:off x="1371600" y="388620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Decide what is most likely</a:t>
            </a:r>
            <a:endParaRPr sz="1800">
              <a:solidFill>
                <a:schemeClr val="dk1"/>
              </a:solidFill>
              <a:latin typeface="Calibri"/>
              <a:ea typeface="Calibri"/>
              <a:cs typeface="Calibri"/>
              <a:sym typeface="Calibri"/>
            </a:endParaRPr>
          </a:p>
        </p:txBody>
      </p:sp>
      <p:sp>
        <p:nvSpPr>
          <p:cNvPr id="194" name="Google Shape;194;p9"/>
          <p:cNvSpPr/>
          <p:nvPr/>
        </p:nvSpPr>
        <p:spPr>
          <a:xfrm>
            <a:off x="548640" y="470916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5" name="Google Shape;195;p9"/>
          <p:cNvSpPr txBox="1"/>
          <p:nvPr/>
        </p:nvSpPr>
        <p:spPr>
          <a:xfrm>
            <a:off x="548640" y="470916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196" name="Google Shape;196;p9"/>
          <p:cNvSpPr txBox="1"/>
          <p:nvPr/>
        </p:nvSpPr>
        <p:spPr>
          <a:xfrm>
            <a:off x="1371600" y="470916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Explain your reasoning</a:t>
            </a:r>
            <a:endParaRPr sz="1800">
              <a:solidFill>
                <a:schemeClr val="dk1"/>
              </a:solidFill>
              <a:latin typeface="Calibri"/>
              <a:ea typeface="Calibri"/>
              <a:cs typeface="Calibri"/>
              <a:sym typeface="Calibri"/>
            </a:endParaRPr>
          </a:p>
        </p:txBody>
      </p:sp>
      <p:sp>
        <p:nvSpPr>
          <p:cNvPr id="197" name="Google Shape;197;p9"/>
          <p:cNvSpPr/>
          <p:nvPr/>
        </p:nvSpPr>
        <p:spPr>
          <a:xfrm>
            <a:off x="7040880" y="1691640"/>
            <a:ext cx="4572000" cy="4480560"/>
          </a:xfrm>
          <a:prstGeom prst="roundRect">
            <a:avLst>
              <a:gd name="adj" fmla="val 1633"/>
            </a:avLst>
          </a:prstGeom>
          <a:solidFill>
            <a:srgbClr val="D6EAEA"/>
          </a:solidFill>
          <a:ln w="12700" cap="flat" cmpd="sng">
            <a:solidFill>
              <a:srgbClr val="D6EAE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8" name="Google Shape;198;p9"/>
          <p:cNvSpPr txBox="1"/>
          <p:nvPr/>
        </p:nvSpPr>
        <p:spPr>
          <a:xfrm>
            <a:off x="7223760" y="1856232"/>
            <a:ext cx="4206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200"/>
              <a:buFont typeface="Calibri"/>
              <a:buNone/>
            </a:pPr>
            <a:r>
              <a:rPr lang="en-US" sz="2200" b="1">
                <a:solidFill>
                  <a:srgbClr val="1F2933"/>
                </a:solidFill>
                <a:latin typeface="Calibri"/>
                <a:ea typeface="Calibri"/>
                <a:cs typeface="Calibri"/>
                <a:sym typeface="Calibri"/>
              </a:rPr>
              <a:t>What you hand in</a:t>
            </a:r>
            <a:endParaRPr sz="2200">
              <a:solidFill>
                <a:schemeClr val="dk1"/>
              </a:solidFill>
              <a:latin typeface="Calibri"/>
              <a:ea typeface="Calibri"/>
              <a:cs typeface="Calibri"/>
              <a:sym typeface="Calibri"/>
            </a:endParaRPr>
          </a:p>
        </p:txBody>
      </p:sp>
      <p:sp>
        <p:nvSpPr>
          <p:cNvPr id="199" name="Google Shape;199;p9"/>
          <p:cNvSpPr txBox="1"/>
          <p:nvPr/>
        </p:nvSpPr>
        <p:spPr>
          <a:xfrm>
            <a:off x="7223760" y="2450592"/>
            <a:ext cx="4206240" cy="35661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Alternative matrix for 2–3 parts of the system</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20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The clues behind each choice, labeled Fact, Inference, or Assumption</a:t>
            </a:r>
            <a:endParaRPr sz="20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4"/>
        <p:cNvGrpSpPr/>
        <p:nvPr/>
      </p:nvGrpSpPr>
      <p:grpSpPr>
        <a:xfrm>
          <a:off x="0" y="0"/>
          <a:ext cx="0" cy="0"/>
          <a:chOff x="0" y="0"/>
          <a:chExt cx="0" cy="0"/>
        </a:xfrm>
      </p:grpSpPr>
      <p:sp>
        <p:nvSpPr>
          <p:cNvPr id="205" name="Google Shape;205;p10"/>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CHAPTER 7 · ARCHITECTURE DESIGN</a:t>
            </a:r>
            <a:endParaRPr sz="1100">
              <a:solidFill>
                <a:schemeClr val="dk1"/>
              </a:solidFill>
              <a:latin typeface="Calibri"/>
              <a:ea typeface="Calibri"/>
              <a:cs typeface="Calibri"/>
              <a:sym typeface="Calibri"/>
            </a:endParaRPr>
          </a:p>
        </p:txBody>
      </p:sp>
      <p:sp>
        <p:nvSpPr>
          <p:cNvPr id="206" name="Google Shape;206;p10"/>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Chapter 7: Describe the likely architecture</a:t>
            </a:r>
            <a:endParaRPr sz="2800">
              <a:solidFill>
                <a:schemeClr val="dk1"/>
              </a:solidFill>
              <a:latin typeface="Calibri"/>
              <a:ea typeface="Calibri"/>
              <a:cs typeface="Calibri"/>
              <a:sym typeface="Calibri"/>
            </a:endParaRPr>
          </a:p>
        </p:txBody>
      </p:sp>
      <p:sp>
        <p:nvSpPr>
          <p:cNvPr id="207" name="Google Shape;207;p10"/>
          <p:cNvSpPr txBox="1"/>
          <p:nvPr/>
        </p:nvSpPr>
        <p:spPr>
          <a:xfrm>
            <a:off x="548640" y="1691640"/>
            <a:ext cx="59436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2000"/>
              <a:buFont typeface="Cambria"/>
              <a:buNone/>
            </a:pPr>
            <a:r>
              <a:rPr lang="en-US" sz="2000" b="1">
                <a:solidFill>
                  <a:srgbClr val="0F6E6E"/>
                </a:solidFill>
                <a:latin typeface="Cambria"/>
                <a:ea typeface="Cambria"/>
                <a:cs typeface="Cambria"/>
                <a:sym typeface="Cambria"/>
              </a:rPr>
              <a:t>What you do</a:t>
            </a:r>
            <a:endParaRPr sz="2000">
              <a:solidFill>
                <a:schemeClr val="dk1"/>
              </a:solidFill>
              <a:latin typeface="Calibri"/>
              <a:ea typeface="Calibri"/>
              <a:cs typeface="Calibri"/>
              <a:sym typeface="Calibri"/>
            </a:endParaRPr>
          </a:p>
        </p:txBody>
      </p:sp>
      <p:sp>
        <p:nvSpPr>
          <p:cNvPr id="208" name="Google Shape;208;p10"/>
          <p:cNvSpPr/>
          <p:nvPr/>
        </p:nvSpPr>
        <p:spPr>
          <a:xfrm>
            <a:off x="548640" y="224028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9" name="Google Shape;209;p10"/>
          <p:cNvSpPr txBox="1"/>
          <p:nvPr/>
        </p:nvSpPr>
        <p:spPr>
          <a:xfrm>
            <a:off x="548640" y="224028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210" name="Google Shape;210;p10"/>
          <p:cNvSpPr txBox="1"/>
          <p:nvPr/>
        </p:nvSpPr>
        <p:spPr>
          <a:xfrm>
            <a:off x="1371600" y="224028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Identify the four components</a:t>
            </a:r>
            <a:endParaRPr sz="1800">
              <a:solidFill>
                <a:schemeClr val="dk1"/>
              </a:solidFill>
              <a:latin typeface="Calibri"/>
              <a:ea typeface="Calibri"/>
              <a:cs typeface="Calibri"/>
              <a:sym typeface="Calibri"/>
            </a:endParaRPr>
          </a:p>
        </p:txBody>
      </p:sp>
      <p:sp>
        <p:nvSpPr>
          <p:cNvPr id="211" name="Google Shape;211;p10"/>
          <p:cNvSpPr/>
          <p:nvPr/>
        </p:nvSpPr>
        <p:spPr>
          <a:xfrm>
            <a:off x="548640" y="306324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2" name="Google Shape;212;p10"/>
          <p:cNvSpPr txBox="1"/>
          <p:nvPr/>
        </p:nvSpPr>
        <p:spPr>
          <a:xfrm>
            <a:off x="548640" y="306324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213" name="Google Shape;213;p10"/>
          <p:cNvSpPr txBox="1"/>
          <p:nvPr/>
        </p:nvSpPr>
        <p:spPr>
          <a:xfrm>
            <a:off x="1371600" y="306324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Decide where each probably runs</a:t>
            </a:r>
            <a:endParaRPr sz="1800">
              <a:solidFill>
                <a:schemeClr val="dk1"/>
              </a:solidFill>
              <a:latin typeface="Calibri"/>
              <a:ea typeface="Calibri"/>
              <a:cs typeface="Calibri"/>
              <a:sym typeface="Calibri"/>
            </a:endParaRPr>
          </a:p>
        </p:txBody>
      </p:sp>
      <p:sp>
        <p:nvSpPr>
          <p:cNvPr id="214" name="Google Shape;214;p10"/>
          <p:cNvSpPr/>
          <p:nvPr/>
        </p:nvSpPr>
        <p:spPr>
          <a:xfrm>
            <a:off x="548640" y="388620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5" name="Google Shape;215;p10"/>
          <p:cNvSpPr txBox="1"/>
          <p:nvPr/>
        </p:nvSpPr>
        <p:spPr>
          <a:xfrm>
            <a:off x="548640" y="388620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216" name="Google Shape;216;p10"/>
          <p:cNvSpPr txBox="1"/>
          <p:nvPr/>
        </p:nvSpPr>
        <p:spPr>
          <a:xfrm>
            <a:off x="1371600" y="388620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Match clues to nonfunctional requirements</a:t>
            </a:r>
            <a:endParaRPr sz="1800">
              <a:solidFill>
                <a:schemeClr val="dk1"/>
              </a:solidFill>
              <a:latin typeface="Calibri"/>
              <a:ea typeface="Calibri"/>
              <a:cs typeface="Calibri"/>
              <a:sym typeface="Calibri"/>
            </a:endParaRPr>
          </a:p>
        </p:txBody>
      </p:sp>
      <p:sp>
        <p:nvSpPr>
          <p:cNvPr id="217" name="Google Shape;217;p10"/>
          <p:cNvSpPr/>
          <p:nvPr/>
        </p:nvSpPr>
        <p:spPr>
          <a:xfrm>
            <a:off x="548640" y="470916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8" name="Google Shape;218;p10"/>
          <p:cNvSpPr txBox="1"/>
          <p:nvPr/>
        </p:nvSpPr>
        <p:spPr>
          <a:xfrm>
            <a:off x="548640" y="470916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219" name="Google Shape;219;p10"/>
          <p:cNvSpPr txBox="1"/>
          <p:nvPr/>
        </p:nvSpPr>
        <p:spPr>
          <a:xfrm>
            <a:off x="1371600" y="4709160"/>
            <a:ext cx="52120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a:solidFill>
                  <a:srgbClr val="1F2933"/>
                </a:solidFill>
                <a:latin typeface="Calibri"/>
                <a:ea typeface="Calibri"/>
                <a:cs typeface="Calibri"/>
                <a:sym typeface="Calibri"/>
              </a:rPr>
              <a:t>Label every guess</a:t>
            </a:r>
            <a:endParaRPr sz="1800">
              <a:solidFill>
                <a:schemeClr val="dk1"/>
              </a:solidFill>
              <a:latin typeface="Calibri"/>
              <a:ea typeface="Calibri"/>
              <a:cs typeface="Calibri"/>
              <a:sym typeface="Calibri"/>
            </a:endParaRPr>
          </a:p>
        </p:txBody>
      </p:sp>
      <p:sp>
        <p:nvSpPr>
          <p:cNvPr id="220" name="Google Shape;220;p10"/>
          <p:cNvSpPr/>
          <p:nvPr/>
        </p:nvSpPr>
        <p:spPr>
          <a:xfrm>
            <a:off x="7040880" y="1691640"/>
            <a:ext cx="4572000" cy="3404235"/>
          </a:xfrm>
          <a:prstGeom prst="roundRect">
            <a:avLst>
              <a:gd name="adj" fmla="val 1633"/>
            </a:avLst>
          </a:prstGeom>
          <a:solidFill>
            <a:srgbClr val="D6EAEA"/>
          </a:solidFill>
          <a:ln w="12700" cap="flat" cmpd="sng">
            <a:solidFill>
              <a:srgbClr val="D6EAE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1" name="Google Shape;221;p10"/>
          <p:cNvSpPr txBox="1"/>
          <p:nvPr/>
        </p:nvSpPr>
        <p:spPr>
          <a:xfrm>
            <a:off x="7223760" y="1856232"/>
            <a:ext cx="4206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200"/>
              <a:buFont typeface="Calibri"/>
              <a:buNone/>
            </a:pPr>
            <a:r>
              <a:rPr lang="en-US" sz="2200" b="1">
                <a:solidFill>
                  <a:srgbClr val="1F2933"/>
                </a:solidFill>
                <a:latin typeface="Calibri"/>
                <a:ea typeface="Calibri"/>
                <a:cs typeface="Calibri"/>
                <a:sym typeface="Calibri"/>
              </a:rPr>
              <a:t>What you hand in</a:t>
            </a:r>
            <a:endParaRPr sz="2200">
              <a:solidFill>
                <a:schemeClr val="dk1"/>
              </a:solidFill>
              <a:latin typeface="Calibri"/>
              <a:ea typeface="Calibri"/>
              <a:cs typeface="Calibri"/>
              <a:sym typeface="Calibri"/>
            </a:endParaRPr>
          </a:p>
        </p:txBody>
      </p:sp>
      <p:sp>
        <p:nvSpPr>
          <p:cNvPr id="222" name="Google Shape;222;p10"/>
          <p:cNvSpPr txBox="1"/>
          <p:nvPr/>
        </p:nvSpPr>
        <p:spPr>
          <a:xfrm>
            <a:off x="7223760" y="2450593"/>
            <a:ext cx="4206240" cy="23500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Architecture diagram with F / I / A labels </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20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Nonfunctional requirements table</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000"/>
              <a:buFont typeface="Calibri"/>
              <a:buNone/>
            </a:pPr>
            <a:endParaRPr sz="20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At least one other possible explanation</a:t>
            </a:r>
            <a:endParaRPr sz="2000">
              <a:solidFill>
                <a:schemeClr val="dk1"/>
              </a:solidFill>
              <a:latin typeface="Calibri"/>
              <a:ea typeface="Calibri"/>
              <a:cs typeface="Calibri"/>
              <a:sym typeface="Calibri"/>
            </a:endParaRPr>
          </a:p>
        </p:txBody>
      </p:sp>
      <p:sp>
        <p:nvSpPr>
          <p:cNvPr id="223" name="Google Shape;223;p10"/>
          <p:cNvSpPr txBox="1"/>
          <p:nvPr/>
        </p:nvSpPr>
        <p:spPr>
          <a:xfrm>
            <a:off x="533399" y="5786586"/>
            <a:ext cx="10757535"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334155"/>
                </a:solidFill>
                <a:latin typeface="Calibri"/>
                <a:ea typeface="Calibri"/>
                <a:cs typeface="Calibri"/>
                <a:sym typeface="Calibri"/>
              </a:rPr>
              <a:t>Fact (F): you can see it or public sources say it. Ex. Company has an app in AppStore</a:t>
            </a:r>
            <a:endParaRPr/>
          </a:p>
          <a:p>
            <a:pPr marL="0" marR="0" lvl="0" indent="0" algn="l" rtl="0">
              <a:spcBef>
                <a:spcPts val="0"/>
              </a:spcBef>
              <a:spcAft>
                <a:spcPts val="0"/>
              </a:spcAft>
              <a:buNone/>
            </a:pPr>
            <a:r>
              <a:rPr lang="en-US" sz="1400">
                <a:solidFill>
                  <a:srgbClr val="334155"/>
                </a:solidFill>
                <a:latin typeface="Calibri"/>
                <a:ea typeface="Calibri"/>
                <a:cs typeface="Calibri"/>
                <a:sym typeface="Calibri"/>
              </a:rPr>
              <a:t>Inference (I): they reasoned from facts. Ex. The website shows real-time delivery, so there is probably a scheduling service behind it.</a:t>
            </a:r>
            <a:endParaRPr/>
          </a:p>
          <a:p>
            <a:pPr marL="0" marR="0" lvl="0" indent="0" algn="l" rtl="0">
              <a:spcBef>
                <a:spcPts val="0"/>
              </a:spcBef>
              <a:spcAft>
                <a:spcPts val="0"/>
              </a:spcAft>
              <a:buNone/>
            </a:pPr>
            <a:r>
              <a:rPr lang="en-US" sz="1400">
                <a:solidFill>
                  <a:srgbClr val="334155"/>
                </a:solidFill>
                <a:latin typeface="Calibri"/>
                <a:ea typeface="Calibri"/>
                <a:cs typeface="Calibri"/>
                <a:sym typeface="Calibri"/>
              </a:rPr>
              <a:t>Assumption (A): A guess with no evidence yet, including anything AI said. Ex. Orders are stored in relational database.</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Shape 228"/>
        <p:cNvGrpSpPr/>
        <p:nvPr/>
      </p:nvGrpSpPr>
      <p:grpSpPr>
        <a:xfrm>
          <a:off x="0" y="0"/>
          <a:ext cx="0" cy="0"/>
          <a:chOff x="0" y="0"/>
          <a:chExt cx="0" cy="0"/>
        </a:xfrm>
      </p:grpSpPr>
      <p:sp>
        <p:nvSpPr>
          <p:cNvPr id="229" name="Google Shape;229;p11"/>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CHAPTERS 8 AND 10 · INTERFACE AND STORAGE</a:t>
            </a:r>
            <a:endParaRPr sz="1100">
              <a:solidFill>
                <a:schemeClr val="dk1"/>
              </a:solidFill>
              <a:latin typeface="Calibri"/>
              <a:ea typeface="Calibri"/>
              <a:cs typeface="Calibri"/>
              <a:sym typeface="Calibri"/>
            </a:endParaRPr>
          </a:p>
        </p:txBody>
      </p:sp>
      <p:sp>
        <p:nvSpPr>
          <p:cNvPr id="230" name="Google Shape;230;p11"/>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Chapters 8 and 10: Evaluate the screens and the stored data</a:t>
            </a:r>
            <a:endParaRPr sz="2800">
              <a:solidFill>
                <a:schemeClr val="dk1"/>
              </a:solidFill>
              <a:latin typeface="Calibri"/>
              <a:ea typeface="Calibri"/>
              <a:cs typeface="Calibri"/>
              <a:sym typeface="Calibri"/>
            </a:endParaRPr>
          </a:p>
        </p:txBody>
      </p:sp>
      <p:sp>
        <p:nvSpPr>
          <p:cNvPr id="231" name="Google Shape;231;p11"/>
          <p:cNvSpPr/>
          <p:nvPr/>
        </p:nvSpPr>
        <p:spPr>
          <a:xfrm>
            <a:off x="548640" y="1691640"/>
            <a:ext cx="5394960" cy="4480560"/>
          </a:xfrm>
          <a:prstGeom prst="roundRect">
            <a:avLst>
              <a:gd name="adj" fmla="val 1633"/>
            </a:avLst>
          </a:prstGeom>
          <a:solidFill>
            <a:srgbClr val="D6EAEA"/>
          </a:solidFill>
          <a:ln w="12700" cap="flat" cmpd="sng">
            <a:solidFill>
              <a:srgbClr val="D6EAE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2" name="Google Shape;232;p11"/>
          <p:cNvSpPr txBox="1"/>
          <p:nvPr/>
        </p:nvSpPr>
        <p:spPr>
          <a:xfrm>
            <a:off x="731520" y="1856232"/>
            <a:ext cx="502920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400"/>
              <a:buFont typeface="Calibri"/>
              <a:buNone/>
            </a:pPr>
            <a:r>
              <a:rPr lang="en-US" sz="2400" b="1">
                <a:solidFill>
                  <a:srgbClr val="1F2933"/>
                </a:solidFill>
                <a:latin typeface="Calibri"/>
                <a:ea typeface="Calibri"/>
                <a:cs typeface="Calibri"/>
                <a:sym typeface="Calibri"/>
              </a:rPr>
              <a:t>Chapter 8 · User interface</a:t>
            </a:r>
            <a:endParaRPr sz="2400">
              <a:solidFill>
                <a:schemeClr val="dk1"/>
              </a:solidFill>
              <a:latin typeface="Calibri"/>
              <a:ea typeface="Calibri"/>
              <a:cs typeface="Calibri"/>
              <a:sym typeface="Calibri"/>
            </a:endParaRPr>
          </a:p>
        </p:txBody>
      </p:sp>
      <p:sp>
        <p:nvSpPr>
          <p:cNvPr id="233" name="Google Shape;233;p11"/>
          <p:cNvSpPr txBox="1"/>
          <p:nvPr/>
        </p:nvSpPr>
        <p:spPr>
          <a:xfrm>
            <a:off x="731520" y="2496312"/>
            <a:ext cx="5029200" cy="35204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2100"/>
              <a:buFont typeface="Calibri"/>
              <a:buNone/>
            </a:pPr>
            <a:r>
              <a:rPr lang="en-US" sz="2100">
                <a:solidFill>
                  <a:srgbClr val="334155"/>
                </a:solidFill>
                <a:latin typeface="Calibri"/>
                <a:ea typeface="Calibri"/>
                <a:cs typeface="Calibri"/>
                <a:sym typeface="Calibri"/>
              </a:rPr>
              <a:t>Evaluate the screens with the six design principles</a:t>
            </a:r>
            <a:endParaRPr sz="21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100"/>
              <a:buFont typeface="Calibri"/>
              <a:buNone/>
            </a:pPr>
            <a:endParaRPr sz="21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100"/>
              <a:buFont typeface="Calibri"/>
              <a:buNone/>
            </a:pPr>
            <a:r>
              <a:rPr lang="en-US" sz="2100">
                <a:solidFill>
                  <a:srgbClr val="334155"/>
                </a:solidFill>
                <a:latin typeface="Calibri"/>
                <a:ea typeface="Calibri"/>
                <a:cs typeface="Calibri"/>
                <a:sym typeface="Calibri"/>
              </a:rPr>
              <a:t>Draw an interface structure diagram</a:t>
            </a:r>
            <a:endParaRPr sz="21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100"/>
              <a:buFont typeface="Calibri"/>
              <a:buNone/>
            </a:pPr>
            <a:endParaRPr sz="21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100"/>
              <a:buFont typeface="Calibri"/>
              <a:buNone/>
            </a:pPr>
            <a:r>
              <a:rPr lang="en-US" sz="2100">
                <a:solidFill>
                  <a:srgbClr val="334155"/>
                </a:solidFill>
                <a:latin typeface="Calibri"/>
                <a:ea typeface="Calibri"/>
                <a:cs typeface="Calibri"/>
                <a:sym typeface="Calibri"/>
              </a:rPr>
              <a:t>List usability problems with screenshots</a:t>
            </a:r>
            <a:endParaRPr sz="21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100"/>
              <a:buFont typeface="Calibri"/>
              <a:buNone/>
            </a:pPr>
            <a:endParaRPr sz="21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100"/>
              <a:buFont typeface="Calibri"/>
              <a:buNone/>
            </a:pPr>
            <a:r>
              <a:rPr lang="en-US" sz="2100">
                <a:solidFill>
                  <a:srgbClr val="334155"/>
                </a:solidFill>
                <a:latin typeface="Calibri"/>
                <a:ea typeface="Calibri"/>
                <a:cs typeface="Calibri"/>
                <a:sym typeface="Calibri"/>
              </a:rPr>
              <a:t>Check navigation, input, and output design</a:t>
            </a:r>
            <a:endParaRPr sz="2100">
              <a:solidFill>
                <a:schemeClr val="dk1"/>
              </a:solidFill>
              <a:latin typeface="Calibri"/>
              <a:ea typeface="Calibri"/>
              <a:cs typeface="Calibri"/>
              <a:sym typeface="Calibri"/>
            </a:endParaRPr>
          </a:p>
        </p:txBody>
      </p:sp>
      <p:sp>
        <p:nvSpPr>
          <p:cNvPr id="234" name="Google Shape;234;p11"/>
          <p:cNvSpPr/>
          <p:nvPr/>
        </p:nvSpPr>
        <p:spPr>
          <a:xfrm>
            <a:off x="6217920" y="1691640"/>
            <a:ext cx="5394960" cy="4480560"/>
          </a:xfrm>
          <a:prstGeom prst="roundRect">
            <a:avLst>
              <a:gd name="adj" fmla="val 1633"/>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5" name="Google Shape;235;p11"/>
          <p:cNvSpPr txBox="1"/>
          <p:nvPr/>
        </p:nvSpPr>
        <p:spPr>
          <a:xfrm>
            <a:off x="6400800" y="1856232"/>
            <a:ext cx="502920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400"/>
              <a:buFont typeface="Calibri"/>
              <a:buNone/>
            </a:pPr>
            <a:r>
              <a:rPr lang="en-US" sz="2400" b="1">
                <a:solidFill>
                  <a:srgbClr val="1F2933"/>
                </a:solidFill>
                <a:latin typeface="Calibri"/>
                <a:ea typeface="Calibri"/>
                <a:cs typeface="Calibri"/>
                <a:sym typeface="Calibri"/>
              </a:rPr>
              <a:t>Chapter 10 · Data storage</a:t>
            </a:r>
            <a:endParaRPr sz="2400">
              <a:solidFill>
                <a:schemeClr val="dk1"/>
              </a:solidFill>
              <a:latin typeface="Calibri"/>
              <a:ea typeface="Calibri"/>
              <a:cs typeface="Calibri"/>
              <a:sym typeface="Calibri"/>
            </a:endParaRPr>
          </a:p>
        </p:txBody>
      </p:sp>
      <p:sp>
        <p:nvSpPr>
          <p:cNvPr id="236" name="Google Shape;236;p11"/>
          <p:cNvSpPr txBox="1"/>
          <p:nvPr/>
        </p:nvSpPr>
        <p:spPr>
          <a:xfrm>
            <a:off x="6400800" y="2496312"/>
            <a:ext cx="5029200" cy="35204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2100"/>
              <a:buFont typeface="Calibri"/>
              <a:buNone/>
            </a:pPr>
            <a:r>
              <a:rPr lang="en-US" sz="2100">
                <a:solidFill>
                  <a:srgbClr val="334155"/>
                </a:solidFill>
                <a:latin typeface="Calibri"/>
                <a:ea typeface="Calibri"/>
                <a:cs typeface="Calibri"/>
                <a:sym typeface="Calibri"/>
              </a:rPr>
              <a:t>Choose a likely storage format</a:t>
            </a:r>
            <a:endParaRPr sz="21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100"/>
              <a:buFont typeface="Calibri"/>
              <a:buNone/>
            </a:pPr>
            <a:endParaRPr sz="21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100"/>
              <a:buFont typeface="Calibri"/>
              <a:buNone/>
            </a:pPr>
            <a:r>
              <a:rPr lang="en-US" sz="2100">
                <a:solidFill>
                  <a:srgbClr val="334155"/>
                </a:solidFill>
                <a:latin typeface="Calibri"/>
                <a:ea typeface="Calibri"/>
                <a:cs typeface="Calibri"/>
                <a:sym typeface="Calibri"/>
              </a:rPr>
              <a:t>Turn your ERD into a physical ERD</a:t>
            </a:r>
            <a:endParaRPr sz="21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100"/>
              <a:buFont typeface="Calibri"/>
              <a:buNone/>
            </a:pPr>
            <a:endParaRPr sz="21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100"/>
              <a:buFont typeface="Calibri"/>
              <a:buNone/>
            </a:pPr>
            <a:r>
              <a:rPr lang="en-US" sz="2100">
                <a:solidFill>
                  <a:srgbClr val="334155"/>
                </a:solidFill>
                <a:latin typeface="Calibri"/>
                <a:ea typeface="Calibri"/>
                <a:cs typeface="Calibri"/>
                <a:sym typeface="Calibri"/>
              </a:rPr>
              <a:t>Build a CRUD matrix</a:t>
            </a:r>
            <a:endParaRPr sz="21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2100"/>
              <a:buFont typeface="Calibri"/>
              <a:buNone/>
            </a:pPr>
            <a:endParaRPr sz="21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2100"/>
              <a:buFont typeface="Calibri"/>
              <a:buNone/>
            </a:pPr>
            <a:r>
              <a:rPr lang="en-US" sz="2100">
                <a:solidFill>
                  <a:srgbClr val="334155"/>
                </a:solidFill>
                <a:latin typeface="Calibri"/>
                <a:ea typeface="Calibri"/>
                <a:cs typeface="Calibri"/>
                <a:sym typeface="Calibri"/>
              </a:rPr>
              <a:t>Suggest indexes and estimate storage size</a:t>
            </a:r>
            <a:endParaRPr sz="21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F2933"/>
        </a:solidFill>
        <a:effectLst/>
      </p:bgPr>
    </p:bg>
    <p:spTree>
      <p:nvGrpSpPr>
        <p:cNvPr id="1" name="Shape 241"/>
        <p:cNvGrpSpPr/>
        <p:nvPr/>
      </p:nvGrpSpPr>
      <p:grpSpPr>
        <a:xfrm>
          <a:off x="0" y="0"/>
          <a:ext cx="0" cy="0"/>
          <a:chOff x="0" y="0"/>
          <a:chExt cx="0" cy="0"/>
        </a:xfrm>
      </p:grpSpPr>
      <p:sp>
        <p:nvSpPr>
          <p:cNvPr id="242" name="Google Shape;242;p12"/>
          <p:cNvSpPr txBox="1"/>
          <p:nvPr/>
        </p:nvSpPr>
        <p:spPr>
          <a:xfrm>
            <a:off x="731520" y="2011680"/>
            <a:ext cx="274320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6EAEA"/>
              </a:buClr>
              <a:buSzPts val="6600"/>
              <a:buFont typeface="Cambria"/>
              <a:buNone/>
            </a:pPr>
            <a:r>
              <a:rPr lang="en-US" sz="6600" b="1">
                <a:solidFill>
                  <a:srgbClr val="D6EAEA"/>
                </a:solidFill>
                <a:latin typeface="Cambria"/>
                <a:ea typeface="Cambria"/>
                <a:cs typeface="Cambria"/>
                <a:sym typeface="Cambria"/>
              </a:rPr>
              <a:t>02</a:t>
            </a:r>
            <a:endParaRPr sz="6600">
              <a:solidFill>
                <a:schemeClr val="dk1"/>
              </a:solidFill>
              <a:latin typeface="Calibri"/>
              <a:ea typeface="Calibri"/>
              <a:cs typeface="Calibri"/>
              <a:sym typeface="Calibri"/>
            </a:endParaRPr>
          </a:p>
        </p:txBody>
      </p:sp>
      <p:sp>
        <p:nvSpPr>
          <p:cNvPr id="243" name="Google Shape;243;p12"/>
          <p:cNvSpPr txBox="1"/>
          <p:nvPr/>
        </p:nvSpPr>
        <p:spPr>
          <a:xfrm>
            <a:off x="731520" y="3154680"/>
            <a:ext cx="1005840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800"/>
              <a:buFont typeface="Cambria"/>
              <a:buNone/>
            </a:pPr>
            <a:r>
              <a:rPr lang="en-US" sz="3800" b="1">
                <a:solidFill>
                  <a:srgbClr val="FFFFFF"/>
                </a:solidFill>
                <a:latin typeface="Cambria"/>
                <a:ea typeface="Cambria"/>
                <a:cs typeface="Cambria"/>
                <a:sym typeface="Cambria"/>
              </a:rPr>
              <a:t>Using AI in the Project</a:t>
            </a:r>
            <a:endParaRPr sz="3800">
              <a:solidFill>
                <a:schemeClr val="dk1"/>
              </a:solidFill>
              <a:latin typeface="Calibri"/>
              <a:ea typeface="Calibri"/>
              <a:cs typeface="Calibri"/>
              <a:sym typeface="Calibri"/>
            </a:endParaRPr>
          </a:p>
        </p:txBody>
      </p:sp>
      <p:sp>
        <p:nvSpPr>
          <p:cNvPr id="244" name="Google Shape;244;p12"/>
          <p:cNvSpPr txBox="1"/>
          <p:nvPr/>
        </p:nvSpPr>
        <p:spPr>
          <a:xfrm>
            <a:off x="731520" y="4114800"/>
            <a:ext cx="914400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8C4C4"/>
              </a:buClr>
              <a:buSzPts val="1800"/>
              <a:buFont typeface="Calibri"/>
              <a:buNone/>
            </a:pPr>
            <a:r>
              <a:rPr lang="en-US" sz="1800">
                <a:solidFill>
                  <a:srgbClr val="B8C4C4"/>
                </a:solidFill>
                <a:latin typeface="Calibri"/>
                <a:ea typeface="Calibri"/>
                <a:cs typeface="Calibri"/>
                <a:sym typeface="Calibri"/>
              </a:rPr>
              <a:t>How to use AI as a helper without trusting it blindly</a:t>
            </a:r>
            <a:endParaRPr sz="1800">
              <a:solidFill>
                <a:schemeClr val="dk1"/>
              </a:solidFill>
              <a:latin typeface="Calibri"/>
              <a:ea typeface="Calibri"/>
              <a:cs typeface="Calibri"/>
              <a:sym typeface="Calibri"/>
            </a:endParaRPr>
          </a:p>
        </p:txBody>
      </p:sp>
      <p:sp>
        <p:nvSpPr>
          <p:cNvPr id="245" name="Google Shape;245;p12"/>
          <p:cNvSpPr/>
          <p:nvPr/>
        </p:nvSpPr>
        <p:spPr>
          <a:xfrm>
            <a:off x="731520" y="5760720"/>
            <a:ext cx="384048" cy="384048"/>
          </a:xfrm>
          <a:prstGeom prst="ellipse">
            <a:avLst/>
          </a:prstGeom>
          <a:solidFill>
            <a:srgbClr val="2E7D4F"/>
          </a:solidFill>
          <a:ln w="12700" cap="flat" cmpd="sng">
            <a:solidFill>
              <a:srgbClr val="2E7D4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12"/>
          <p:cNvSpPr txBox="1"/>
          <p:nvPr/>
        </p:nvSpPr>
        <p:spPr>
          <a:xfrm>
            <a:off x="731520" y="576072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28"/>
              <a:buFont typeface="Calibri"/>
              <a:buNone/>
            </a:pPr>
            <a:r>
              <a:rPr lang="en-US" sz="1428" b="1">
                <a:solidFill>
                  <a:srgbClr val="FFFFFF"/>
                </a:solidFill>
                <a:latin typeface="Calibri"/>
                <a:ea typeface="Calibri"/>
                <a:cs typeface="Calibri"/>
                <a:sym typeface="Calibri"/>
              </a:rPr>
              <a:t>F</a:t>
            </a:r>
            <a:endParaRPr sz="1428">
              <a:solidFill>
                <a:schemeClr val="dk1"/>
              </a:solidFill>
              <a:latin typeface="Calibri"/>
              <a:ea typeface="Calibri"/>
              <a:cs typeface="Calibri"/>
              <a:sym typeface="Calibri"/>
            </a:endParaRPr>
          </a:p>
        </p:txBody>
      </p:sp>
      <p:sp>
        <p:nvSpPr>
          <p:cNvPr id="247" name="Google Shape;247;p12"/>
          <p:cNvSpPr/>
          <p:nvPr/>
        </p:nvSpPr>
        <p:spPr>
          <a:xfrm>
            <a:off x="1225296" y="5760720"/>
            <a:ext cx="384048" cy="384048"/>
          </a:xfrm>
          <a:prstGeom prst="ellipse">
            <a:avLst/>
          </a:prstGeom>
          <a:solidFill>
            <a:srgbClr val="B7791F"/>
          </a:solidFill>
          <a:ln w="12700" cap="flat" cmpd="sng">
            <a:solidFill>
              <a:srgbClr val="B7791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12"/>
          <p:cNvSpPr txBox="1"/>
          <p:nvPr/>
        </p:nvSpPr>
        <p:spPr>
          <a:xfrm>
            <a:off x="1225296" y="576072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28"/>
              <a:buFont typeface="Calibri"/>
              <a:buNone/>
            </a:pPr>
            <a:r>
              <a:rPr lang="en-US" sz="1428" b="1">
                <a:solidFill>
                  <a:srgbClr val="FFFFFF"/>
                </a:solidFill>
                <a:latin typeface="Calibri"/>
                <a:ea typeface="Calibri"/>
                <a:cs typeface="Calibri"/>
                <a:sym typeface="Calibri"/>
              </a:rPr>
              <a:t>I</a:t>
            </a:r>
            <a:endParaRPr sz="1428">
              <a:solidFill>
                <a:schemeClr val="dk1"/>
              </a:solidFill>
              <a:latin typeface="Calibri"/>
              <a:ea typeface="Calibri"/>
              <a:cs typeface="Calibri"/>
              <a:sym typeface="Calibri"/>
            </a:endParaRPr>
          </a:p>
        </p:txBody>
      </p:sp>
      <p:sp>
        <p:nvSpPr>
          <p:cNvPr id="249" name="Google Shape;249;p12"/>
          <p:cNvSpPr/>
          <p:nvPr/>
        </p:nvSpPr>
        <p:spPr>
          <a:xfrm>
            <a:off x="1719072" y="5760720"/>
            <a:ext cx="384048" cy="384048"/>
          </a:xfrm>
          <a:prstGeom prst="ellipse">
            <a:avLst/>
          </a:prstGeom>
          <a:solidFill>
            <a:srgbClr val="B23A48"/>
          </a:solidFill>
          <a:ln w="12700" cap="flat" cmpd="sng">
            <a:solidFill>
              <a:srgbClr val="B23A4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0" name="Google Shape;250;p12"/>
          <p:cNvSpPr txBox="1"/>
          <p:nvPr/>
        </p:nvSpPr>
        <p:spPr>
          <a:xfrm>
            <a:off x="1719072" y="576072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28"/>
              <a:buFont typeface="Calibri"/>
              <a:buNone/>
            </a:pPr>
            <a:r>
              <a:rPr lang="en-US" sz="1428" b="1">
                <a:solidFill>
                  <a:srgbClr val="FFFFFF"/>
                </a:solidFill>
                <a:latin typeface="Calibri"/>
                <a:ea typeface="Calibri"/>
                <a:cs typeface="Calibri"/>
                <a:sym typeface="Calibri"/>
              </a:rPr>
              <a:t>A</a:t>
            </a:r>
            <a:endParaRPr sz="1428">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5"/>
        <p:cNvGrpSpPr/>
        <p:nvPr/>
      </p:nvGrpSpPr>
      <p:grpSpPr>
        <a:xfrm>
          <a:off x="0" y="0"/>
          <a:ext cx="0" cy="0"/>
          <a:chOff x="0" y="0"/>
          <a:chExt cx="0" cy="0"/>
        </a:xfrm>
      </p:grpSpPr>
      <p:sp>
        <p:nvSpPr>
          <p:cNvPr id="256" name="Google Shape;256;p13"/>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HOW TO USE AI</a:t>
            </a:r>
            <a:endParaRPr sz="1100">
              <a:solidFill>
                <a:schemeClr val="dk1"/>
              </a:solidFill>
              <a:latin typeface="Calibri"/>
              <a:ea typeface="Calibri"/>
              <a:cs typeface="Calibri"/>
              <a:sym typeface="Calibri"/>
            </a:endParaRPr>
          </a:p>
        </p:txBody>
      </p:sp>
      <p:sp>
        <p:nvSpPr>
          <p:cNvPr id="257" name="Google Shape;257;p13"/>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Use three separate AI chats, each with one job</a:t>
            </a:r>
            <a:endParaRPr sz="2800">
              <a:solidFill>
                <a:schemeClr val="dk1"/>
              </a:solidFill>
              <a:latin typeface="Calibri"/>
              <a:ea typeface="Calibri"/>
              <a:cs typeface="Calibri"/>
              <a:sym typeface="Calibri"/>
            </a:endParaRPr>
          </a:p>
        </p:txBody>
      </p:sp>
      <p:sp>
        <p:nvSpPr>
          <p:cNvPr id="258" name="Google Shape;258;p13"/>
          <p:cNvSpPr/>
          <p:nvPr/>
        </p:nvSpPr>
        <p:spPr>
          <a:xfrm>
            <a:off x="548640" y="1691640"/>
            <a:ext cx="3474720" cy="3108960"/>
          </a:xfrm>
          <a:prstGeom prst="roundRect">
            <a:avLst>
              <a:gd name="adj" fmla="val 2941"/>
            </a:avLst>
          </a:prstGeom>
          <a:solidFill>
            <a:srgbClr val="F8EEDC"/>
          </a:solidFill>
          <a:ln w="12700" cap="flat" cmpd="sng">
            <a:solidFill>
              <a:srgbClr val="F8EED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9" name="Google Shape;259;p13"/>
          <p:cNvSpPr txBox="1"/>
          <p:nvPr/>
        </p:nvSpPr>
        <p:spPr>
          <a:xfrm>
            <a:off x="822960" y="1874520"/>
            <a:ext cx="29260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7791F"/>
              </a:buClr>
              <a:buSzPts val="1600"/>
              <a:buFont typeface="Calibri"/>
              <a:buNone/>
            </a:pPr>
            <a:r>
              <a:rPr lang="en-US" sz="1600" b="1">
                <a:solidFill>
                  <a:srgbClr val="B7791F"/>
                </a:solidFill>
                <a:latin typeface="Calibri"/>
                <a:ea typeface="Calibri"/>
                <a:cs typeface="Calibri"/>
                <a:sym typeface="Calibri"/>
              </a:rPr>
              <a:t>Chat 1</a:t>
            </a:r>
            <a:endParaRPr sz="1600">
              <a:solidFill>
                <a:schemeClr val="dk1"/>
              </a:solidFill>
              <a:latin typeface="Calibri"/>
              <a:ea typeface="Calibri"/>
              <a:cs typeface="Calibri"/>
              <a:sym typeface="Calibri"/>
            </a:endParaRPr>
          </a:p>
        </p:txBody>
      </p:sp>
      <p:sp>
        <p:nvSpPr>
          <p:cNvPr id="260" name="Google Shape;260;p13"/>
          <p:cNvSpPr txBox="1"/>
          <p:nvPr/>
        </p:nvSpPr>
        <p:spPr>
          <a:xfrm>
            <a:off x="822960" y="2286000"/>
            <a:ext cx="292608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600"/>
              <a:buFont typeface="Cambria"/>
              <a:buNone/>
            </a:pPr>
            <a:r>
              <a:rPr lang="en-US" sz="2600" b="1">
                <a:solidFill>
                  <a:srgbClr val="1F2933"/>
                </a:solidFill>
                <a:latin typeface="Cambria"/>
                <a:ea typeface="Cambria"/>
                <a:cs typeface="Cambria"/>
                <a:sym typeface="Cambria"/>
              </a:rPr>
              <a:t>Interviews</a:t>
            </a:r>
            <a:endParaRPr sz="2600">
              <a:solidFill>
                <a:schemeClr val="dk1"/>
              </a:solidFill>
              <a:latin typeface="Calibri"/>
              <a:ea typeface="Calibri"/>
              <a:cs typeface="Calibri"/>
              <a:sym typeface="Calibri"/>
            </a:endParaRPr>
          </a:p>
        </p:txBody>
      </p:sp>
      <p:sp>
        <p:nvSpPr>
          <p:cNvPr id="261" name="Google Shape;261;p13"/>
          <p:cNvSpPr txBox="1"/>
          <p:nvPr/>
        </p:nvSpPr>
        <p:spPr>
          <a:xfrm>
            <a:off x="822960" y="3017520"/>
            <a:ext cx="2926080" cy="1554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1800"/>
              <a:buFont typeface="Calibri"/>
              <a:buNone/>
            </a:pPr>
            <a:r>
              <a:rPr lang="en-US" sz="1800">
                <a:solidFill>
                  <a:srgbClr val="334155"/>
                </a:solidFill>
                <a:latin typeface="Calibri"/>
                <a:ea typeface="Calibri"/>
                <a:cs typeface="Calibri"/>
                <a:sym typeface="Calibri"/>
              </a:rPr>
              <a:t>The AI plays people at the company. You ask questions.</a:t>
            </a:r>
            <a:endParaRPr sz="1800">
              <a:solidFill>
                <a:schemeClr val="dk1"/>
              </a:solidFill>
              <a:latin typeface="Calibri"/>
              <a:ea typeface="Calibri"/>
              <a:cs typeface="Calibri"/>
              <a:sym typeface="Calibri"/>
            </a:endParaRPr>
          </a:p>
        </p:txBody>
      </p:sp>
      <p:sp>
        <p:nvSpPr>
          <p:cNvPr id="262" name="Google Shape;262;p13"/>
          <p:cNvSpPr/>
          <p:nvPr/>
        </p:nvSpPr>
        <p:spPr>
          <a:xfrm>
            <a:off x="4297680" y="1691640"/>
            <a:ext cx="3474720" cy="3108960"/>
          </a:xfrm>
          <a:prstGeom prst="roundRect">
            <a:avLst>
              <a:gd name="adj" fmla="val 2941"/>
            </a:avLst>
          </a:prstGeom>
          <a:solidFill>
            <a:srgbClr val="F8EEDC"/>
          </a:solidFill>
          <a:ln w="12700" cap="flat" cmpd="sng">
            <a:solidFill>
              <a:srgbClr val="F8EED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3" name="Google Shape;263;p13"/>
          <p:cNvSpPr txBox="1"/>
          <p:nvPr/>
        </p:nvSpPr>
        <p:spPr>
          <a:xfrm>
            <a:off x="4572000" y="1874520"/>
            <a:ext cx="29260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7791F"/>
              </a:buClr>
              <a:buSzPts val="1600"/>
              <a:buFont typeface="Calibri"/>
              <a:buNone/>
            </a:pPr>
            <a:r>
              <a:rPr lang="en-US" sz="1600" b="1">
                <a:solidFill>
                  <a:srgbClr val="B7791F"/>
                </a:solidFill>
                <a:latin typeface="Calibri"/>
                <a:ea typeface="Calibri"/>
                <a:cs typeface="Calibri"/>
                <a:sym typeface="Calibri"/>
              </a:rPr>
              <a:t>Chat 2</a:t>
            </a:r>
            <a:endParaRPr sz="1600">
              <a:solidFill>
                <a:schemeClr val="dk1"/>
              </a:solidFill>
              <a:latin typeface="Calibri"/>
              <a:ea typeface="Calibri"/>
              <a:cs typeface="Calibri"/>
              <a:sym typeface="Calibri"/>
            </a:endParaRPr>
          </a:p>
        </p:txBody>
      </p:sp>
      <p:sp>
        <p:nvSpPr>
          <p:cNvPr id="264" name="Google Shape;264;p13"/>
          <p:cNvSpPr txBox="1"/>
          <p:nvPr/>
        </p:nvSpPr>
        <p:spPr>
          <a:xfrm>
            <a:off x="4572000" y="2286000"/>
            <a:ext cx="292608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600"/>
              <a:buFont typeface="Cambria"/>
              <a:buNone/>
            </a:pPr>
            <a:r>
              <a:rPr lang="en-US" sz="2600" b="1">
                <a:solidFill>
                  <a:srgbClr val="1F2933"/>
                </a:solidFill>
                <a:latin typeface="Cambria"/>
                <a:ea typeface="Cambria"/>
                <a:cs typeface="Cambria"/>
                <a:sym typeface="Cambria"/>
              </a:rPr>
              <a:t>Technical help</a:t>
            </a:r>
            <a:endParaRPr sz="2600">
              <a:solidFill>
                <a:schemeClr val="dk1"/>
              </a:solidFill>
              <a:latin typeface="Calibri"/>
              <a:ea typeface="Calibri"/>
              <a:cs typeface="Calibri"/>
              <a:sym typeface="Calibri"/>
            </a:endParaRPr>
          </a:p>
        </p:txBody>
      </p:sp>
      <p:sp>
        <p:nvSpPr>
          <p:cNvPr id="265" name="Google Shape;265;p13"/>
          <p:cNvSpPr txBox="1"/>
          <p:nvPr/>
        </p:nvSpPr>
        <p:spPr>
          <a:xfrm>
            <a:off x="4572000" y="3017520"/>
            <a:ext cx="2926080" cy="1554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1800"/>
              <a:buFont typeface="Calibri"/>
              <a:buNone/>
            </a:pPr>
            <a:r>
              <a:rPr lang="en-US" sz="1800">
                <a:solidFill>
                  <a:srgbClr val="334155"/>
                </a:solidFill>
                <a:latin typeface="Calibri"/>
                <a:ea typeface="Calibri"/>
                <a:cs typeface="Calibri"/>
                <a:sym typeface="Calibri"/>
              </a:rPr>
              <a:t>The AI helps you think about data, architecture, and screens.</a:t>
            </a:r>
            <a:endParaRPr sz="1800">
              <a:solidFill>
                <a:schemeClr val="dk1"/>
              </a:solidFill>
              <a:latin typeface="Calibri"/>
              <a:ea typeface="Calibri"/>
              <a:cs typeface="Calibri"/>
              <a:sym typeface="Calibri"/>
            </a:endParaRPr>
          </a:p>
        </p:txBody>
      </p:sp>
      <p:sp>
        <p:nvSpPr>
          <p:cNvPr id="266" name="Google Shape;266;p13"/>
          <p:cNvSpPr/>
          <p:nvPr/>
        </p:nvSpPr>
        <p:spPr>
          <a:xfrm>
            <a:off x="8046720" y="1691640"/>
            <a:ext cx="3474720" cy="3108960"/>
          </a:xfrm>
          <a:prstGeom prst="roundRect">
            <a:avLst>
              <a:gd name="adj" fmla="val 2941"/>
            </a:avLst>
          </a:prstGeom>
          <a:solidFill>
            <a:srgbClr val="D6EAEA"/>
          </a:solidFill>
          <a:ln w="12700" cap="flat" cmpd="sng">
            <a:solidFill>
              <a:srgbClr val="D6EAE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7" name="Google Shape;267;p13"/>
          <p:cNvSpPr txBox="1"/>
          <p:nvPr/>
        </p:nvSpPr>
        <p:spPr>
          <a:xfrm>
            <a:off x="8321040" y="1874520"/>
            <a:ext cx="29260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600"/>
              <a:buFont typeface="Calibri"/>
              <a:buNone/>
            </a:pPr>
            <a:r>
              <a:rPr lang="en-US" sz="1600" b="1">
                <a:solidFill>
                  <a:srgbClr val="0F6E6E"/>
                </a:solidFill>
                <a:latin typeface="Calibri"/>
                <a:ea typeface="Calibri"/>
                <a:cs typeface="Calibri"/>
                <a:sym typeface="Calibri"/>
              </a:rPr>
              <a:t>Chat 3</a:t>
            </a:r>
            <a:endParaRPr sz="1600">
              <a:solidFill>
                <a:schemeClr val="dk1"/>
              </a:solidFill>
              <a:latin typeface="Calibri"/>
              <a:ea typeface="Calibri"/>
              <a:cs typeface="Calibri"/>
              <a:sym typeface="Calibri"/>
            </a:endParaRPr>
          </a:p>
        </p:txBody>
      </p:sp>
      <p:sp>
        <p:nvSpPr>
          <p:cNvPr id="268" name="Google Shape;268;p13"/>
          <p:cNvSpPr txBox="1"/>
          <p:nvPr/>
        </p:nvSpPr>
        <p:spPr>
          <a:xfrm>
            <a:off x="8321040" y="2286000"/>
            <a:ext cx="292608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600"/>
              <a:buFont typeface="Cambria"/>
              <a:buNone/>
            </a:pPr>
            <a:r>
              <a:rPr lang="en-US" sz="2600" b="1">
                <a:solidFill>
                  <a:srgbClr val="1F2933"/>
                </a:solidFill>
                <a:latin typeface="Cambria"/>
                <a:ea typeface="Cambria"/>
                <a:cs typeface="Cambria"/>
                <a:sym typeface="Cambria"/>
              </a:rPr>
              <a:t>Check my work</a:t>
            </a:r>
            <a:endParaRPr sz="2600">
              <a:solidFill>
                <a:schemeClr val="dk1"/>
              </a:solidFill>
              <a:latin typeface="Calibri"/>
              <a:ea typeface="Calibri"/>
              <a:cs typeface="Calibri"/>
              <a:sym typeface="Calibri"/>
            </a:endParaRPr>
          </a:p>
        </p:txBody>
      </p:sp>
      <p:sp>
        <p:nvSpPr>
          <p:cNvPr id="269" name="Google Shape;269;p13"/>
          <p:cNvSpPr txBox="1"/>
          <p:nvPr/>
        </p:nvSpPr>
        <p:spPr>
          <a:xfrm>
            <a:off x="8321040" y="3017520"/>
            <a:ext cx="2926080" cy="1554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1800"/>
              <a:buFont typeface="Calibri"/>
              <a:buNone/>
            </a:pPr>
            <a:r>
              <a:rPr lang="en-US" sz="1800">
                <a:solidFill>
                  <a:srgbClr val="334155"/>
                </a:solidFill>
                <a:latin typeface="Calibri"/>
                <a:ea typeface="Calibri"/>
                <a:cs typeface="Calibri"/>
                <a:sym typeface="Calibri"/>
              </a:rPr>
              <a:t>Open a NEW chat each time. The AI reviews one assignment.</a:t>
            </a:r>
            <a:endParaRPr sz="1800">
              <a:solidFill>
                <a:schemeClr val="dk1"/>
              </a:solidFill>
              <a:latin typeface="Calibri"/>
              <a:ea typeface="Calibri"/>
              <a:cs typeface="Calibri"/>
              <a:sym typeface="Calibri"/>
            </a:endParaRPr>
          </a:p>
        </p:txBody>
      </p:sp>
      <p:sp>
        <p:nvSpPr>
          <p:cNvPr id="270" name="Google Shape;270;p13"/>
          <p:cNvSpPr/>
          <p:nvPr/>
        </p:nvSpPr>
        <p:spPr>
          <a:xfrm>
            <a:off x="548640" y="5120640"/>
            <a:ext cx="11064240" cy="1005840"/>
          </a:xfrm>
          <a:prstGeom prst="roundRect">
            <a:avLst>
              <a:gd name="adj" fmla="val 7273"/>
            </a:avLst>
          </a:prstGeom>
          <a:solidFill>
            <a:srgbClr val="1F2933"/>
          </a:solidFill>
          <a:ln w="12700" cap="flat" cmpd="sng">
            <a:solidFill>
              <a:srgbClr val="1F293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1" name="Google Shape;271;p13"/>
          <p:cNvSpPr txBox="1"/>
          <p:nvPr/>
        </p:nvSpPr>
        <p:spPr>
          <a:xfrm>
            <a:off x="548640" y="5120640"/>
            <a:ext cx="1106424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The AI does not work at the company. Check everything it tells you.</a:t>
            </a:r>
            <a:endParaRPr sz="2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6"/>
        <p:cNvGrpSpPr/>
        <p:nvPr/>
      </p:nvGrpSpPr>
      <p:grpSpPr>
        <a:xfrm>
          <a:off x="0" y="0"/>
          <a:ext cx="0" cy="0"/>
          <a:chOff x="0" y="0"/>
          <a:chExt cx="0" cy="0"/>
        </a:xfrm>
      </p:grpSpPr>
      <p:sp>
        <p:nvSpPr>
          <p:cNvPr id="277" name="Google Shape;277;p14"/>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AI ROLES</a:t>
            </a:r>
            <a:endParaRPr sz="1100">
              <a:solidFill>
                <a:schemeClr val="dk1"/>
              </a:solidFill>
              <a:latin typeface="Calibri"/>
              <a:ea typeface="Calibri"/>
              <a:cs typeface="Calibri"/>
              <a:sym typeface="Calibri"/>
            </a:endParaRPr>
          </a:p>
        </p:txBody>
      </p:sp>
      <p:sp>
        <p:nvSpPr>
          <p:cNvPr id="278" name="Google Shape;278;p14"/>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The AI can play three kinds of roles</a:t>
            </a:r>
            <a:endParaRPr sz="2800">
              <a:solidFill>
                <a:schemeClr val="dk1"/>
              </a:solidFill>
              <a:latin typeface="Calibri"/>
              <a:ea typeface="Calibri"/>
              <a:cs typeface="Calibri"/>
              <a:sym typeface="Calibri"/>
            </a:endParaRPr>
          </a:p>
        </p:txBody>
      </p:sp>
      <p:sp>
        <p:nvSpPr>
          <p:cNvPr id="279" name="Google Shape;279;p14"/>
          <p:cNvSpPr txBox="1"/>
          <p:nvPr/>
        </p:nvSpPr>
        <p:spPr>
          <a:xfrm>
            <a:off x="548640" y="1691640"/>
            <a:ext cx="347472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7791F"/>
              </a:buClr>
              <a:buSzPts val="2200"/>
              <a:buFont typeface="Cambria"/>
              <a:buNone/>
            </a:pPr>
            <a:r>
              <a:rPr lang="en-US" sz="2200" b="1">
                <a:solidFill>
                  <a:srgbClr val="B7791F"/>
                </a:solidFill>
                <a:latin typeface="Cambria"/>
                <a:ea typeface="Cambria"/>
                <a:cs typeface="Cambria"/>
                <a:sym typeface="Cambria"/>
              </a:rPr>
              <a:t>People you interview</a:t>
            </a:r>
            <a:endParaRPr sz="2200">
              <a:solidFill>
                <a:schemeClr val="dk1"/>
              </a:solidFill>
              <a:latin typeface="Calibri"/>
              <a:ea typeface="Calibri"/>
              <a:cs typeface="Calibri"/>
              <a:sym typeface="Calibri"/>
            </a:endParaRPr>
          </a:p>
        </p:txBody>
      </p:sp>
      <p:sp>
        <p:nvSpPr>
          <p:cNvPr id="280" name="Google Shape;280;p14"/>
          <p:cNvSpPr/>
          <p:nvPr/>
        </p:nvSpPr>
        <p:spPr>
          <a:xfrm>
            <a:off x="548640" y="2377440"/>
            <a:ext cx="3474720" cy="713232"/>
          </a:xfrm>
          <a:prstGeom prst="roundRect">
            <a:avLst>
              <a:gd name="adj" fmla="val 10256"/>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1" name="Google Shape;281;p14"/>
          <p:cNvSpPr txBox="1"/>
          <p:nvPr/>
        </p:nvSpPr>
        <p:spPr>
          <a:xfrm>
            <a:off x="777240" y="2377440"/>
            <a:ext cx="310896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b="1">
                <a:solidFill>
                  <a:srgbClr val="1F2933"/>
                </a:solidFill>
                <a:latin typeface="Calibri"/>
                <a:ea typeface="Calibri"/>
                <a:cs typeface="Calibri"/>
                <a:sym typeface="Calibri"/>
              </a:rPr>
              <a:t>Operations Manager</a:t>
            </a:r>
            <a:endParaRPr sz="1800">
              <a:solidFill>
                <a:schemeClr val="dk1"/>
              </a:solidFill>
              <a:latin typeface="Calibri"/>
              <a:ea typeface="Calibri"/>
              <a:cs typeface="Calibri"/>
              <a:sym typeface="Calibri"/>
            </a:endParaRPr>
          </a:p>
        </p:txBody>
      </p:sp>
      <p:sp>
        <p:nvSpPr>
          <p:cNvPr id="282" name="Google Shape;282;p14"/>
          <p:cNvSpPr/>
          <p:nvPr/>
        </p:nvSpPr>
        <p:spPr>
          <a:xfrm>
            <a:off x="548640" y="3246120"/>
            <a:ext cx="3474720" cy="713232"/>
          </a:xfrm>
          <a:prstGeom prst="roundRect">
            <a:avLst>
              <a:gd name="adj" fmla="val 10256"/>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3" name="Google Shape;283;p14"/>
          <p:cNvSpPr txBox="1"/>
          <p:nvPr/>
        </p:nvSpPr>
        <p:spPr>
          <a:xfrm>
            <a:off x="777240" y="3246120"/>
            <a:ext cx="310896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b="1">
                <a:solidFill>
                  <a:srgbClr val="1F2933"/>
                </a:solidFill>
                <a:latin typeface="Calibri"/>
                <a:ea typeface="Calibri"/>
                <a:cs typeface="Calibri"/>
                <a:sym typeface="Calibri"/>
              </a:rPr>
              <a:t>Customer Service Manager</a:t>
            </a:r>
            <a:endParaRPr sz="1800">
              <a:solidFill>
                <a:schemeClr val="dk1"/>
              </a:solidFill>
              <a:latin typeface="Calibri"/>
              <a:ea typeface="Calibri"/>
              <a:cs typeface="Calibri"/>
              <a:sym typeface="Calibri"/>
            </a:endParaRPr>
          </a:p>
        </p:txBody>
      </p:sp>
      <p:sp>
        <p:nvSpPr>
          <p:cNvPr id="284" name="Google Shape;284;p14"/>
          <p:cNvSpPr/>
          <p:nvPr/>
        </p:nvSpPr>
        <p:spPr>
          <a:xfrm>
            <a:off x="548640" y="4114800"/>
            <a:ext cx="3474720" cy="713232"/>
          </a:xfrm>
          <a:prstGeom prst="roundRect">
            <a:avLst>
              <a:gd name="adj" fmla="val 10256"/>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5" name="Google Shape;285;p14"/>
          <p:cNvSpPr txBox="1"/>
          <p:nvPr/>
        </p:nvSpPr>
        <p:spPr>
          <a:xfrm>
            <a:off x="777240" y="4114800"/>
            <a:ext cx="310896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b="1">
                <a:solidFill>
                  <a:srgbClr val="1F2933"/>
                </a:solidFill>
                <a:latin typeface="Calibri"/>
                <a:ea typeface="Calibri"/>
                <a:cs typeface="Calibri"/>
                <a:sym typeface="Calibri"/>
              </a:rPr>
              <a:t>Finance Manager</a:t>
            </a:r>
            <a:endParaRPr sz="1800">
              <a:solidFill>
                <a:schemeClr val="dk1"/>
              </a:solidFill>
              <a:latin typeface="Calibri"/>
              <a:ea typeface="Calibri"/>
              <a:cs typeface="Calibri"/>
              <a:sym typeface="Calibri"/>
            </a:endParaRPr>
          </a:p>
        </p:txBody>
      </p:sp>
      <p:sp>
        <p:nvSpPr>
          <p:cNvPr id="286" name="Google Shape;286;p14"/>
          <p:cNvSpPr/>
          <p:nvPr/>
        </p:nvSpPr>
        <p:spPr>
          <a:xfrm>
            <a:off x="548640" y="4983480"/>
            <a:ext cx="3474720" cy="713232"/>
          </a:xfrm>
          <a:prstGeom prst="roundRect">
            <a:avLst>
              <a:gd name="adj" fmla="val 10256"/>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7" name="Google Shape;287;p14"/>
          <p:cNvSpPr txBox="1"/>
          <p:nvPr/>
        </p:nvSpPr>
        <p:spPr>
          <a:xfrm>
            <a:off x="777240" y="4983480"/>
            <a:ext cx="310896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b="1">
                <a:solidFill>
                  <a:srgbClr val="1F2933"/>
                </a:solidFill>
                <a:latin typeface="Calibri"/>
                <a:ea typeface="Calibri"/>
                <a:cs typeface="Calibri"/>
                <a:sym typeface="Calibri"/>
              </a:rPr>
              <a:t>A customer</a:t>
            </a:r>
            <a:endParaRPr sz="1800">
              <a:solidFill>
                <a:schemeClr val="dk1"/>
              </a:solidFill>
              <a:latin typeface="Calibri"/>
              <a:ea typeface="Calibri"/>
              <a:cs typeface="Calibri"/>
              <a:sym typeface="Calibri"/>
            </a:endParaRPr>
          </a:p>
        </p:txBody>
      </p:sp>
      <p:sp>
        <p:nvSpPr>
          <p:cNvPr id="288" name="Google Shape;288;p14"/>
          <p:cNvSpPr txBox="1"/>
          <p:nvPr/>
        </p:nvSpPr>
        <p:spPr>
          <a:xfrm>
            <a:off x="4297680" y="1691640"/>
            <a:ext cx="347472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2200"/>
              <a:buFont typeface="Cambria"/>
              <a:buNone/>
            </a:pPr>
            <a:r>
              <a:rPr lang="en-US" sz="2200" b="1">
                <a:solidFill>
                  <a:srgbClr val="0F6E6E"/>
                </a:solidFill>
                <a:latin typeface="Cambria"/>
                <a:ea typeface="Cambria"/>
                <a:cs typeface="Cambria"/>
                <a:sym typeface="Cambria"/>
              </a:rPr>
              <a:t>Technical helpers</a:t>
            </a:r>
            <a:endParaRPr sz="2200">
              <a:solidFill>
                <a:schemeClr val="dk1"/>
              </a:solidFill>
              <a:latin typeface="Calibri"/>
              <a:ea typeface="Calibri"/>
              <a:cs typeface="Calibri"/>
              <a:sym typeface="Calibri"/>
            </a:endParaRPr>
          </a:p>
        </p:txBody>
      </p:sp>
      <p:sp>
        <p:nvSpPr>
          <p:cNvPr id="289" name="Google Shape;289;p14"/>
          <p:cNvSpPr/>
          <p:nvPr/>
        </p:nvSpPr>
        <p:spPr>
          <a:xfrm>
            <a:off x="4297680" y="2377440"/>
            <a:ext cx="3474720" cy="713232"/>
          </a:xfrm>
          <a:prstGeom prst="roundRect">
            <a:avLst>
              <a:gd name="adj" fmla="val 10256"/>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0" name="Google Shape;290;p14"/>
          <p:cNvSpPr txBox="1"/>
          <p:nvPr/>
        </p:nvSpPr>
        <p:spPr>
          <a:xfrm>
            <a:off x="4526280" y="2377440"/>
            <a:ext cx="310896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b="1">
                <a:solidFill>
                  <a:srgbClr val="1F2933"/>
                </a:solidFill>
                <a:latin typeface="Calibri"/>
                <a:ea typeface="Calibri"/>
                <a:cs typeface="Calibri"/>
                <a:sym typeface="Calibri"/>
              </a:rPr>
              <a:t>Data Architect</a:t>
            </a:r>
            <a:endParaRPr sz="1800">
              <a:solidFill>
                <a:schemeClr val="dk1"/>
              </a:solidFill>
              <a:latin typeface="Calibri"/>
              <a:ea typeface="Calibri"/>
              <a:cs typeface="Calibri"/>
              <a:sym typeface="Calibri"/>
            </a:endParaRPr>
          </a:p>
        </p:txBody>
      </p:sp>
      <p:sp>
        <p:nvSpPr>
          <p:cNvPr id="291" name="Google Shape;291;p14"/>
          <p:cNvSpPr/>
          <p:nvPr/>
        </p:nvSpPr>
        <p:spPr>
          <a:xfrm>
            <a:off x="4297680" y="3246120"/>
            <a:ext cx="3474720" cy="713232"/>
          </a:xfrm>
          <a:prstGeom prst="roundRect">
            <a:avLst>
              <a:gd name="adj" fmla="val 10256"/>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2" name="Google Shape;292;p14"/>
          <p:cNvSpPr txBox="1"/>
          <p:nvPr/>
        </p:nvSpPr>
        <p:spPr>
          <a:xfrm>
            <a:off x="4526280" y="3246120"/>
            <a:ext cx="310896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b="1">
                <a:solidFill>
                  <a:srgbClr val="1F2933"/>
                </a:solidFill>
                <a:latin typeface="Calibri"/>
                <a:ea typeface="Calibri"/>
                <a:cs typeface="Calibri"/>
                <a:sym typeface="Calibri"/>
              </a:rPr>
              <a:t>Software Architect</a:t>
            </a:r>
            <a:endParaRPr sz="1800">
              <a:solidFill>
                <a:schemeClr val="dk1"/>
              </a:solidFill>
              <a:latin typeface="Calibri"/>
              <a:ea typeface="Calibri"/>
              <a:cs typeface="Calibri"/>
              <a:sym typeface="Calibri"/>
            </a:endParaRPr>
          </a:p>
        </p:txBody>
      </p:sp>
      <p:sp>
        <p:nvSpPr>
          <p:cNvPr id="293" name="Google Shape;293;p14"/>
          <p:cNvSpPr/>
          <p:nvPr/>
        </p:nvSpPr>
        <p:spPr>
          <a:xfrm>
            <a:off x="4297680" y="4114800"/>
            <a:ext cx="3474720" cy="713232"/>
          </a:xfrm>
          <a:prstGeom prst="roundRect">
            <a:avLst>
              <a:gd name="adj" fmla="val 10256"/>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4" name="Google Shape;294;p14"/>
          <p:cNvSpPr txBox="1"/>
          <p:nvPr/>
        </p:nvSpPr>
        <p:spPr>
          <a:xfrm>
            <a:off x="4526280" y="4114800"/>
            <a:ext cx="310896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b="1">
                <a:solidFill>
                  <a:srgbClr val="1F2933"/>
                </a:solidFill>
                <a:latin typeface="Calibri"/>
                <a:ea typeface="Calibri"/>
                <a:cs typeface="Calibri"/>
                <a:sym typeface="Calibri"/>
              </a:rPr>
              <a:t>UX Expert</a:t>
            </a:r>
            <a:endParaRPr sz="1800">
              <a:solidFill>
                <a:schemeClr val="dk1"/>
              </a:solidFill>
              <a:latin typeface="Calibri"/>
              <a:ea typeface="Calibri"/>
              <a:cs typeface="Calibri"/>
              <a:sym typeface="Calibri"/>
            </a:endParaRPr>
          </a:p>
        </p:txBody>
      </p:sp>
      <p:sp>
        <p:nvSpPr>
          <p:cNvPr id="295" name="Google Shape;295;p14"/>
          <p:cNvSpPr/>
          <p:nvPr/>
        </p:nvSpPr>
        <p:spPr>
          <a:xfrm>
            <a:off x="4297680" y="4983480"/>
            <a:ext cx="3474720" cy="713232"/>
          </a:xfrm>
          <a:prstGeom prst="roundRect">
            <a:avLst>
              <a:gd name="adj" fmla="val 10256"/>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6" name="Google Shape;296;p14"/>
          <p:cNvSpPr txBox="1"/>
          <p:nvPr/>
        </p:nvSpPr>
        <p:spPr>
          <a:xfrm>
            <a:off x="4526280" y="4983480"/>
            <a:ext cx="310896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b="1">
                <a:solidFill>
                  <a:srgbClr val="1F2933"/>
                </a:solidFill>
                <a:latin typeface="Calibri"/>
                <a:ea typeface="Calibri"/>
                <a:cs typeface="Calibri"/>
                <a:sym typeface="Calibri"/>
              </a:rPr>
              <a:t>Database Administrator</a:t>
            </a:r>
            <a:endParaRPr sz="1800">
              <a:solidFill>
                <a:schemeClr val="dk1"/>
              </a:solidFill>
              <a:latin typeface="Calibri"/>
              <a:ea typeface="Calibri"/>
              <a:cs typeface="Calibri"/>
              <a:sym typeface="Calibri"/>
            </a:endParaRPr>
          </a:p>
        </p:txBody>
      </p:sp>
      <p:sp>
        <p:nvSpPr>
          <p:cNvPr id="297" name="Google Shape;297;p14"/>
          <p:cNvSpPr txBox="1"/>
          <p:nvPr/>
        </p:nvSpPr>
        <p:spPr>
          <a:xfrm>
            <a:off x="8046720" y="1691640"/>
            <a:ext cx="347472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200"/>
              <a:buFont typeface="Cambria"/>
              <a:buNone/>
            </a:pPr>
            <a:r>
              <a:rPr lang="en-US" sz="2200" b="1">
                <a:solidFill>
                  <a:srgbClr val="1F2933"/>
                </a:solidFill>
                <a:latin typeface="Cambria"/>
                <a:ea typeface="Cambria"/>
                <a:cs typeface="Cambria"/>
                <a:sym typeface="Cambria"/>
              </a:rPr>
              <a:t>Reviewers</a:t>
            </a:r>
            <a:endParaRPr sz="2200">
              <a:solidFill>
                <a:schemeClr val="dk1"/>
              </a:solidFill>
              <a:latin typeface="Calibri"/>
              <a:ea typeface="Calibri"/>
              <a:cs typeface="Calibri"/>
              <a:sym typeface="Calibri"/>
            </a:endParaRPr>
          </a:p>
        </p:txBody>
      </p:sp>
      <p:sp>
        <p:nvSpPr>
          <p:cNvPr id="298" name="Google Shape;298;p14"/>
          <p:cNvSpPr/>
          <p:nvPr/>
        </p:nvSpPr>
        <p:spPr>
          <a:xfrm>
            <a:off x="8046720" y="2377440"/>
            <a:ext cx="3474720" cy="713232"/>
          </a:xfrm>
          <a:prstGeom prst="roundRect">
            <a:avLst>
              <a:gd name="adj" fmla="val 10256"/>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9" name="Google Shape;299;p14"/>
          <p:cNvSpPr txBox="1"/>
          <p:nvPr/>
        </p:nvSpPr>
        <p:spPr>
          <a:xfrm>
            <a:off x="8275320" y="2377440"/>
            <a:ext cx="310896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b="1">
                <a:solidFill>
                  <a:srgbClr val="1F2933"/>
                </a:solidFill>
                <a:latin typeface="Calibri"/>
                <a:ea typeface="Calibri"/>
                <a:cs typeface="Calibri"/>
                <a:sym typeface="Calibri"/>
              </a:rPr>
              <a:t>Senior Systems Analyst</a:t>
            </a:r>
            <a:endParaRPr sz="1800">
              <a:solidFill>
                <a:schemeClr val="dk1"/>
              </a:solidFill>
              <a:latin typeface="Calibri"/>
              <a:ea typeface="Calibri"/>
              <a:cs typeface="Calibri"/>
              <a:sym typeface="Calibri"/>
            </a:endParaRPr>
          </a:p>
        </p:txBody>
      </p:sp>
      <p:sp>
        <p:nvSpPr>
          <p:cNvPr id="300" name="Google Shape;300;p14"/>
          <p:cNvSpPr/>
          <p:nvPr/>
        </p:nvSpPr>
        <p:spPr>
          <a:xfrm>
            <a:off x="8046720" y="3246120"/>
            <a:ext cx="3474720" cy="713232"/>
          </a:xfrm>
          <a:prstGeom prst="roundRect">
            <a:avLst>
              <a:gd name="adj" fmla="val 10256"/>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1" name="Google Shape;301;p14"/>
          <p:cNvSpPr txBox="1"/>
          <p:nvPr/>
        </p:nvSpPr>
        <p:spPr>
          <a:xfrm>
            <a:off x="8275320" y="3246120"/>
            <a:ext cx="310896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800"/>
              <a:buFont typeface="Calibri"/>
              <a:buNone/>
            </a:pPr>
            <a:r>
              <a:rPr lang="en-US" sz="1800" b="1">
                <a:solidFill>
                  <a:srgbClr val="1F2933"/>
                </a:solidFill>
                <a:latin typeface="Calibri"/>
                <a:ea typeface="Calibri"/>
                <a:cs typeface="Calibri"/>
                <a:sym typeface="Calibri"/>
              </a:rPr>
              <a:t>AI Auditor</a:t>
            </a:r>
            <a:endParaRPr sz="1800">
              <a:solidFill>
                <a:schemeClr val="dk1"/>
              </a:solidFill>
              <a:latin typeface="Calibri"/>
              <a:ea typeface="Calibri"/>
              <a:cs typeface="Calibri"/>
              <a:sym typeface="Calibri"/>
            </a:endParaRPr>
          </a:p>
        </p:txBody>
      </p:sp>
      <p:sp>
        <p:nvSpPr>
          <p:cNvPr id="302" name="Google Shape;302;p14"/>
          <p:cNvSpPr txBox="1"/>
          <p:nvPr/>
        </p:nvSpPr>
        <p:spPr>
          <a:xfrm>
            <a:off x="548640" y="5943600"/>
            <a:ext cx="34747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B6770"/>
              </a:buClr>
              <a:buSzPts val="1400"/>
              <a:buFont typeface="Calibri"/>
              <a:buNone/>
            </a:pPr>
            <a:r>
              <a:rPr lang="en-US" sz="1400" i="1">
                <a:solidFill>
                  <a:srgbClr val="5B6770"/>
                </a:solidFill>
                <a:latin typeface="Calibri"/>
                <a:ea typeface="Calibri"/>
                <a:cs typeface="Calibri"/>
                <a:sym typeface="Calibri"/>
              </a:rPr>
              <a:t>Chat 1</a:t>
            </a:r>
            <a:endParaRPr sz="1400">
              <a:solidFill>
                <a:schemeClr val="dk1"/>
              </a:solidFill>
              <a:latin typeface="Calibri"/>
              <a:ea typeface="Calibri"/>
              <a:cs typeface="Calibri"/>
              <a:sym typeface="Calibri"/>
            </a:endParaRPr>
          </a:p>
        </p:txBody>
      </p:sp>
      <p:sp>
        <p:nvSpPr>
          <p:cNvPr id="303" name="Google Shape;303;p14"/>
          <p:cNvSpPr txBox="1"/>
          <p:nvPr/>
        </p:nvSpPr>
        <p:spPr>
          <a:xfrm>
            <a:off x="4297680" y="5943600"/>
            <a:ext cx="34747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B6770"/>
              </a:buClr>
              <a:buSzPts val="1400"/>
              <a:buFont typeface="Calibri"/>
              <a:buNone/>
            </a:pPr>
            <a:r>
              <a:rPr lang="en-US" sz="1400" i="1">
                <a:solidFill>
                  <a:srgbClr val="5B6770"/>
                </a:solidFill>
                <a:latin typeface="Calibri"/>
                <a:ea typeface="Calibri"/>
                <a:cs typeface="Calibri"/>
                <a:sym typeface="Calibri"/>
              </a:rPr>
              <a:t>Chat 2</a:t>
            </a:r>
            <a:endParaRPr sz="1400">
              <a:solidFill>
                <a:schemeClr val="dk1"/>
              </a:solidFill>
              <a:latin typeface="Calibri"/>
              <a:ea typeface="Calibri"/>
              <a:cs typeface="Calibri"/>
              <a:sym typeface="Calibri"/>
            </a:endParaRPr>
          </a:p>
        </p:txBody>
      </p:sp>
      <p:sp>
        <p:nvSpPr>
          <p:cNvPr id="304" name="Google Shape;304;p14"/>
          <p:cNvSpPr txBox="1"/>
          <p:nvPr/>
        </p:nvSpPr>
        <p:spPr>
          <a:xfrm>
            <a:off x="8046720" y="5943600"/>
            <a:ext cx="34747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B6770"/>
              </a:buClr>
              <a:buSzPts val="1400"/>
              <a:buFont typeface="Calibri"/>
              <a:buNone/>
            </a:pPr>
            <a:r>
              <a:rPr lang="en-US" sz="1400" i="1">
                <a:solidFill>
                  <a:srgbClr val="5B6770"/>
                </a:solidFill>
                <a:latin typeface="Calibri"/>
                <a:ea typeface="Calibri"/>
                <a:cs typeface="Calibri"/>
                <a:sym typeface="Calibri"/>
              </a:rPr>
              <a:t>Chat 3 (new chat each time)</a:t>
            </a:r>
            <a:endParaRPr sz="14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9"/>
        <p:cNvGrpSpPr/>
        <p:nvPr/>
      </p:nvGrpSpPr>
      <p:grpSpPr>
        <a:xfrm>
          <a:off x="0" y="0"/>
          <a:ext cx="0" cy="0"/>
          <a:chOff x="0" y="0"/>
          <a:chExt cx="0" cy="0"/>
        </a:xfrm>
      </p:grpSpPr>
      <p:sp>
        <p:nvSpPr>
          <p:cNvPr id="310" name="Google Shape;310;p15"/>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PROMPT 1 · CHAT 1</a:t>
            </a:r>
            <a:endParaRPr sz="1100">
              <a:solidFill>
                <a:schemeClr val="dk1"/>
              </a:solidFill>
              <a:latin typeface="Calibri"/>
              <a:ea typeface="Calibri"/>
              <a:cs typeface="Calibri"/>
              <a:sym typeface="Calibri"/>
            </a:endParaRPr>
          </a:p>
        </p:txBody>
      </p:sp>
      <p:sp>
        <p:nvSpPr>
          <p:cNvPr id="311" name="Google Shape;311;p15"/>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Prompt 1: Interview a stakeholder</a:t>
            </a:r>
            <a:endParaRPr sz="2800">
              <a:solidFill>
                <a:schemeClr val="dk1"/>
              </a:solidFill>
              <a:latin typeface="Calibri"/>
              <a:ea typeface="Calibri"/>
              <a:cs typeface="Calibri"/>
              <a:sym typeface="Calibri"/>
            </a:endParaRPr>
          </a:p>
        </p:txBody>
      </p:sp>
      <p:sp>
        <p:nvSpPr>
          <p:cNvPr id="312" name="Google Shape;312;p15"/>
          <p:cNvSpPr/>
          <p:nvPr/>
        </p:nvSpPr>
        <p:spPr>
          <a:xfrm>
            <a:off x="548650" y="1371600"/>
            <a:ext cx="6949500" cy="5332200"/>
          </a:xfrm>
          <a:prstGeom prst="roundRect">
            <a:avLst>
              <a:gd name="adj" fmla="val 1224"/>
            </a:avLst>
          </a:prstGeom>
          <a:solidFill>
            <a:srgbClr val="16202A"/>
          </a:solidFill>
          <a:ln w="12700" cap="flat" cmpd="sng">
            <a:solidFill>
              <a:srgbClr val="1620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3" name="Google Shape;313;p15"/>
          <p:cNvSpPr txBox="1"/>
          <p:nvPr/>
        </p:nvSpPr>
        <p:spPr>
          <a:xfrm>
            <a:off x="822950" y="1554900"/>
            <a:ext cx="6400800" cy="50403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US" dirty="0">
                <a:solidFill>
                  <a:srgbClr val="E6EDED"/>
                </a:solidFill>
                <a:latin typeface="Courier New"/>
                <a:ea typeface="Courier New"/>
                <a:cs typeface="Courier New"/>
                <a:sym typeface="Courier New"/>
              </a:rPr>
              <a:t>THIS CHAT IS ABOUT:</a:t>
            </a:r>
            <a:endParaRPr dirty="0">
              <a:solidFill>
                <a:srgbClr val="E6EDED"/>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en-US" dirty="0">
                <a:solidFill>
                  <a:srgbClr val="E6EDED"/>
                </a:solidFill>
                <a:latin typeface="Courier New"/>
                <a:ea typeface="Courier New"/>
                <a:cs typeface="Courier New"/>
                <a:sym typeface="Courier New"/>
              </a:rPr>
              <a:t>Interviews about [PROCESS] at a company like [COMPANY] for my Systems Analysis and Design class.</a:t>
            </a:r>
            <a:endParaRPr dirty="0">
              <a:solidFill>
                <a:srgbClr val="E6EDED"/>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endParaRPr dirty="0">
              <a:solidFill>
                <a:srgbClr val="E6EDED"/>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en-US" dirty="0">
                <a:solidFill>
                  <a:srgbClr val="E6EDED"/>
                </a:solidFill>
                <a:latin typeface="Courier New"/>
                <a:ea typeface="Courier New"/>
                <a:cs typeface="Courier New"/>
                <a:sym typeface="Courier New"/>
              </a:rPr>
              <a:t>YOUR ROLE:</a:t>
            </a:r>
            <a:endParaRPr dirty="0">
              <a:solidFill>
                <a:srgbClr val="E6EDED"/>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en-US" dirty="0">
                <a:solidFill>
                  <a:srgbClr val="E6EDED"/>
                </a:solidFill>
                <a:latin typeface="Courier New"/>
                <a:ea typeface="Courier New"/>
                <a:cs typeface="Courier New"/>
                <a:sym typeface="Courier New"/>
              </a:rPr>
              <a:t>You are the [OPERATIONAL MANAGER] at a company like [COMPANY].</a:t>
            </a:r>
            <a:endParaRPr dirty="0">
              <a:solidFill>
                <a:srgbClr val="E6EDED"/>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endParaRPr dirty="0">
              <a:solidFill>
                <a:srgbClr val="E6EDED"/>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en-US" dirty="0">
                <a:solidFill>
                  <a:srgbClr val="E6EDED"/>
                </a:solidFill>
                <a:latin typeface="Courier New"/>
                <a:ea typeface="Courier New"/>
                <a:cs typeface="Courier New"/>
                <a:sym typeface="Courier New"/>
              </a:rPr>
              <a:t>ROLE DESCRIPTION:</a:t>
            </a:r>
            <a:endParaRPr dirty="0">
              <a:solidFill>
                <a:srgbClr val="E6EDED"/>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en-US" dirty="0">
                <a:solidFill>
                  <a:srgbClr val="E6EDED"/>
                </a:solidFill>
                <a:latin typeface="Courier New"/>
                <a:ea typeface="Courier New"/>
                <a:cs typeface="Courier New"/>
                <a:sym typeface="Courier New"/>
              </a:rPr>
              <a:t>You run day-to-day operations. You know the workflows, business rules, and problems that come up. </a:t>
            </a:r>
            <a:r>
              <a:rPr lang="en-US" dirty="0">
                <a:solidFill>
                  <a:srgbClr val="FF0000"/>
                </a:solidFill>
                <a:latin typeface="Courier New"/>
                <a:ea typeface="Courier New"/>
                <a:cs typeface="Courier New"/>
                <a:sym typeface="Courier New"/>
              </a:rPr>
              <a:t>[it is not a fixed text and you should provide more info here]</a:t>
            </a:r>
            <a:endParaRPr dirty="0">
              <a:solidFill>
                <a:srgbClr val="FF0000"/>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endParaRPr dirty="0">
              <a:solidFill>
                <a:srgbClr val="FF0000"/>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en-US" dirty="0">
                <a:solidFill>
                  <a:srgbClr val="E6EDED"/>
                </a:solidFill>
                <a:latin typeface="Courier New"/>
                <a:ea typeface="Courier New"/>
                <a:cs typeface="Courier New"/>
                <a:sym typeface="Courier New"/>
              </a:rPr>
              <a:t>WHAT YOU WILL DO:</a:t>
            </a:r>
            <a:endParaRPr dirty="0">
              <a:solidFill>
                <a:srgbClr val="E6EDED"/>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en-US" dirty="0">
                <a:solidFill>
                  <a:srgbClr val="E6EDED"/>
                </a:solidFill>
                <a:latin typeface="Courier New"/>
                <a:ea typeface="Courier New"/>
                <a:cs typeface="Courier New"/>
                <a:sym typeface="Courier New"/>
              </a:rPr>
              <a:t>Answer my interview questions about how the work is done step by step, including what happens when something goes wrong.</a:t>
            </a:r>
            <a:endParaRPr dirty="0">
              <a:solidFill>
                <a:srgbClr val="E6EDED"/>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endParaRPr dirty="0">
              <a:solidFill>
                <a:srgbClr val="E6EDED"/>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en-US" dirty="0">
                <a:solidFill>
                  <a:srgbClr val="E6EDED"/>
                </a:solidFill>
                <a:latin typeface="Courier New"/>
                <a:ea typeface="Courier New"/>
                <a:cs typeface="Courier New"/>
                <a:sym typeface="Courier New"/>
              </a:rPr>
              <a:t>Keep answers short and simple. If you don't know something, say "I don't know." Wait for my first question.</a:t>
            </a:r>
            <a:endParaRPr dirty="0">
              <a:solidFill>
                <a:srgbClr val="E6EDED"/>
              </a:solidFill>
              <a:latin typeface="Courier New"/>
              <a:ea typeface="Courier New"/>
              <a:cs typeface="Courier New"/>
              <a:sym typeface="Courier New"/>
            </a:endParaRPr>
          </a:p>
          <a:p>
            <a:pPr marL="0" marR="0" lvl="0" indent="0" algn="l" rtl="0">
              <a:spcBef>
                <a:spcPts val="0"/>
              </a:spcBef>
              <a:spcAft>
                <a:spcPts val="0"/>
              </a:spcAft>
              <a:buClr>
                <a:srgbClr val="E6EDED"/>
              </a:buClr>
              <a:buSzPts val="2000"/>
              <a:buFont typeface="Courier New"/>
              <a:buNone/>
            </a:pPr>
            <a:endParaRPr sz="2000" dirty="0">
              <a:solidFill>
                <a:srgbClr val="E6EDED"/>
              </a:solidFill>
              <a:latin typeface="Courier New"/>
              <a:ea typeface="Courier New"/>
              <a:cs typeface="Courier New"/>
              <a:sym typeface="Courier New"/>
            </a:endParaRPr>
          </a:p>
        </p:txBody>
      </p:sp>
      <p:sp>
        <p:nvSpPr>
          <p:cNvPr id="314" name="Google Shape;314;p15"/>
          <p:cNvSpPr/>
          <p:nvPr/>
        </p:nvSpPr>
        <p:spPr>
          <a:xfrm>
            <a:off x="7863850" y="1371550"/>
            <a:ext cx="3749100" cy="5332200"/>
          </a:xfrm>
          <a:prstGeom prst="roundRect">
            <a:avLst>
              <a:gd name="adj" fmla="val 1951"/>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5" name="Google Shape;315;p15"/>
          <p:cNvSpPr txBox="1"/>
          <p:nvPr/>
        </p:nvSpPr>
        <p:spPr>
          <a:xfrm>
            <a:off x="8046758" y="1554907"/>
            <a:ext cx="3383400" cy="548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200"/>
              <a:buFont typeface="Calibri"/>
              <a:buNone/>
            </a:pPr>
            <a:r>
              <a:rPr lang="en-US" sz="2200" b="1">
                <a:solidFill>
                  <a:srgbClr val="1F2933"/>
                </a:solidFill>
                <a:latin typeface="Calibri"/>
                <a:ea typeface="Calibri"/>
                <a:cs typeface="Calibri"/>
                <a:sym typeface="Calibri"/>
              </a:rPr>
              <a:t>Tips</a:t>
            </a:r>
            <a:endParaRPr sz="2200">
              <a:solidFill>
                <a:schemeClr val="dk1"/>
              </a:solidFill>
              <a:latin typeface="Calibri"/>
              <a:ea typeface="Calibri"/>
              <a:cs typeface="Calibri"/>
              <a:sym typeface="Calibri"/>
            </a:endParaRPr>
          </a:p>
        </p:txBody>
      </p:sp>
      <p:sp>
        <p:nvSpPr>
          <p:cNvPr id="316" name="Google Shape;316;p15"/>
          <p:cNvSpPr txBox="1"/>
          <p:nvPr/>
        </p:nvSpPr>
        <p:spPr>
          <a:xfrm>
            <a:off x="8046758" y="2149267"/>
            <a:ext cx="3383400" cy="3566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1900"/>
              <a:buFont typeface="Calibri"/>
              <a:buNone/>
            </a:pPr>
            <a:r>
              <a:rPr lang="en-US" sz="1900">
                <a:solidFill>
                  <a:srgbClr val="334155"/>
                </a:solidFill>
                <a:latin typeface="Calibri"/>
                <a:ea typeface="Calibri"/>
                <a:cs typeface="Calibri"/>
                <a:sym typeface="Calibri"/>
              </a:rPr>
              <a:t>Ask one question at a time</a:t>
            </a:r>
            <a:endParaRPr sz="19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900"/>
              <a:buFont typeface="Calibri"/>
              <a:buNone/>
            </a:pPr>
            <a:endParaRPr sz="19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1900"/>
              <a:buFont typeface="Calibri"/>
              <a:buNone/>
            </a:pPr>
            <a:r>
              <a:rPr lang="en-US" sz="1900">
                <a:solidFill>
                  <a:srgbClr val="334155"/>
                </a:solidFill>
                <a:latin typeface="Calibri"/>
                <a:ea typeface="Calibri"/>
                <a:cs typeface="Calibri"/>
                <a:sym typeface="Calibri"/>
              </a:rPr>
              <a:t>Ask "Why?" and "What if something goes wrong?"</a:t>
            </a:r>
            <a:endParaRPr sz="19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900"/>
              <a:buFont typeface="Calibri"/>
              <a:buNone/>
            </a:pPr>
            <a:endParaRPr sz="19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1900"/>
              <a:buFont typeface="Calibri"/>
              <a:buNone/>
            </a:pPr>
            <a:r>
              <a:rPr lang="en-US" sz="1900">
                <a:solidFill>
                  <a:srgbClr val="334155"/>
                </a:solidFill>
                <a:latin typeface="Calibri"/>
                <a:ea typeface="Calibri"/>
                <a:cs typeface="Calibri"/>
                <a:sym typeface="Calibri"/>
              </a:rPr>
              <a:t>When done, type:</a:t>
            </a:r>
            <a:endParaRPr sz="19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1900"/>
              <a:buFont typeface="Calibri"/>
              <a:buNone/>
            </a:pPr>
            <a:r>
              <a:rPr lang="en-US" sz="1900">
                <a:solidFill>
                  <a:srgbClr val="334155"/>
                </a:solidFill>
                <a:latin typeface="Calibri"/>
                <a:ea typeface="Calibri"/>
                <a:cs typeface="Calibri"/>
                <a:sym typeface="Calibri"/>
              </a:rPr>
              <a:t>1-"What did you tell me that I should check?“</a:t>
            </a:r>
            <a:endParaRPr/>
          </a:p>
          <a:p>
            <a:pPr marL="0" marR="0" lvl="0" indent="0" algn="l" rtl="0">
              <a:spcBef>
                <a:spcPts val="0"/>
              </a:spcBef>
              <a:spcAft>
                <a:spcPts val="0"/>
              </a:spcAft>
              <a:buClr>
                <a:schemeClr val="dk1"/>
              </a:buClr>
              <a:buSzPts val="1900"/>
              <a:buFont typeface="Calibri"/>
              <a:buNone/>
            </a:pPr>
            <a:r>
              <a:rPr lang="en-US" sz="1900">
                <a:solidFill>
                  <a:schemeClr val="dk1"/>
                </a:solidFill>
                <a:latin typeface="Calibri"/>
                <a:ea typeface="Calibri"/>
                <a:cs typeface="Calibri"/>
                <a:sym typeface="Calibri"/>
              </a:rPr>
              <a:t>2- add your resources if possible, I want to double check the responses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pic>
        <p:nvPicPr>
          <p:cNvPr id="321" name="Google Shape;321;h4b9170333d724588_0_4"/>
          <p:cNvPicPr preferRelativeResize="0"/>
          <p:nvPr/>
        </p:nvPicPr>
        <p:blipFill>
          <a:blip r:embed="rId3">
            <a:alphaModFix/>
          </a:blip>
          <a:stretch>
            <a:fillRect/>
          </a:stretch>
        </p:blipFill>
        <p:spPr>
          <a:xfrm>
            <a:off x="152400" y="152400"/>
            <a:ext cx="11887201" cy="632571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pic>
        <p:nvPicPr>
          <p:cNvPr id="326" name="Google Shape;326;h4b9170333d724588_0_8"/>
          <p:cNvPicPr preferRelativeResize="0"/>
          <p:nvPr/>
        </p:nvPicPr>
        <p:blipFill>
          <a:blip r:embed="rId3">
            <a:alphaModFix/>
          </a:blip>
          <a:stretch>
            <a:fillRect/>
          </a:stretch>
        </p:blipFill>
        <p:spPr>
          <a:xfrm>
            <a:off x="152400" y="152400"/>
            <a:ext cx="11887201" cy="632571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pic>
        <p:nvPicPr>
          <p:cNvPr id="331" name="Google Shape;331;h4b9170333d724588_0_14"/>
          <p:cNvPicPr preferRelativeResize="0"/>
          <p:nvPr/>
        </p:nvPicPr>
        <p:blipFill>
          <a:blip r:embed="rId3">
            <a:alphaModFix/>
          </a:blip>
          <a:stretch>
            <a:fillRect/>
          </a:stretch>
        </p:blipFill>
        <p:spPr>
          <a:xfrm>
            <a:off x="152400" y="152400"/>
            <a:ext cx="11887201" cy="632571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h4b9170333d724588_0_18"/>
          <p:cNvPicPr preferRelativeResize="0"/>
          <p:nvPr/>
        </p:nvPicPr>
        <p:blipFill>
          <a:blip r:embed="rId3">
            <a:alphaModFix/>
          </a:blip>
          <a:stretch>
            <a:fillRect/>
          </a:stretch>
        </p:blipFill>
        <p:spPr>
          <a:xfrm>
            <a:off x="152400" y="152400"/>
            <a:ext cx="11887201" cy="632571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pic>
        <p:nvPicPr>
          <p:cNvPr id="341" name="Google Shape;341;h4b9170333d724588_0_23"/>
          <p:cNvPicPr preferRelativeResize="0"/>
          <p:nvPr/>
        </p:nvPicPr>
        <p:blipFill>
          <a:blip r:embed="rId3">
            <a:alphaModFix/>
          </a:blip>
          <a:stretch>
            <a:fillRect/>
          </a:stretch>
        </p:blipFill>
        <p:spPr>
          <a:xfrm>
            <a:off x="152400" y="152400"/>
            <a:ext cx="11887201" cy="632571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6"/>
        <p:cNvGrpSpPr/>
        <p:nvPr/>
      </p:nvGrpSpPr>
      <p:grpSpPr>
        <a:xfrm>
          <a:off x="0" y="0"/>
          <a:ext cx="0" cy="0"/>
          <a:chOff x="0" y="0"/>
          <a:chExt cx="0" cy="0"/>
        </a:xfrm>
      </p:grpSpPr>
      <p:sp>
        <p:nvSpPr>
          <p:cNvPr id="347" name="Google Shape;347;p18"/>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FACT, INFERENCE, ASSUMPTION</a:t>
            </a:r>
            <a:endParaRPr sz="1100">
              <a:solidFill>
                <a:schemeClr val="dk1"/>
              </a:solidFill>
              <a:latin typeface="Calibri"/>
              <a:ea typeface="Calibri"/>
              <a:cs typeface="Calibri"/>
              <a:sym typeface="Calibri"/>
            </a:endParaRPr>
          </a:p>
        </p:txBody>
      </p:sp>
      <p:sp>
        <p:nvSpPr>
          <p:cNvPr id="348" name="Google Shape;348;p18"/>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Label every claim as a Fact, an Inference, or an Assumption</a:t>
            </a:r>
            <a:endParaRPr sz="2800">
              <a:solidFill>
                <a:schemeClr val="dk1"/>
              </a:solidFill>
              <a:latin typeface="Calibri"/>
              <a:ea typeface="Calibri"/>
              <a:cs typeface="Calibri"/>
              <a:sym typeface="Calibri"/>
            </a:endParaRPr>
          </a:p>
        </p:txBody>
      </p:sp>
      <p:sp>
        <p:nvSpPr>
          <p:cNvPr id="349" name="Google Shape;349;p18"/>
          <p:cNvSpPr/>
          <p:nvPr/>
        </p:nvSpPr>
        <p:spPr>
          <a:xfrm>
            <a:off x="548640" y="1691640"/>
            <a:ext cx="3474720" cy="3291840"/>
          </a:xfrm>
          <a:prstGeom prst="roundRect">
            <a:avLst>
              <a:gd name="adj" fmla="val 2778"/>
            </a:avLst>
          </a:prstGeom>
          <a:solidFill>
            <a:srgbClr val="E3F1E8"/>
          </a:solidFill>
          <a:ln w="12700" cap="flat" cmpd="sng">
            <a:solidFill>
              <a:srgbClr val="E3F1E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0" name="Google Shape;350;p18"/>
          <p:cNvSpPr/>
          <p:nvPr/>
        </p:nvSpPr>
        <p:spPr>
          <a:xfrm>
            <a:off x="1828800" y="1920240"/>
            <a:ext cx="914400" cy="914400"/>
          </a:xfrm>
          <a:prstGeom prst="ellipse">
            <a:avLst/>
          </a:prstGeom>
          <a:solidFill>
            <a:srgbClr val="2E7D4F"/>
          </a:solidFill>
          <a:ln w="12700" cap="flat" cmpd="sng">
            <a:solidFill>
              <a:srgbClr val="2E7D4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1" name="Google Shape;351;p18"/>
          <p:cNvSpPr txBox="1"/>
          <p:nvPr/>
        </p:nvSpPr>
        <p:spPr>
          <a:xfrm>
            <a:off x="1828800" y="1920240"/>
            <a:ext cx="91440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3400"/>
              <a:buFont typeface="Calibri"/>
              <a:buNone/>
            </a:pPr>
            <a:r>
              <a:rPr lang="en-US" sz="3400" b="1">
                <a:solidFill>
                  <a:srgbClr val="FFFFFF"/>
                </a:solidFill>
                <a:latin typeface="Calibri"/>
                <a:ea typeface="Calibri"/>
                <a:cs typeface="Calibri"/>
                <a:sym typeface="Calibri"/>
              </a:rPr>
              <a:t>F</a:t>
            </a:r>
            <a:endParaRPr sz="3400">
              <a:solidFill>
                <a:schemeClr val="dk1"/>
              </a:solidFill>
              <a:latin typeface="Calibri"/>
              <a:ea typeface="Calibri"/>
              <a:cs typeface="Calibri"/>
              <a:sym typeface="Calibri"/>
            </a:endParaRPr>
          </a:p>
        </p:txBody>
      </p:sp>
      <p:sp>
        <p:nvSpPr>
          <p:cNvPr id="352" name="Google Shape;352;p18"/>
          <p:cNvSpPr txBox="1"/>
          <p:nvPr/>
        </p:nvSpPr>
        <p:spPr>
          <a:xfrm>
            <a:off x="548640" y="2971800"/>
            <a:ext cx="3474720" cy="5486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2E7D4F"/>
              </a:buClr>
              <a:buSzPts val="2800"/>
              <a:buFont typeface="Cambria"/>
              <a:buNone/>
            </a:pPr>
            <a:r>
              <a:rPr lang="en-US" sz="2800" b="1">
                <a:solidFill>
                  <a:srgbClr val="2E7D4F"/>
                </a:solidFill>
                <a:latin typeface="Cambria"/>
                <a:ea typeface="Cambria"/>
                <a:cs typeface="Cambria"/>
                <a:sym typeface="Cambria"/>
              </a:rPr>
              <a:t>Fact</a:t>
            </a:r>
            <a:endParaRPr sz="2800">
              <a:solidFill>
                <a:schemeClr val="dk1"/>
              </a:solidFill>
              <a:latin typeface="Calibri"/>
              <a:ea typeface="Calibri"/>
              <a:cs typeface="Calibri"/>
              <a:sym typeface="Calibri"/>
            </a:endParaRPr>
          </a:p>
        </p:txBody>
      </p:sp>
      <p:sp>
        <p:nvSpPr>
          <p:cNvPr id="353" name="Google Shape;353;p18"/>
          <p:cNvSpPr txBox="1"/>
          <p:nvPr/>
        </p:nvSpPr>
        <p:spPr>
          <a:xfrm>
            <a:off x="822960" y="3566160"/>
            <a:ext cx="2926080" cy="128016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34155"/>
              </a:buClr>
              <a:buSzPts val="1700"/>
              <a:buFont typeface="Calibri"/>
              <a:buNone/>
            </a:pPr>
            <a:r>
              <a:rPr lang="en-US" sz="1700">
                <a:solidFill>
                  <a:srgbClr val="334155"/>
                </a:solidFill>
                <a:latin typeface="Calibri"/>
                <a:ea typeface="Calibri"/>
                <a:cs typeface="Calibri"/>
                <a:sym typeface="Calibri"/>
              </a:rPr>
              <a:t>You saw it yourself, or it is written in a public source anyone can check.</a:t>
            </a:r>
            <a:endParaRPr sz="1700">
              <a:solidFill>
                <a:schemeClr val="dk1"/>
              </a:solidFill>
              <a:latin typeface="Calibri"/>
              <a:ea typeface="Calibri"/>
              <a:cs typeface="Calibri"/>
              <a:sym typeface="Calibri"/>
            </a:endParaRPr>
          </a:p>
        </p:txBody>
      </p:sp>
      <p:sp>
        <p:nvSpPr>
          <p:cNvPr id="354" name="Google Shape;354;p18"/>
          <p:cNvSpPr/>
          <p:nvPr/>
        </p:nvSpPr>
        <p:spPr>
          <a:xfrm>
            <a:off x="4297680" y="1691640"/>
            <a:ext cx="3474720" cy="3291840"/>
          </a:xfrm>
          <a:prstGeom prst="roundRect">
            <a:avLst>
              <a:gd name="adj" fmla="val 2778"/>
            </a:avLst>
          </a:prstGeom>
          <a:solidFill>
            <a:srgbClr val="F8EEDC"/>
          </a:solidFill>
          <a:ln w="12700" cap="flat" cmpd="sng">
            <a:solidFill>
              <a:srgbClr val="F8EED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5" name="Google Shape;355;p18"/>
          <p:cNvSpPr/>
          <p:nvPr/>
        </p:nvSpPr>
        <p:spPr>
          <a:xfrm>
            <a:off x="5577840" y="1920240"/>
            <a:ext cx="914400" cy="914400"/>
          </a:xfrm>
          <a:prstGeom prst="ellipse">
            <a:avLst/>
          </a:prstGeom>
          <a:solidFill>
            <a:srgbClr val="B7791F"/>
          </a:solidFill>
          <a:ln w="12700" cap="flat" cmpd="sng">
            <a:solidFill>
              <a:srgbClr val="B7791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6" name="Google Shape;356;p18"/>
          <p:cNvSpPr txBox="1"/>
          <p:nvPr/>
        </p:nvSpPr>
        <p:spPr>
          <a:xfrm>
            <a:off x="5577840" y="1920240"/>
            <a:ext cx="91440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3400"/>
              <a:buFont typeface="Calibri"/>
              <a:buNone/>
            </a:pPr>
            <a:r>
              <a:rPr lang="en-US" sz="3400" b="1">
                <a:solidFill>
                  <a:srgbClr val="FFFFFF"/>
                </a:solidFill>
                <a:latin typeface="Calibri"/>
                <a:ea typeface="Calibri"/>
                <a:cs typeface="Calibri"/>
                <a:sym typeface="Calibri"/>
              </a:rPr>
              <a:t>I</a:t>
            </a:r>
            <a:endParaRPr sz="3400">
              <a:solidFill>
                <a:schemeClr val="dk1"/>
              </a:solidFill>
              <a:latin typeface="Calibri"/>
              <a:ea typeface="Calibri"/>
              <a:cs typeface="Calibri"/>
              <a:sym typeface="Calibri"/>
            </a:endParaRPr>
          </a:p>
        </p:txBody>
      </p:sp>
      <p:sp>
        <p:nvSpPr>
          <p:cNvPr id="357" name="Google Shape;357;p18"/>
          <p:cNvSpPr txBox="1"/>
          <p:nvPr/>
        </p:nvSpPr>
        <p:spPr>
          <a:xfrm>
            <a:off x="4297680" y="2971800"/>
            <a:ext cx="3474720" cy="5486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B7791F"/>
              </a:buClr>
              <a:buSzPts val="2800"/>
              <a:buFont typeface="Cambria"/>
              <a:buNone/>
            </a:pPr>
            <a:r>
              <a:rPr lang="en-US" sz="2800" b="1">
                <a:solidFill>
                  <a:srgbClr val="B7791F"/>
                </a:solidFill>
                <a:latin typeface="Cambria"/>
                <a:ea typeface="Cambria"/>
                <a:cs typeface="Cambria"/>
                <a:sym typeface="Cambria"/>
              </a:rPr>
              <a:t>Inference</a:t>
            </a:r>
            <a:endParaRPr sz="2800">
              <a:solidFill>
                <a:schemeClr val="dk1"/>
              </a:solidFill>
              <a:latin typeface="Calibri"/>
              <a:ea typeface="Calibri"/>
              <a:cs typeface="Calibri"/>
              <a:sym typeface="Calibri"/>
            </a:endParaRPr>
          </a:p>
        </p:txBody>
      </p:sp>
      <p:sp>
        <p:nvSpPr>
          <p:cNvPr id="358" name="Google Shape;358;p18"/>
          <p:cNvSpPr txBox="1"/>
          <p:nvPr/>
        </p:nvSpPr>
        <p:spPr>
          <a:xfrm>
            <a:off x="4572000" y="3566160"/>
            <a:ext cx="2926080" cy="128016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34155"/>
              </a:buClr>
              <a:buSzPts val="1700"/>
              <a:buFont typeface="Calibri"/>
              <a:buNone/>
            </a:pPr>
            <a:r>
              <a:rPr lang="en-US" sz="1700">
                <a:solidFill>
                  <a:srgbClr val="334155"/>
                </a:solidFill>
                <a:latin typeface="Calibri"/>
                <a:ea typeface="Calibri"/>
                <a:cs typeface="Calibri"/>
                <a:sym typeface="Calibri"/>
              </a:rPr>
              <a:t>A logical conclusion you reached from one or more facts.</a:t>
            </a:r>
            <a:endParaRPr sz="1700">
              <a:solidFill>
                <a:schemeClr val="dk1"/>
              </a:solidFill>
              <a:latin typeface="Calibri"/>
              <a:ea typeface="Calibri"/>
              <a:cs typeface="Calibri"/>
              <a:sym typeface="Calibri"/>
            </a:endParaRPr>
          </a:p>
        </p:txBody>
      </p:sp>
      <p:sp>
        <p:nvSpPr>
          <p:cNvPr id="359" name="Google Shape;359;p18"/>
          <p:cNvSpPr/>
          <p:nvPr/>
        </p:nvSpPr>
        <p:spPr>
          <a:xfrm>
            <a:off x="8046720" y="1691640"/>
            <a:ext cx="3474720" cy="3291840"/>
          </a:xfrm>
          <a:prstGeom prst="roundRect">
            <a:avLst>
              <a:gd name="adj" fmla="val 2778"/>
            </a:avLst>
          </a:prstGeom>
          <a:solidFill>
            <a:srgbClr val="F6E1E5"/>
          </a:solidFill>
          <a:ln w="12700" cap="flat" cmpd="sng">
            <a:solidFill>
              <a:srgbClr val="F6E1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0" name="Google Shape;360;p18"/>
          <p:cNvSpPr/>
          <p:nvPr/>
        </p:nvSpPr>
        <p:spPr>
          <a:xfrm>
            <a:off x="9326880" y="1920240"/>
            <a:ext cx="914400" cy="914400"/>
          </a:xfrm>
          <a:prstGeom prst="ellipse">
            <a:avLst/>
          </a:prstGeom>
          <a:solidFill>
            <a:srgbClr val="B23A48"/>
          </a:solidFill>
          <a:ln w="12700" cap="flat" cmpd="sng">
            <a:solidFill>
              <a:srgbClr val="B23A4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1" name="Google Shape;361;p18"/>
          <p:cNvSpPr txBox="1"/>
          <p:nvPr/>
        </p:nvSpPr>
        <p:spPr>
          <a:xfrm>
            <a:off x="9326880" y="1920240"/>
            <a:ext cx="91440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3400"/>
              <a:buFont typeface="Calibri"/>
              <a:buNone/>
            </a:pPr>
            <a:r>
              <a:rPr lang="en-US" sz="3400" b="1">
                <a:solidFill>
                  <a:srgbClr val="FFFFFF"/>
                </a:solidFill>
                <a:latin typeface="Calibri"/>
                <a:ea typeface="Calibri"/>
                <a:cs typeface="Calibri"/>
                <a:sym typeface="Calibri"/>
              </a:rPr>
              <a:t>A</a:t>
            </a:r>
            <a:endParaRPr sz="3400">
              <a:solidFill>
                <a:schemeClr val="dk1"/>
              </a:solidFill>
              <a:latin typeface="Calibri"/>
              <a:ea typeface="Calibri"/>
              <a:cs typeface="Calibri"/>
              <a:sym typeface="Calibri"/>
            </a:endParaRPr>
          </a:p>
        </p:txBody>
      </p:sp>
      <p:sp>
        <p:nvSpPr>
          <p:cNvPr id="362" name="Google Shape;362;p18"/>
          <p:cNvSpPr txBox="1"/>
          <p:nvPr/>
        </p:nvSpPr>
        <p:spPr>
          <a:xfrm>
            <a:off x="8046720" y="2971800"/>
            <a:ext cx="3474720" cy="5486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B23A48"/>
              </a:buClr>
              <a:buSzPts val="2800"/>
              <a:buFont typeface="Cambria"/>
              <a:buNone/>
            </a:pPr>
            <a:r>
              <a:rPr lang="en-US" sz="2800" b="1">
                <a:solidFill>
                  <a:srgbClr val="B23A48"/>
                </a:solidFill>
                <a:latin typeface="Cambria"/>
                <a:ea typeface="Cambria"/>
                <a:cs typeface="Cambria"/>
                <a:sym typeface="Cambria"/>
              </a:rPr>
              <a:t>Assumption</a:t>
            </a:r>
            <a:endParaRPr sz="2800">
              <a:solidFill>
                <a:schemeClr val="dk1"/>
              </a:solidFill>
              <a:latin typeface="Calibri"/>
              <a:ea typeface="Calibri"/>
              <a:cs typeface="Calibri"/>
              <a:sym typeface="Calibri"/>
            </a:endParaRPr>
          </a:p>
        </p:txBody>
      </p:sp>
      <p:sp>
        <p:nvSpPr>
          <p:cNvPr id="363" name="Google Shape;363;p18"/>
          <p:cNvSpPr txBox="1"/>
          <p:nvPr/>
        </p:nvSpPr>
        <p:spPr>
          <a:xfrm>
            <a:off x="8321040" y="3566160"/>
            <a:ext cx="2926080" cy="128016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34155"/>
              </a:buClr>
              <a:buSzPts val="1700"/>
              <a:buFont typeface="Calibri"/>
              <a:buNone/>
            </a:pPr>
            <a:r>
              <a:rPr lang="en-US" sz="1700">
                <a:solidFill>
                  <a:srgbClr val="334155"/>
                </a:solidFill>
                <a:latin typeface="Calibri"/>
                <a:ea typeface="Calibri"/>
                <a:cs typeface="Calibri"/>
                <a:sym typeface="Calibri"/>
              </a:rPr>
              <a:t>Something you believe but cannot support yet — including anything if you chat with AI.</a:t>
            </a:r>
            <a:endParaRPr sz="1700">
              <a:solidFill>
                <a:schemeClr val="dk1"/>
              </a:solidFill>
              <a:latin typeface="Calibri"/>
              <a:ea typeface="Calibri"/>
              <a:cs typeface="Calibri"/>
              <a:sym typeface="Calibri"/>
            </a:endParaRPr>
          </a:p>
        </p:txBody>
      </p:sp>
      <p:sp>
        <p:nvSpPr>
          <p:cNvPr id="364" name="Google Shape;364;p18"/>
          <p:cNvSpPr/>
          <p:nvPr/>
        </p:nvSpPr>
        <p:spPr>
          <a:xfrm>
            <a:off x="548640" y="5257800"/>
            <a:ext cx="11064240" cy="914400"/>
          </a:xfrm>
          <a:prstGeom prst="roundRect">
            <a:avLst>
              <a:gd name="adj" fmla="val 8000"/>
            </a:avLst>
          </a:prstGeom>
          <a:solidFill>
            <a:srgbClr val="1F2933"/>
          </a:solidFill>
          <a:ln w="12700" cap="flat" cmpd="sng">
            <a:solidFill>
              <a:srgbClr val="1F293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5" name="Google Shape;365;p18"/>
          <p:cNvSpPr txBox="1"/>
          <p:nvPr/>
        </p:nvSpPr>
        <p:spPr>
          <a:xfrm>
            <a:off x="548640" y="5257800"/>
            <a:ext cx="1106424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Something the AI said is never a Fact by itself.</a:t>
            </a:r>
            <a:endParaRPr sz="22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0"/>
        <p:cNvGrpSpPr/>
        <p:nvPr/>
      </p:nvGrpSpPr>
      <p:grpSpPr>
        <a:xfrm>
          <a:off x="0" y="0"/>
          <a:ext cx="0" cy="0"/>
          <a:chOff x="0" y="0"/>
          <a:chExt cx="0" cy="0"/>
        </a:xfrm>
      </p:grpSpPr>
      <p:sp>
        <p:nvSpPr>
          <p:cNvPr id="371" name="Google Shape;371;p19"/>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YOUR LOGS</a:t>
            </a:r>
            <a:endParaRPr sz="1100">
              <a:solidFill>
                <a:schemeClr val="dk1"/>
              </a:solidFill>
              <a:latin typeface="Calibri"/>
              <a:ea typeface="Calibri"/>
              <a:cs typeface="Calibri"/>
              <a:sym typeface="Calibri"/>
            </a:endParaRPr>
          </a:p>
        </p:txBody>
      </p:sp>
      <p:sp>
        <p:nvSpPr>
          <p:cNvPr id="372" name="Google Shape;372;p19"/>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Keep three logs and update them at every milestone</a:t>
            </a:r>
            <a:endParaRPr sz="2800">
              <a:solidFill>
                <a:schemeClr val="dk1"/>
              </a:solidFill>
              <a:latin typeface="Calibri"/>
              <a:ea typeface="Calibri"/>
              <a:cs typeface="Calibri"/>
              <a:sym typeface="Calibri"/>
            </a:endParaRPr>
          </a:p>
        </p:txBody>
      </p:sp>
      <p:sp>
        <p:nvSpPr>
          <p:cNvPr id="373" name="Google Shape;373;p19"/>
          <p:cNvSpPr/>
          <p:nvPr/>
        </p:nvSpPr>
        <p:spPr>
          <a:xfrm>
            <a:off x="548640" y="1737360"/>
            <a:ext cx="11064240" cy="1234440"/>
          </a:xfrm>
          <a:prstGeom prst="roundRect">
            <a:avLst>
              <a:gd name="adj" fmla="val 7407"/>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4" name="Google Shape;374;p19"/>
          <p:cNvSpPr txBox="1"/>
          <p:nvPr/>
        </p:nvSpPr>
        <p:spPr>
          <a:xfrm>
            <a:off x="868680" y="1737360"/>
            <a:ext cx="3657600" cy="12344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400"/>
              <a:buFont typeface="Cambria"/>
              <a:buNone/>
            </a:pPr>
            <a:r>
              <a:rPr lang="en-US" sz="2400" b="1">
                <a:solidFill>
                  <a:srgbClr val="1F2933"/>
                </a:solidFill>
                <a:latin typeface="Cambria"/>
                <a:ea typeface="Cambria"/>
                <a:cs typeface="Cambria"/>
                <a:sym typeface="Cambria"/>
              </a:rPr>
              <a:t>Evidence Log</a:t>
            </a:r>
            <a:endParaRPr sz="2400">
              <a:solidFill>
                <a:schemeClr val="dk1"/>
              </a:solidFill>
              <a:latin typeface="Calibri"/>
              <a:ea typeface="Calibri"/>
              <a:cs typeface="Calibri"/>
              <a:sym typeface="Calibri"/>
            </a:endParaRPr>
          </a:p>
        </p:txBody>
      </p:sp>
      <p:sp>
        <p:nvSpPr>
          <p:cNvPr id="375" name="Google Shape;375;p19"/>
          <p:cNvSpPr txBox="1"/>
          <p:nvPr/>
        </p:nvSpPr>
        <p:spPr>
          <a:xfrm>
            <a:off x="4572000" y="1737360"/>
            <a:ext cx="6766560" cy="12344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4155"/>
              </a:buClr>
              <a:buSzPts val="1900"/>
              <a:buFont typeface="Calibri"/>
              <a:buNone/>
            </a:pPr>
            <a:r>
              <a:rPr lang="en-US" sz="1900">
                <a:solidFill>
                  <a:srgbClr val="334155"/>
                </a:solidFill>
                <a:latin typeface="Calibri"/>
                <a:ea typeface="Calibri"/>
                <a:cs typeface="Calibri"/>
                <a:sym typeface="Calibri"/>
              </a:rPr>
              <a:t>What you found, where you found it, and the date</a:t>
            </a:r>
            <a:endParaRPr sz="1900">
              <a:solidFill>
                <a:schemeClr val="dk1"/>
              </a:solidFill>
              <a:latin typeface="Calibri"/>
              <a:ea typeface="Calibri"/>
              <a:cs typeface="Calibri"/>
              <a:sym typeface="Calibri"/>
            </a:endParaRPr>
          </a:p>
        </p:txBody>
      </p:sp>
      <p:sp>
        <p:nvSpPr>
          <p:cNvPr id="376" name="Google Shape;376;p19"/>
          <p:cNvSpPr/>
          <p:nvPr/>
        </p:nvSpPr>
        <p:spPr>
          <a:xfrm>
            <a:off x="548640" y="3200400"/>
            <a:ext cx="11064240" cy="1234440"/>
          </a:xfrm>
          <a:prstGeom prst="roundRect">
            <a:avLst>
              <a:gd name="adj" fmla="val 7407"/>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7" name="Google Shape;377;p19"/>
          <p:cNvSpPr txBox="1"/>
          <p:nvPr/>
        </p:nvSpPr>
        <p:spPr>
          <a:xfrm>
            <a:off x="868680" y="3200400"/>
            <a:ext cx="3657600" cy="12344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400"/>
              <a:buFont typeface="Cambria"/>
              <a:buNone/>
            </a:pPr>
            <a:r>
              <a:rPr lang="en-US" sz="2400" b="1">
                <a:solidFill>
                  <a:srgbClr val="1F2933"/>
                </a:solidFill>
                <a:latin typeface="Cambria"/>
                <a:ea typeface="Cambria"/>
                <a:cs typeface="Cambria"/>
                <a:sym typeface="Cambria"/>
              </a:rPr>
              <a:t>Assumption Log</a:t>
            </a:r>
            <a:endParaRPr sz="2400">
              <a:solidFill>
                <a:schemeClr val="dk1"/>
              </a:solidFill>
              <a:latin typeface="Calibri"/>
              <a:ea typeface="Calibri"/>
              <a:cs typeface="Calibri"/>
              <a:sym typeface="Calibri"/>
            </a:endParaRPr>
          </a:p>
        </p:txBody>
      </p:sp>
      <p:sp>
        <p:nvSpPr>
          <p:cNvPr id="378" name="Google Shape;378;p19"/>
          <p:cNvSpPr txBox="1"/>
          <p:nvPr/>
        </p:nvSpPr>
        <p:spPr>
          <a:xfrm>
            <a:off x="4572000" y="3200400"/>
            <a:ext cx="6766560" cy="12344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4155"/>
              </a:buClr>
              <a:buSzPts val="1900"/>
              <a:buFont typeface="Calibri"/>
              <a:buNone/>
            </a:pPr>
            <a:r>
              <a:rPr lang="en-US" sz="1900">
                <a:solidFill>
                  <a:srgbClr val="334155"/>
                </a:solidFill>
                <a:latin typeface="Calibri"/>
                <a:ea typeface="Calibri"/>
                <a:cs typeface="Calibri"/>
                <a:sym typeface="Calibri"/>
              </a:rPr>
              <a:t>What you are assuming, and how you plan to check it</a:t>
            </a:r>
            <a:endParaRPr sz="1900">
              <a:solidFill>
                <a:schemeClr val="dk1"/>
              </a:solidFill>
              <a:latin typeface="Calibri"/>
              <a:ea typeface="Calibri"/>
              <a:cs typeface="Calibri"/>
              <a:sym typeface="Calibri"/>
            </a:endParaRPr>
          </a:p>
        </p:txBody>
      </p:sp>
      <p:sp>
        <p:nvSpPr>
          <p:cNvPr id="379" name="Google Shape;379;p19"/>
          <p:cNvSpPr/>
          <p:nvPr/>
        </p:nvSpPr>
        <p:spPr>
          <a:xfrm>
            <a:off x="548640" y="4663440"/>
            <a:ext cx="11064240" cy="1234440"/>
          </a:xfrm>
          <a:prstGeom prst="roundRect">
            <a:avLst>
              <a:gd name="adj" fmla="val 7407"/>
            </a:avLst>
          </a:prstGeom>
          <a:solidFill>
            <a:srgbClr val="D6EAEA"/>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0" name="Google Shape;380;p19"/>
          <p:cNvSpPr txBox="1"/>
          <p:nvPr/>
        </p:nvSpPr>
        <p:spPr>
          <a:xfrm>
            <a:off x="868680" y="4663440"/>
            <a:ext cx="3657600" cy="12344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400"/>
              <a:buFont typeface="Cambria"/>
              <a:buNone/>
            </a:pPr>
            <a:r>
              <a:rPr lang="en-US" sz="2400" b="1">
                <a:solidFill>
                  <a:srgbClr val="1F2933"/>
                </a:solidFill>
                <a:latin typeface="Cambria"/>
                <a:ea typeface="Cambria"/>
                <a:cs typeface="Cambria"/>
                <a:sym typeface="Cambria"/>
              </a:rPr>
              <a:t>Traceability Matrix</a:t>
            </a:r>
            <a:endParaRPr sz="2400">
              <a:solidFill>
                <a:schemeClr val="dk1"/>
              </a:solidFill>
              <a:latin typeface="Calibri"/>
              <a:ea typeface="Calibri"/>
              <a:cs typeface="Calibri"/>
              <a:sym typeface="Calibri"/>
            </a:endParaRPr>
          </a:p>
        </p:txBody>
      </p:sp>
      <p:sp>
        <p:nvSpPr>
          <p:cNvPr id="381" name="Google Shape;381;p19"/>
          <p:cNvSpPr txBox="1"/>
          <p:nvPr/>
        </p:nvSpPr>
        <p:spPr>
          <a:xfrm>
            <a:off x="4572000" y="4663440"/>
            <a:ext cx="6766560" cy="12344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4155"/>
              </a:buClr>
              <a:buSzPts val="1900"/>
              <a:buFont typeface="Calibri"/>
              <a:buNone/>
            </a:pPr>
            <a:r>
              <a:rPr lang="en-US" sz="1900">
                <a:solidFill>
                  <a:srgbClr val="334155"/>
                </a:solidFill>
                <a:latin typeface="Calibri"/>
                <a:ea typeface="Calibri"/>
                <a:cs typeface="Calibri"/>
                <a:sym typeface="Calibri"/>
              </a:rPr>
              <a:t>How each requirement connects to your use cases, DFDs, ERD, and design</a:t>
            </a:r>
            <a:endParaRPr sz="1900">
              <a:solidFill>
                <a:schemeClr val="dk1"/>
              </a:solidFill>
              <a:latin typeface="Calibri"/>
              <a:ea typeface="Calibri"/>
              <a:cs typeface="Calibri"/>
              <a:sym typeface="Calibri"/>
            </a:endParaRPr>
          </a:p>
        </p:txBody>
      </p:sp>
      <p:sp>
        <p:nvSpPr>
          <p:cNvPr id="382" name="Google Shape;382;p19"/>
          <p:cNvSpPr txBox="1"/>
          <p:nvPr/>
        </p:nvSpPr>
        <p:spPr>
          <a:xfrm>
            <a:off x="548640" y="6126480"/>
            <a:ext cx="110642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B6770"/>
              </a:buClr>
              <a:buSzPts val="1600"/>
              <a:buFont typeface="Calibri"/>
              <a:buNone/>
            </a:pPr>
            <a:r>
              <a:rPr lang="en-US" sz="1600" i="1">
                <a:solidFill>
                  <a:srgbClr val="5B6770"/>
                </a:solidFill>
                <a:latin typeface="Calibri"/>
                <a:ea typeface="Calibri"/>
                <a:cs typeface="Calibri"/>
                <a:sym typeface="Calibri"/>
              </a:rPr>
              <a:t>Give every item an ID (E-01, A-01, R-01) and use the same IDs all semester.</a:t>
            </a:r>
            <a:endParaRPr sz="16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F2933"/>
        </a:solidFill>
        <a:effectLst/>
      </p:bgPr>
    </p:bg>
    <p:spTree>
      <p:nvGrpSpPr>
        <p:cNvPr id="1" name="Shape 387"/>
        <p:cNvGrpSpPr/>
        <p:nvPr/>
      </p:nvGrpSpPr>
      <p:grpSpPr>
        <a:xfrm>
          <a:off x="0" y="0"/>
          <a:ext cx="0" cy="0"/>
          <a:chOff x="0" y="0"/>
          <a:chExt cx="0" cy="0"/>
        </a:xfrm>
      </p:grpSpPr>
      <p:sp>
        <p:nvSpPr>
          <p:cNvPr id="388" name="Google Shape;388;p20"/>
          <p:cNvSpPr txBox="1"/>
          <p:nvPr/>
        </p:nvSpPr>
        <p:spPr>
          <a:xfrm>
            <a:off x="731520" y="2011680"/>
            <a:ext cx="274320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6EAEA"/>
              </a:buClr>
              <a:buSzPts val="6600"/>
              <a:buFont typeface="Cambria"/>
              <a:buNone/>
            </a:pPr>
            <a:r>
              <a:rPr lang="en-US" sz="6600" b="1">
                <a:solidFill>
                  <a:srgbClr val="D6EAEA"/>
                </a:solidFill>
                <a:latin typeface="Cambria"/>
                <a:ea typeface="Cambria"/>
                <a:cs typeface="Cambria"/>
                <a:sym typeface="Cambria"/>
              </a:rPr>
              <a:t>03</a:t>
            </a:r>
            <a:endParaRPr sz="6600">
              <a:solidFill>
                <a:schemeClr val="dk1"/>
              </a:solidFill>
              <a:latin typeface="Calibri"/>
              <a:ea typeface="Calibri"/>
              <a:cs typeface="Calibri"/>
              <a:sym typeface="Calibri"/>
            </a:endParaRPr>
          </a:p>
        </p:txBody>
      </p:sp>
      <p:sp>
        <p:nvSpPr>
          <p:cNvPr id="389" name="Google Shape;389;p20"/>
          <p:cNvSpPr txBox="1"/>
          <p:nvPr/>
        </p:nvSpPr>
        <p:spPr>
          <a:xfrm>
            <a:off x="731520" y="3154680"/>
            <a:ext cx="1005840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800"/>
              <a:buFont typeface="Cambria"/>
              <a:buNone/>
            </a:pPr>
            <a:r>
              <a:rPr lang="en-US" sz="3800" b="1">
                <a:solidFill>
                  <a:srgbClr val="FFFFFF"/>
                </a:solidFill>
                <a:latin typeface="Cambria"/>
                <a:ea typeface="Cambria"/>
                <a:cs typeface="Cambria"/>
                <a:sym typeface="Cambria"/>
              </a:rPr>
              <a:t>Rules, Teams &amp; Grading</a:t>
            </a:r>
            <a:endParaRPr sz="3800">
              <a:solidFill>
                <a:schemeClr val="dk1"/>
              </a:solidFill>
              <a:latin typeface="Calibri"/>
              <a:ea typeface="Calibri"/>
              <a:cs typeface="Calibri"/>
              <a:sym typeface="Calibri"/>
            </a:endParaRPr>
          </a:p>
        </p:txBody>
      </p:sp>
      <p:sp>
        <p:nvSpPr>
          <p:cNvPr id="390" name="Google Shape;390;p20"/>
          <p:cNvSpPr txBox="1"/>
          <p:nvPr/>
        </p:nvSpPr>
        <p:spPr>
          <a:xfrm>
            <a:off x="731520" y="4114800"/>
            <a:ext cx="914400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8C4C4"/>
              </a:buClr>
              <a:buSzPts val="1800"/>
              <a:buFont typeface="Calibri"/>
              <a:buNone/>
            </a:pPr>
            <a:r>
              <a:rPr lang="en-US" sz="1800">
                <a:solidFill>
                  <a:srgbClr val="B8C4C4"/>
                </a:solidFill>
                <a:latin typeface="Calibri"/>
                <a:ea typeface="Calibri"/>
                <a:cs typeface="Calibri"/>
                <a:sym typeface="Calibri"/>
              </a:rPr>
              <a:t>How to work, how to team up, and how you are graded</a:t>
            </a:r>
            <a:endParaRPr sz="1800">
              <a:solidFill>
                <a:schemeClr val="dk1"/>
              </a:solidFill>
              <a:latin typeface="Calibri"/>
              <a:ea typeface="Calibri"/>
              <a:cs typeface="Calibri"/>
              <a:sym typeface="Calibri"/>
            </a:endParaRPr>
          </a:p>
        </p:txBody>
      </p:sp>
      <p:sp>
        <p:nvSpPr>
          <p:cNvPr id="391" name="Google Shape;391;p20"/>
          <p:cNvSpPr/>
          <p:nvPr/>
        </p:nvSpPr>
        <p:spPr>
          <a:xfrm>
            <a:off x="731520" y="5760720"/>
            <a:ext cx="384048" cy="384048"/>
          </a:xfrm>
          <a:prstGeom prst="ellipse">
            <a:avLst/>
          </a:prstGeom>
          <a:solidFill>
            <a:srgbClr val="2E7D4F"/>
          </a:solidFill>
          <a:ln w="12700" cap="flat" cmpd="sng">
            <a:solidFill>
              <a:srgbClr val="2E7D4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2" name="Google Shape;392;p20"/>
          <p:cNvSpPr txBox="1"/>
          <p:nvPr/>
        </p:nvSpPr>
        <p:spPr>
          <a:xfrm>
            <a:off x="731520" y="576072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28"/>
              <a:buFont typeface="Calibri"/>
              <a:buNone/>
            </a:pPr>
            <a:r>
              <a:rPr lang="en-US" sz="1428" b="1">
                <a:solidFill>
                  <a:srgbClr val="FFFFFF"/>
                </a:solidFill>
                <a:latin typeface="Calibri"/>
                <a:ea typeface="Calibri"/>
                <a:cs typeface="Calibri"/>
                <a:sym typeface="Calibri"/>
              </a:rPr>
              <a:t>F</a:t>
            </a:r>
            <a:endParaRPr sz="1428">
              <a:solidFill>
                <a:schemeClr val="dk1"/>
              </a:solidFill>
              <a:latin typeface="Calibri"/>
              <a:ea typeface="Calibri"/>
              <a:cs typeface="Calibri"/>
              <a:sym typeface="Calibri"/>
            </a:endParaRPr>
          </a:p>
        </p:txBody>
      </p:sp>
      <p:sp>
        <p:nvSpPr>
          <p:cNvPr id="393" name="Google Shape;393;p20"/>
          <p:cNvSpPr/>
          <p:nvPr/>
        </p:nvSpPr>
        <p:spPr>
          <a:xfrm>
            <a:off x="1225296" y="5760720"/>
            <a:ext cx="384048" cy="384048"/>
          </a:xfrm>
          <a:prstGeom prst="ellipse">
            <a:avLst/>
          </a:prstGeom>
          <a:solidFill>
            <a:srgbClr val="B7791F"/>
          </a:solidFill>
          <a:ln w="12700" cap="flat" cmpd="sng">
            <a:solidFill>
              <a:srgbClr val="B7791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4" name="Google Shape;394;p20"/>
          <p:cNvSpPr txBox="1"/>
          <p:nvPr/>
        </p:nvSpPr>
        <p:spPr>
          <a:xfrm>
            <a:off x="1225296" y="576072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28"/>
              <a:buFont typeface="Calibri"/>
              <a:buNone/>
            </a:pPr>
            <a:r>
              <a:rPr lang="en-US" sz="1428" b="1">
                <a:solidFill>
                  <a:srgbClr val="FFFFFF"/>
                </a:solidFill>
                <a:latin typeface="Calibri"/>
                <a:ea typeface="Calibri"/>
                <a:cs typeface="Calibri"/>
                <a:sym typeface="Calibri"/>
              </a:rPr>
              <a:t>I</a:t>
            </a:r>
            <a:endParaRPr sz="1428">
              <a:solidFill>
                <a:schemeClr val="dk1"/>
              </a:solidFill>
              <a:latin typeface="Calibri"/>
              <a:ea typeface="Calibri"/>
              <a:cs typeface="Calibri"/>
              <a:sym typeface="Calibri"/>
            </a:endParaRPr>
          </a:p>
        </p:txBody>
      </p:sp>
      <p:sp>
        <p:nvSpPr>
          <p:cNvPr id="395" name="Google Shape;395;p20"/>
          <p:cNvSpPr/>
          <p:nvPr/>
        </p:nvSpPr>
        <p:spPr>
          <a:xfrm>
            <a:off x="1719072" y="5760720"/>
            <a:ext cx="384048" cy="384048"/>
          </a:xfrm>
          <a:prstGeom prst="ellipse">
            <a:avLst/>
          </a:prstGeom>
          <a:solidFill>
            <a:srgbClr val="B23A48"/>
          </a:solidFill>
          <a:ln w="12700" cap="flat" cmpd="sng">
            <a:solidFill>
              <a:srgbClr val="B23A4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6" name="Google Shape;396;p20"/>
          <p:cNvSpPr txBox="1"/>
          <p:nvPr/>
        </p:nvSpPr>
        <p:spPr>
          <a:xfrm>
            <a:off x="1719072" y="576072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28"/>
              <a:buFont typeface="Calibri"/>
              <a:buNone/>
            </a:pPr>
            <a:r>
              <a:rPr lang="en-US" sz="1428" b="1">
                <a:solidFill>
                  <a:srgbClr val="FFFFFF"/>
                </a:solidFill>
                <a:latin typeface="Calibri"/>
                <a:ea typeface="Calibri"/>
                <a:cs typeface="Calibri"/>
                <a:sym typeface="Calibri"/>
              </a:rPr>
              <a:t>A</a:t>
            </a:r>
            <a:endParaRPr sz="1428">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1"/>
        <p:cNvGrpSpPr/>
        <p:nvPr/>
      </p:nvGrpSpPr>
      <p:grpSpPr>
        <a:xfrm>
          <a:off x="0" y="0"/>
          <a:ext cx="0" cy="0"/>
          <a:chOff x="0" y="0"/>
          <a:chExt cx="0" cy="0"/>
        </a:xfrm>
      </p:grpSpPr>
      <p:sp>
        <p:nvSpPr>
          <p:cNvPr id="402" name="Google Shape;402;p21"/>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AI RULES</a:t>
            </a:r>
            <a:endParaRPr sz="1100">
              <a:solidFill>
                <a:schemeClr val="dk1"/>
              </a:solidFill>
              <a:latin typeface="Calibri"/>
              <a:ea typeface="Calibri"/>
              <a:cs typeface="Calibri"/>
              <a:sym typeface="Calibri"/>
            </a:endParaRPr>
          </a:p>
        </p:txBody>
      </p:sp>
      <p:sp>
        <p:nvSpPr>
          <p:cNvPr id="403" name="Google Shape;403;p21"/>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Follow five rules whenever you use AI</a:t>
            </a:r>
            <a:endParaRPr sz="2800">
              <a:solidFill>
                <a:schemeClr val="dk1"/>
              </a:solidFill>
              <a:latin typeface="Calibri"/>
              <a:ea typeface="Calibri"/>
              <a:cs typeface="Calibri"/>
              <a:sym typeface="Calibri"/>
            </a:endParaRPr>
          </a:p>
        </p:txBody>
      </p:sp>
      <p:sp>
        <p:nvSpPr>
          <p:cNvPr id="404" name="Google Shape;404;p21"/>
          <p:cNvSpPr/>
          <p:nvPr/>
        </p:nvSpPr>
        <p:spPr>
          <a:xfrm>
            <a:off x="548640" y="178308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5" name="Google Shape;405;p21"/>
          <p:cNvSpPr txBox="1"/>
          <p:nvPr/>
        </p:nvSpPr>
        <p:spPr>
          <a:xfrm>
            <a:off x="548640" y="178308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406" name="Google Shape;406;p21"/>
          <p:cNvSpPr txBox="1"/>
          <p:nvPr/>
        </p:nvSpPr>
        <p:spPr>
          <a:xfrm>
            <a:off x="1371600" y="1783080"/>
            <a:ext cx="102412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100"/>
              <a:buFont typeface="Calibri"/>
              <a:buNone/>
            </a:pPr>
            <a:r>
              <a:rPr lang="en-US" sz="2100">
                <a:solidFill>
                  <a:srgbClr val="1F2933"/>
                </a:solidFill>
                <a:latin typeface="Calibri"/>
                <a:ea typeface="Calibri"/>
                <a:cs typeface="Calibri"/>
                <a:sym typeface="Calibri"/>
              </a:rPr>
              <a:t>Save and submit your AI chats</a:t>
            </a:r>
            <a:endParaRPr sz="2100">
              <a:solidFill>
                <a:schemeClr val="dk1"/>
              </a:solidFill>
              <a:latin typeface="Calibri"/>
              <a:ea typeface="Calibri"/>
              <a:cs typeface="Calibri"/>
              <a:sym typeface="Calibri"/>
            </a:endParaRPr>
          </a:p>
        </p:txBody>
      </p:sp>
      <p:sp>
        <p:nvSpPr>
          <p:cNvPr id="407" name="Google Shape;407;p21"/>
          <p:cNvSpPr/>
          <p:nvPr/>
        </p:nvSpPr>
        <p:spPr>
          <a:xfrm>
            <a:off x="548640" y="2679192"/>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8" name="Google Shape;408;p21"/>
          <p:cNvSpPr txBox="1"/>
          <p:nvPr/>
        </p:nvSpPr>
        <p:spPr>
          <a:xfrm>
            <a:off x="548640" y="2679192"/>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409" name="Google Shape;409;p21"/>
          <p:cNvSpPr txBox="1"/>
          <p:nvPr/>
        </p:nvSpPr>
        <p:spPr>
          <a:xfrm>
            <a:off x="1371600" y="2679192"/>
            <a:ext cx="102412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100"/>
              <a:buFont typeface="Calibri"/>
              <a:buNone/>
            </a:pPr>
            <a:r>
              <a:rPr lang="en-US" sz="2100">
                <a:solidFill>
                  <a:srgbClr val="1F2933"/>
                </a:solidFill>
                <a:latin typeface="Calibri"/>
                <a:ea typeface="Calibri"/>
                <a:cs typeface="Calibri"/>
                <a:sym typeface="Calibri"/>
              </a:rPr>
              <a:t>Treat what the AI says as an Assumption until you check it</a:t>
            </a:r>
            <a:endParaRPr sz="2100">
              <a:solidFill>
                <a:schemeClr val="dk1"/>
              </a:solidFill>
              <a:latin typeface="Calibri"/>
              <a:ea typeface="Calibri"/>
              <a:cs typeface="Calibri"/>
              <a:sym typeface="Calibri"/>
            </a:endParaRPr>
          </a:p>
        </p:txBody>
      </p:sp>
      <p:sp>
        <p:nvSpPr>
          <p:cNvPr id="410" name="Google Shape;410;p21"/>
          <p:cNvSpPr/>
          <p:nvPr/>
        </p:nvSpPr>
        <p:spPr>
          <a:xfrm>
            <a:off x="548640" y="3575304"/>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1" name="Google Shape;411;p21"/>
          <p:cNvSpPr txBox="1"/>
          <p:nvPr/>
        </p:nvSpPr>
        <p:spPr>
          <a:xfrm>
            <a:off x="548640" y="3575304"/>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412" name="Google Shape;412;p21"/>
          <p:cNvSpPr txBox="1"/>
          <p:nvPr/>
        </p:nvSpPr>
        <p:spPr>
          <a:xfrm>
            <a:off x="1371600" y="3575304"/>
            <a:ext cx="102412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100"/>
              <a:buFont typeface="Calibri"/>
              <a:buNone/>
            </a:pPr>
            <a:r>
              <a:rPr lang="en-US" sz="2100">
                <a:solidFill>
                  <a:srgbClr val="1F2933"/>
                </a:solidFill>
                <a:latin typeface="Calibri"/>
                <a:ea typeface="Calibri"/>
                <a:cs typeface="Calibri"/>
                <a:sym typeface="Calibri"/>
              </a:rPr>
              <a:t>Open every link the AI gives you — some are fake</a:t>
            </a:r>
            <a:endParaRPr sz="2100">
              <a:solidFill>
                <a:schemeClr val="dk1"/>
              </a:solidFill>
              <a:latin typeface="Calibri"/>
              <a:ea typeface="Calibri"/>
              <a:cs typeface="Calibri"/>
              <a:sym typeface="Calibri"/>
            </a:endParaRPr>
          </a:p>
        </p:txBody>
      </p:sp>
      <p:sp>
        <p:nvSpPr>
          <p:cNvPr id="413" name="Google Shape;413;p21"/>
          <p:cNvSpPr/>
          <p:nvPr/>
        </p:nvSpPr>
        <p:spPr>
          <a:xfrm>
            <a:off x="548640" y="4471416"/>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4" name="Google Shape;414;p21"/>
          <p:cNvSpPr txBox="1"/>
          <p:nvPr/>
        </p:nvSpPr>
        <p:spPr>
          <a:xfrm>
            <a:off x="548640" y="4471416"/>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415" name="Google Shape;415;p21"/>
          <p:cNvSpPr txBox="1"/>
          <p:nvPr/>
        </p:nvSpPr>
        <p:spPr>
          <a:xfrm>
            <a:off x="1371600" y="4471416"/>
            <a:ext cx="102412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100"/>
              <a:buFont typeface="Calibri"/>
              <a:buNone/>
            </a:pPr>
            <a:r>
              <a:rPr lang="en-US" sz="2100">
                <a:solidFill>
                  <a:srgbClr val="1F2933"/>
                </a:solidFill>
                <a:latin typeface="Calibri"/>
                <a:ea typeface="Calibri"/>
                <a:cs typeface="Calibri"/>
                <a:sym typeface="Calibri"/>
              </a:rPr>
              <a:t>Never enter personal, financial, or classmate information</a:t>
            </a:r>
            <a:endParaRPr sz="2100">
              <a:solidFill>
                <a:schemeClr val="dk1"/>
              </a:solidFill>
              <a:latin typeface="Calibri"/>
              <a:ea typeface="Calibri"/>
              <a:cs typeface="Calibri"/>
              <a:sym typeface="Calibri"/>
            </a:endParaRPr>
          </a:p>
        </p:txBody>
      </p:sp>
      <p:sp>
        <p:nvSpPr>
          <p:cNvPr id="416" name="Google Shape;416;p21"/>
          <p:cNvSpPr/>
          <p:nvPr/>
        </p:nvSpPr>
        <p:spPr>
          <a:xfrm>
            <a:off x="548640" y="5367528"/>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7" name="Google Shape;417;p21"/>
          <p:cNvSpPr txBox="1"/>
          <p:nvPr/>
        </p:nvSpPr>
        <p:spPr>
          <a:xfrm>
            <a:off x="548640" y="5367528"/>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418" name="Google Shape;418;p21"/>
          <p:cNvSpPr txBox="1"/>
          <p:nvPr/>
        </p:nvSpPr>
        <p:spPr>
          <a:xfrm>
            <a:off x="1371600" y="5367528"/>
            <a:ext cx="102412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100"/>
              <a:buFont typeface="Calibri"/>
              <a:buNone/>
            </a:pPr>
            <a:r>
              <a:rPr lang="en-US" sz="2100">
                <a:solidFill>
                  <a:srgbClr val="1F2933"/>
                </a:solidFill>
                <a:latin typeface="Calibri"/>
                <a:ea typeface="Calibri"/>
                <a:cs typeface="Calibri"/>
                <a:sym typeface="Calibri"/>
              </a:rPr>
              <a:t>Only observe the website — no hacking, scraping, or fake accounts</a:t>
            </a:r>
            <a:endParaRPr sz="21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3"/>
        <p:cNvGrpSpPr/>
        <p:nvPr/>
      </p:nvGrpSpPr>
      <p:grpSpPr>
        <a:xfrm>
          <a:off x="0" y="0"/>
          <a:ext cx="0" cy="0"/>
          <a:chOff x="0" y="0"/>
          <a:chExt cx="0" cy="0"/>
        </a:xfrm>
      </p:grpSpPr>
      <p:sp>
        <p:nvSpPr>
          <p:cNvPr id="424" name="Google Shape;424;p22"/>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ACADEMIC INTEGRITY</a:t>
            </a:r>
            <a:endParaRPr sz="1100">
              <a:solidFill>
                <a:schemeClr val="dk1"/>
              </a:solidFill>
              <a:latin typeface="Calibri"/>
              <a:ea typeface="Calibri"/>
              <a:cs typeface="Calibri"/>
              <a:sym typeface="Calibri"/>
            </a:endParaRPr>
          </a:p>
        </p:txBody>
      </p:sp>
      <p:sp>
        <p:nvSpPr>
          <p:cNvPr id="425" name="Google Shape;425;p22"/>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You must be able to explain your work without AI</a:t>
            </a:r>
            <a:endParaRPr sz="2800">
              <a:solidFill>
                <a:schemeClr val="dk1"/>
              </a:solidFill>
              <a:latin typeface="Calibri"/>
              <a:ea typeface="Calibri"/>
              <a:cs typeface="Calibri"/>
              <a:sym typeface="Calibri"/>
            </a:endParaRPr>
          </a:p>
        </p:txBody>
      </p:sp>
      <p:sp>
        <p:nvSpPr>
          <p:cNvPr id="426" name="Google Shape;426;p22"/>
          <p:cNvSpPr/>
          <p:nvPr/>
        </p:nvSpPr>
        <p:spPr>
          <a:xfrm>
            <a:off x="548640" y="1691640"/>
            <a:ext cx="5440680" cy="1371600"/>
          </a:xfrm>
          <a:prstGeom prst="roundRect">
            <a:avLst>
              <a:gd name="adj" fmla="val 5333"/>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7" name="Google Shape;427;p22"/>
          <p:cNvSpPr txBox="1"/>
          <p:nvPr/>
        </p:nvSpPr>
        <p:spPr>
          <a:xfrm>
            <a:off x="731520" y="1856232"/>
            <a:ext cx="507492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400"/>
              <a:buFont typeface="Calibri"/>
              <a:buNone/>
            </a:pPr>
            <a:r>
              <a:rPr lang="en-US" sz="2400" b="1">
                <a:solidFill>
                  <a:srgbClr val="1F2933"/>
                </a:solidFill>
                <a:latin typeface="Calibri"/>
                <a:ea typeface="Calibri"/>
                <a:cs typeface="Calibri"/>
                <a:sym typeface="Calibri"/>
              </a:rPr>
              <a:t>Chat exports</a:t>
            </a:r>
            <a:endParaRPr sz="2400">
              <a:solidFill>
                <a:schemeClr val="dk1"/>
              </a:solidFill>
              <a:latin typeface="Calibri"/>
              <a:ea typeface="Calibri"/>
              <a:cs typeface="Calibri"/>
              <a:sym typeface="Calibri"/>
            </a:endParaRPr>
          </a:p>
        </p:txBody>
      </p:sp>
      <p:sp>
        <p:nvSpPr>
          <p:cNvPr id="428" name="Google Shape;428;p22"/>
          <p:cNvSpPr txBox="1"/>
          <p:nvPr/>
        </p:nvSpPr>
        <p:spPr>
          <a:xfrm>
            <a:off x="731520" y="2450592"/>
            <a:ext cx="507492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Show how you used AI</a:t>
            </a:r>
            <a:endParaRPr sz="2000">
              <a:solidFill>
                <a:schemeClr val="dk1"/>
              </a:solidFill>
              <a:latin typeface="Calibri"/>
              <a:ea typeface="Calibri"/>
              <a:cs typeface="Calibri"/>
              <a:sym typeface="Calibri"/>
            </a:endParaRPr>
          </a:p>
        </p:txBody>
      </p:sp>
      <p:sp>
        <p:nvSpPr>
          <p:cNvPr id="429" name="Google Shape;429;p22"/>
          <p:cNvSpPr/>
          <p:nvPr/>
        </p:nvSpPr>
        <p:spPr>
          <a:xfrm>
            <a:off x="6172200" y="1691640"/>
            <a:ext cx="5440680" cy="1371600"/>
          </a:xfrm>
          <a:prstGeom prst="roundRect">
            <a:avLst>
              <a:gd name="adj" fmla="val 5333"/>
            </a:avLst>
          </a:prstGeom>
          <a:solidFill>
            <a:srgbClr val="D6EAEA"/>
          </a:solidFill>
          <a:ln w="12700" cap="flat" cmpd="sng">
            <a:solidFill>
              <a:srgbClr val="D6EAE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0" name="Google Shape;430;p22"/>
          <p:cNvSpPr txBox="1"/>
          <p:nvPr/>
        </p:nvSpPr>
        <p:spPr>
          <a:xfrm>
            <a:off x="6355080" y="1856232"/>
            <a:ext cx="507492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400"/>
              <a:buFont typeface="Calibri"/>
              <a:buNone/>
            </a:pPr>
            <a:r>
              <a:rPr lang="en-US" sz="2400" b="1">
                <a:solidFill>
                  <a:srgbClr val="1F2933"/>
                </a:solidFill>
                <a:latin typeface="Calibri"/>
                <a:ea typeface="Calibri"/>
                <a:cs typeface="Calibri"/>
                <a:sym typeface="Calibri"/>
              </a:rPr>
              <a:t>In-class drawing</a:t>
            </a:r>
            <a:endParaRPr sz="2400">
              <a:solidFill>
                <a:schemeClr val="dk1"/>
              </a:solidFill>
              <a:latin typeface="Calibri"/>
              <a:ea typeface="Calibri"/>
              <a:cs typeface="Calibri"/>
              <a:sym typeface="Calibri"/>
            </a:endParaRPr>
          </a:p>
        </p:txBody>
      </p:sp>
      <p:sp>
        <p:nvSpPr>
          <p:cNvPr id="431" name="Google Shape;431;p22"/>
          <p:cNvSpPr txBox="1"/>
          <p:nvPr/>
        </p:nvSpPr>
        <p:spPr>
          <a:xfrm>
            <a:off x="6355080" y="2450592"/>
            <a:ext cx="507492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Draw part of your model by hand</a:t>
            </a:r>
            <a:endParaRPr sz="2000">
              <a:solidFill>
                <a:schemeClr val="dk1"/>
              </a:solidFill>
              <a:latin typeface="Calibri"/>
              <a:ea typeface="Calibri"/>
              <a:cs typeface="Calibri"/>
              <a:sym typeface="Calibri"/>
            </a:endParaRPr>
          </a:p>
        </p:txBody>
      </p:sp>
      <p:sp>
        <p:nvSpPr>
          <p:cNvPr id="432" name="Google Shape;432;p22"/>
          <p:cNvSpPr/>
          <p:nvPr/>
        </p:nvSpPr>
        <p:spPr>
          <a:xfrm>
            <a:off x="548640" y="3291840"/>
            <a:ext cx="5440680" cy="1371600"/>
          </a:xfrm>
          <a:prstGeom prst="roundRect">
            <a:avLst>
              <a:gd name="adj" fmla="val 5333"/>
            </a:avLst>
          </a:prstGeom>
          <a:solidFill>
            <a:srgbClr val="D6EAEA"/>
          </a:solidFill>
          <a:ln w="12700" cap="flat" cmpd="sng">
            <a:solidFill>
              <a:srgbClr val="D6EAE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3" name="Google Shape;433;p22"/>
          <p:cNvSpPr txBox="1"/>
          <p:nvPr/>
        </p:nvSpPr>
        <p:spPr>
          <a:xfrm>
            <a:off x="731520" y="3456432"/>
            <a:ext cx="507492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400"/>
              <a:buFont typeface="Calibri"/>
              <a:buNone/>
            </a:pPr>
            <a:r>
              <a:rPr lang="en-US" sz="2400" b="1">
                <a:solidFill>
                  <a:srgbClr val="1F2933"/>
                </a:solidFill>
                <a:latin typeface="Calibri"/>
                <a:ea typeface="Calibri"/>
                <a:cs typeface="Calibri"/>
                <a:sym typeface="Calibri"/>
              </a:rPr>
              <a:t>Questions in the final</a:t>
            </a:r>
            <a:endParaRPr sz="2400">
              <a:solidFill>
                <a:schemeClr val="dk1"/>
              </a:solidFill>
              <a:latin typeface="Calibri"/>
              <a:ea typeface="Calibri"/>
              <a:cs typeface="Calibri"/>
              <a:sym typeface="Calibri"/>
            </a:endParaRPr>
          </a:p>
        </p:txBody>
      </p:sp>
      <p:sp>
        <p:nvSpPr>
          <p:cNvPr id="434" name="Google Shape;434;p22"/>
          <p:cNvSpPr txBox="1"/>
          <p:nvPr/>
        </p:nvSpPr>
        <p:spPr>
          <a:xfrm>
            <a:off x="731520" y="4050792"/>
            <a:ext cx="507492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Each partner explains any part</a:t>
            </a:r>
            <a:endParaRPr sz="2000">
              <a:solidFill>
                <a:schemeClr val="dk1"/>
              </a:solidFill>
              <a:latin typeface="Calibri"/>
              <a:ea typeface="Calibri"/>
              <a:cs typeface="Calibri"/>
              <a:sym typeface="Calibri"/>
            </a:endParaRPr>
          </a:p>
        </p:txBody>
      </p:sp>
      <p:sp>
        <p:nvSpPr>
          <p:cNvPr id="435" name="Google Shape;435;p22"/>
          <p:cNvSpPr/>
          <p:nvPr/>
        </p:nvSpPr>
        <p:spPr>
          <a:xfrm>
            <a:off x="6172200" y="3291840"/>
            <a:ext cx="5440680" cy="1371600"/>
          </a:xfrm>
          <a:prstGeom prst="roundRect">
            <a:avLst>
              <a:gd name="adj" fmla="val 5333"/>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6" name="Google Shape;436;p22"/>
          <p:cNvSpPr txBox="1"/>
          <p:nvPr/>
        </p:nvSpPr>
        <p:spPr>
          <a:xfrm>
            <a:off x="6355080" y="3456432"/>
            <a:ext cx="507492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400"/>
              <a:buFont typeface="Calibri"/>
              <a:buNone/>
            </a:pPr>
            <a:r>
              <a:rPr lang="en-US" sz="2400" b="1">
                <a:solidFill>
                  <a:srgbClr val="1F2933"/>
                </a:solidFill>
                <a:latin typeface="Calibri"/>
                <a:ea typeface="Calibri"/>
                <a:cs typeface="Calibri"/>
                <a:sym typeface="Calibri"/>
              </a:rPr>
              <a:t>Reflection</a:t>
            </a:r>
            <a:endParaRPr sz="2400">
              <a:solidFill>
                <a:schemeClr val="dk1"/>
              </a:solidFill>
              <a:latin typeface="Calibri"/>
              <a:ea typeface="Calibri"/>
              <a:cs typeface="Calibri"/>
              <a:sym typeface="Calibri"/>
            </a:endParaRPr>
          </a:p>
        </p:txBody>
      </p:sp>
      <p:sp>
        <p:nvSpPr>
          <p:cNvPr id="437" name="Google Shape;437;p22"/>
          <p:cNvSpPr txBox="1"/>
          <p:nvPr/>
        </p:nvSpPr>
        <p:spPr>
          <a:xfrm>
            <a:off x="6355080" y="4050792"/>
            <a:ext cx="507492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2000"/>
              <a:buFont typeface="Calibri"/>
              <a:buNone/>
            </a:pPr>
            <a:r>
              <a:rPr lang="en-US" sz="2000">
                <a:solidFill>
                  <a:srgbClr val="334155"/>
                </a:solidFill>
                <a:latin typeface="Calibri"/>
                <a:ea typeface="Calibri"/>
                <a:cs typeface="Calibri"/>
                <a:sym typeface="Calibri"/>
              </a:rPr>
              <a:t>One time the AI was wrong</a:t>
            </a:r>
            <a:endParaRPr sz="2000">
              <a:solidFill>
                <a:schemeClr val="dk1"/>
              </a:solidFill>
              <a:latin typeface="Calibri"/>
              <a:ea typeface="Calibri"/>
              <a:cs typeface="Calibri"/>
              <a:sym typeface="Calibri"/>
            </a:endParaRPr>
          </a:p>
        </p:txBody>
      </p:sp>
      <p:sp>
        <p:nvSpPr>
          <p:cNvPr id="438" name="Google Shape;438;p22"/>
          <p:cNvSpPr/>
          <p:nvPr/>
        </p:nvSpPr>
        <p:spPr>
          <a:xfrm>
            <a:off x="548640" y="5074920"/>
            <a:ext cx="11064240" cy="1097280"/>
          </a:xfrm>
          <a:prstGeom prst="roundRect">
            <a:avLst>
              <a:gd name="adj" fmla="val 6667"/>
            </a:avLst>
          </a:prstGeom>
          <a:solidFill>
            <a:srgbClr val="1F2933"/>
          </a:solidFill>
          <a:ln w="12700" cap="flat" cmpd="sng">
            <a:solidFill>
              <a:srgbClr val="1F293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9" name="Google Shape;439;p22"/>
          <p:cNvSpPr txBox="1"/>
          <p:nvPr/>
        </p:nvSpPr>
        <p:spPr>
          <a:xfrm>
            <a:off x="822960" y="5074920"/>
            <a:ext cx="10515600" cy="10972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100"/>
              <a:buFont typeface="Calibri"/>
              <a:buNone/>
            </a:pPr>
            <a:r>
              <a:rPr lang="en-US" sz="2100" b="1">
                <a:solidFill>
                  <a:srgbClr val="FFFFFF"/>
                </a:solidFill>
                <a:latin typeface="Calibri"/>
                <a:ea typeface="Calibri"/>
                <a:cs typeface="Calibri"/>
                <a:sym typeface="Calibri"/>
              </a:rPr>
              <a:t>The AI can explain and give feedback. The diagrams and writing you submit must be your own.</a:t>
            </a:r>
            <a:endParaRPr sz="21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4"/>
        <p:cNvGrpSpPr/>
        <p:nvPr/>
      </p:nvGrpSpPr>
      <p:grpSpPr>
        <a:xfrm>
          <a:off x="0" y="0"/>
          <a:ext cx="0" cy="0"/>
          <a:chOff x="0" y="0"/>
          <a:chExt cx="0" cy="0"/>
        </a:xfrm>
      </p:grpSpPr>
      <p:sp>
        <p:nvSpPr>
          <p:cNvPr id="445" name="Google Shape;445;p23"/>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TEAM ROLES</a:t>
            </a:r>
            <a:endParaRPr sz="1100">
              <a:solidFill>
                <a:schemeClr val="dk1"/>
              </a:solidFill>
              <a:latin typeface="Calibri"/>
              <a:ea typeface="Calibri"/>
              <a:cs typeface="Calibri"/>
              <a:sym typeface="Calibri"/>
            </a:endParaRPr>
          </a:p>
        </p:txBody>
      </p:sp>
      <p:sp>
        <p:nvSpPr>
          <p:cNvPr id="446" name="Google Shape;446;p23"/>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Two roles, and you switch at every milestone</a:t>
            </a:r>
            <a:endParaRPr sz="2800">
              <a:solidFill>
                <a:schemeClr val="dk1"/>
              </a:solidFill>
              <a:latin typeface="Calibri"/>
              <a:ea typeface="Calibri"/>
              <a:cs typeface="Calibri"/>
              <a:sym typeface="Calibri"/>
            </a:endParaRPr>
          </a:p>
        </p:txBody>
      </p:sp>
      <p:sp>
        <p:nvSpPr>
          <p:cNvPr id="447" name="Google Shape;447;p23"/>
          <p:cNvSpPr/>
          <p:nvPr/>
        </p:nvSpPr>
        <p:spPr>
          <a:xfrm>
            <a:off x="2103120" y="1737360"/>
            <a:ext cx="1371600" cy="1371600"/>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8" name="Google Shape;448;p23"/>
          <p:cNvSpPr txBox="1"/>
          <p:nvPr/>
        </p:nvSpPr>
        <p:spPr>
          <a:xfrm>
            <a:off x="2103120" y="1737360"/>
            <a:ext cx="1371600" cy="1371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3400"/>
              <a:buFont typeface="Cambria"/>
              <a:buNone/>
            </a:pPr>
            <a:r>
              <a:rPr lang="en-US" sz="3400" b="1">
                <a:solidFill>
                  <a:srgbClr val="FFFFFF"/>
                </a:solidFill>
                <a:latin typeface="Cambria"/>
                <a:ea typeface="Cambria"/>
                <a:cs typeface="Cambria"/>
                <a:sym typeface="Cambria"/>
              </a:rPr>
              <a:t>A</a:t>
            </a:r>
            <a:endParaRPr sz="3400">
              <a:solidFill>
                <a:schemeClr val="dk1"/>
              </a:solidFill>
              <a:latin typeface="Calibri"/>
              <a:ea typeface="Calibri"/>
              <a:cs typeface="Calibri"/>
              <a:sym typeface="Calibri"/>
            </a:endParaRPr>
          </a:p>
        </p:txBody>
      </p:sp>
      <p:sp>
        <p:nvSpPr>
          <p:cNvPr id="449" name="Google Shape;449;p23"/>
          <p:cNvSpPr txBox="1"/>
          <p:nvPr/>
        </p:nvSpPr>
        <p:spPr>
          <a:xfrm>
            <a:off x="548640" y="3291840"/>
            <a:ext cx="4480560" cy="5486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F2933"/>
              </a:buClr>
              <a:buSzPts val="2400"/>
              <a:buFont typeface="Cambria"/>
              <a:buNone/>
            </a:pPr>
            <a:r>
              <a:rPr lang="en-US" sz="2400" b="1">
                <a:solidFill>
                  <a:srgbClr val="1F2933"/>
                </a:solidFill>
                <a:latin typeface="Cambria"/>
                <a:ea typeface="Cambria"/>
                <a:cs typeface="Cambria"/>
                <a:sym typeface="Cambria"/>
              </a:rPr>
              <a:t>Lead Analyst</a:t>
            </a:r>
            <a:endParaRPr sz="2400">
              <a:solidFill>
                <a:schemeClr val="dk1"/>
              </a:solidFill>
              <a:latin typeface="Calibri"/>
              <a:ea typeface="Calibri"/>
              <a:cs typeface="Calibri"/>
              <a:sym typeface="Calibri"/>
            </a:endParaRPr>
          </a:p>
        </p:txBody>
      </p:sp>
      <p:sp>
        <p:nvSpPr>
          <p:cNvPr id="450" name="Google Shape;450;p23"/>
          <p:cNvSpPr txBox="1"/>
          <p:nvPr/>
        </p:nvSpPr>
        <p:spPr>
          <a:xfrm>
            <a:off x="731520" y="3886200"/>
            <a:ext cx="4114800" cy="10972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34155"/>
              </a:buClr>
              <a:buSzPts val="1800"/>
              <a:buFont typeface="Calibri"/>
              <a:buNone/>
            </a:pPr>
            <a:r>
              <a:rPr lang="en-US" sz="1800">
                <a:solidFill>
                  <a:srgbClr val="334155"/>
                </a:solidFill>
                <a:latin typeface="Calibri"/>
                <a:ea typeface="Calibri"/>
                <a:cs typeface="Calibri"/>
                <a:sym typeface="Calibri"/>
              </a:rPr>
              <a:t>Runs the interviews and draws the models</a:t>
            </a:r>
            <a:endParaRPr sz="1800">
              <a:solidFill>
                <a:schemeClr val="dk1"/>
              </a:solidFill>
              <a:latin typeface="Calibri"/>
              <a:ea typeface="Calibri"/>
              <a:cs typeface="Calibri"/>
              <a:sym typeface="Calibri"/>
            </a:endParaRPr>
          </a:p>
        </p:txBody>
      </p:sp>
      <p:sp>
        <p:nvSpPr>
          <p:cNvPr id="451" name="Google Shape;451;p23"/>
          <p:cNvSpPr/>
          <p:nvPr/>
        </p:nvSpPr>
        <p:spPr>
          <a:xfrm>
            <a:off x="8686800" y="1737360"/>
            <a:ext cx="1371600" cy="1371600"/>
          </a:xfrm>
          <a:prstGeom prst="ellipse">
            <a:avLst/>
          </a:prstGeom>
          <a:solidFill>
            <a:srgbClr val="1F2933"/>
          </a:solidFill>
          <a:ln w="12700" cap="flat" cmpd="sng">
            <a:solidFill>
              <a:srgbClr val="1F293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2" name="Google Shape;452;p23"/>
          <p:cNvSpPr txBox="1"/>
          <p:nvPr/>
        </p:nvSpPr>
        <p:spPr>
          <a:xfrm>
            <a:off x="8686800" y="1737360"/>
            <a:ext cx="1371600" cy="1371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3400"/>
              <a:buFont typeface="Cambria"/>
              <a:buNone/>
            </a:pPr>
            <a:r>
              <a:rPr lang="en-US" sz="3400" b="1">
                <a:solidFill>
                  <a:srgbClr val="FFFFFF"/>
                </a:solidFill>
                <a:latin typeface="Cambria"/>
                <a:ea typeface="Cambria"/>
                <a:cs typeface="Cambria"/>
                <a:sym typeface="Cambria"/>
              </a:rPr>
              <a:t>B</a:t>
            </a:r>
            <a:endParaRPr sz="3400">
              <a:solidFill>
                <a:schemeClr val="dk1"/>
              </a:solidFill>
              <a:latin typeface="Calibri"/>
              <a:ea typeface="Calibri"/>
              <a:cs typeface="Calibri"/>
              <a:sym typeface="Calibri"/>
            </a:endParaRPr>
          </a:p>
        </p:txBody>
      </p:sp>
      <p:sp>
        <p:nvSpPr>
          <p:cNvPr id="453" name="Google Shape;453;p23"/>
          <p:cNvSpPr txBox="1"/>
          <p:nvPr/>
        </p:nvSpPr>
        <p:spPr>
          <a:xfrm>
            <a:off x="7132320" y="3291840"/>
            <a:ext cx="4480560" cy="5486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F2933"/>
              </a:buClr>
              <a:buSzPts val="2400"/>
              <a:buFont typeface="Cambria"/>
              <a:buNone/>
            </a:pPr>
            <a:r>
              <a:rPr lang="en-US" sz="2400" b="1">
                <a:solidFill>
                  <a:srgbClr val="1F2933"/>
                </a:solidFill>
                <a:latin typeface="Cambria"/>
                <a:ea typeface="Cambria"/>
                <a:cs typeface="Cambria"/>
                <a:sym typeface="Cambria"/>
              </a:rPr>
              <a:t>Evidence Lead</a:t>
            </a:r>
            <a:endParaRPr sz="2400">
              <a:solidFill>
                <a:schemeClr val="dk1"/>
              </a:solidFill>
              <a:latin typeface="Calibri"/>
              <a:ea typeface="Calibri"/>
              <a:cs typeface="Calibri"/>
              <a:sym typeface="Calibri"/>
            </a:endParaRPr>
          </a:p>
        </p:txBody>
      </p:sp>
      <p:sp>
        <p:nvSpPr>
          <p:cNvPr id="454" name="Google Shape;454;p23"/>
          <p:cNvSpPr txBox="1"/>
          <p:nvPr/>
        </p:nvSpPr>
        <p:spPr>
          <a:xfrm>
            <a:off x="7315200" y="3886200"/>
            <a:ext cx="4114800" cy="10972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34155"/>
              </a:buClr>
              <a:buSzPts val="1800"/>
              <a:buFont typeface="Calibri"/>
              <a:buNone/>
            </a:pPr>
            <a:r>
              <a:rPr lang="en-US" sz="1800">
                <a:solidFill>
                  <a:srgbClr val="334155"/>
                </a:solidFill>
                <a:latin typeface="Calibri"/>
                <a:ea typeface="Calibri"/>
                <a:cs typeface="Calibri"/>
                <a:sym typeface="Calibri"/>
              </a:rPr>
              <a:t>Keeps the logs, checks sources, runs the AI review</a:t>
            </a:r>
            <a:endParaRPr sz="1800">
              <a:solidFill>
                <a:schemeClr val="dk1"/>
              </a:solidFill>
              <a:latin typeface="Calibri"/>
              <a:ea typeface="Calibri"/>
              <a:cs typeface="Calibri"/>
              <a:sym typeface="Calibri"/>
            </a:endParaRPr>
          </a:p>
        </p:txBody>
      </p:sp>
      <p:cxnSp>
        <p:nvCxnSpPr>
          <p:cNvPr id="455" name="Google Shape;455;p23"/>
          <p:cNvCxnSpPr/>
          <p:nvPr/>
        </p:nvCxnSpPr>
        <p:spPr>
          <a:xfrm>
            <a:off x="5120640" y="2194560"/>
            <a:ext cx="1920240" cy="914"/>
          </a:xfrm>
          <a:prstGeom prst="straightConnector1">
            <a:avLst/>
          </a:prstGeom>
          <a:noFill/>
          <a:ln w="31750" cap="flat" cmpd="sng">
            <a:solidFill>
              <a:srgbClr val="5B6770"/>
            </a:solidFill>
            <a:prstDash val="solid"/>
            <a:round/>
            <a:headEnd type="none" w="sm" len="sm"/>
            <a:tailEnd type="triangle" w="med" len="med"/>
          </a:ln>
        </p:spPr>
      </p:cxnSp>
      <p:cxnSp>
        <p:nvCxnSpPr>
          <p:cNvPr id="456" name="Google Shape;456;p23"/>
          <p:cNvCxnSpPr/>
          <p:nvPr/>
        </p:nvCxnSpPr>
        <p:spPr>
          <a:xfrm flipH="1">
            <a:off x="5120640" y="2697480"/>
            <a:ext cx="1920240" cy="914"/>
          </a:xfrm>
          <a:prstGeom prst="straightConnector1">
            <a:avLst/>
          </a:prstGeom>
          <a:noFill/>
          <a:ln w="31750" cap="flat" cmpd="sng">
            <a:solidFill>
              <a:srgbClr val="5B6770"/>
            </a:solidFill>
            <a:prstDash val="solid"/>
            <a:round/>
            <a:headEnd type="none" w="sm" len="sm"/>
            <a:tailEnd type="triangle" w="med" len="med"/>
          </a:ln>
        </p:spPr>
      </p:cxnSp>
      <p:sp>
        <p:nvSpPr>
          <p:cNvPr id="457" name="Google Shape;457;p23"/>
          <p:cNvSpPr txBox="1"/>
          <p:nvPr/>
        </p:nvSpPr>
        <p:spPr>
          <a:xfrm>
            <a:off x="5120640" y="2834640"/>
            <a:ext cx="1920240" cy="36576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B6770"/>
              </a:buClr>
              <a:buSzPts val="1600"/>
              <a:buFont typeface="Calibri"/>
              <a:buNone/>
            </a:pPr>
            <a:r>
              <a:rPr lang="en-US" sz="1600" i="1">
                <a:solidFill>
                  <a:srgbClr val="5B6770"/>
                </a:solidFill>
                <a:latin typeface="Calibri"/>
                <a:ea typeface="Calibri"/>
                <a:cs typeface="Calibri"/>
                <a:sym typeface="Calibri"/>
              </a:rPr>
              <a:t>switch</a:t>
            </a:r>
            <a:endParaRPr sz="1600">
              <a:solidFill>
                <a:schemeClr val="dk1"/>
              </a:solidFill>
              <a:latin typeface="Calibri"/>
              <a:ea typeface="Calibri"/>
              <a:cs typeface="Calibri"/>
              <a:sym typeface="Calibri"/>
            </a:endParaRPr>
          </a:p>
        </p:txBody>
      </p:sp>
      <p:sp>
        <p:nvSpPr>
          <p:cNvPr id="458" name="Google Shape;458;p23"/>
          <p:cNvSpPr/>
          <p:nvPr/>
        </p:nvSpPr>
        <p:spPr>
          <a:xfrm>
            <a:off x="548640" y="5257800"/>
            <a:ext cx="11064240" cy="914400"/>
          </a:xfrm>
          <a:prstGeom prst="roundRect">
            <a:avLst>
              <a:gd name="adj" fmla="val 8000"/>
            </a:avLst>
          </a:prstGeom>
          <a:solidFill>
            <a:srgbClr val="EEF3F3"/>
          </a:solidFill>
          <a:ln w="12700" cap="flat" cmpd="sng">
            <a:solidFill>
              <a:srgbClr val="EEF3F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9" name="Google Shape;459;p23"/>
          <p:cNvSpPr txBox="1"/>
          <p:nvPr/>
        </p:nvSpPr>
        <p:spPr>
          <a:xfrm>
            <a:off x="731520" y="5422392"/>
            <a:ext cx="106984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1800"/>
              <a:buFont typeface="Calibri"/>
              <a:buNone/>
            </a:pPr>
            <a:r>
              <a:rPr lang="en-US" sz="1800" b="1">
                <a:solidFill>
                  <a:srgbClr val="1F2933"/>
                </a:solidFill>
                <a:latin typeface="Calibri"/>
                <a:ea typeface="Calibri"/>
                <a:cs typeface="Calibri"/>
                <a:sym typeface="Calibri"/>
              </a:rPr>
              <a:t>Both partners: attend every interview · understand every part · tell me about problems early</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4"/>
        <p:cNvGrpSpPr/>
        <p:nvPr/>
      </p:nvGrpSpPr>
      <p:grpSpPr>
        <a:xfrm>
          <a:off x="0" y="0"/>
          <a:ext cx="0" cy="0"/>
          <a:chOff x="0" y="0"/>
          <a:chExt cx="0" cy="0"/>
        </a:xfrm>
      </p:grpSpPr>
      <p:sp>
        <p:nvSpPr>
          <p:cNvPr id="465" name="Google Shape;465;p24"/>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GRADING</a:t>
            </a:r>
            <a:endParaRPr sz="1100">
              <a:solidFill>
                <a:schemeClr val="dk1"/>
              </a:solidFill>
              <a:latin typeface="Calibri"/>
              <a:ea typeface="Calibri"/>
              <a:cs typeface="Calibri"/>
              <a:sym typeface="Calibri"/>
            </a:endParaRPr>
          </a:p>
        </p:txBody>
      </p:sp>
      <p:sp>
        <p:nvSpPr>
          <p:cNvPr id="466" name="Google Shape;466;p24"/>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How your project is graded</a:t>
            </a:r>
            <a:endParaRPr sz="2800">
              <a:solidFill>
                <a:schemeClr val="dk1"/>
              </a:solidFill>
              <a:latin typeface="Calibri"/>
              <a:ea typeface="Calibri"/>
              <a:cs typeface="Calibri"/>
              <a:sym typeface="Calibri"/>
            </a:endParaRPr>
          </a:p>
        </p:txBody>
      </p:sp>
      <p:graphicFrame>
        <p:nvGraphicFramePr>
          <p:cNvPr id="467" name="Google Shape;467;p24"/>
          <p:cNvGraphicFramePr/>
          <p:nvPr/>
        </p:nvGraphicFramePr>
        <p:xfrm>
          <a:off x="548640" y="1691640"/>
          <a:ext cx="11064225" cy="4352540"/>
        </p:xfrm>
        <a:graphic>
          <a:graphicData uri="http://schemas.openxmlformats.org/drawingml/2006/table">
            <a:tbl>
              <a:tblPr>
                <a:noFill/>
                <a:tableStyleId>{2F25F5D9-C27E-46C7-B8A8-6D8B02E2B88A}</a:tableStyleId>
              </a:tblPr>
              <a:tblGrid>
                <a:gridCol w="3108950">
                  <a:extLst>
                    <a:ext uri="{9D8B030D-6E8A-4147-A177-3AD203B41FA5}">
                      <a16:colId xmlns:a16="http://schemas.microsoft.com/office/drawing/2014/main" val="20000"/>
                    </a:ext>
                  </a:extLst>
                </a:gridCol>
                <a:gridCol w="1280150">
                  <a:extLst>
                    <a:ext uri="{9D8B030D-6E8A-4147-A177-3AD203B41FA5}">
                      <a16:colId xmlns:a16="http://schemas.microsoft.com/office/drawing/2014/main" val="20001"/>
                    </a:ext>
                  </a:extLst>
                </a:gridCol>
                <a:gridCol w="6675125">
                  <a:extLst>
                    <a:ext uri="{9D8B030D-6E8A-4147-A177-3AD203B41FA5}">
                      <a16:colId xmlns:a16="http://schemas.microsoft.com/office/drawing/2014/main" val="20002"/>
                    </a:ext>
                  </a:extLst>
                </a:gridCol>
              </a:tblGrid>
              <a:tr h="530350">
                <a:tc>
                  <a:txBody>
                    <a:bodyPr/>
                    <a:lstStyle/>
                    <a:p>
                      <a:pPr marL="0" marR="0" lvl="0" indent="0" algn="l" rtl="0">
                        <a:spcBef>
                          <a:spcPts val="0"/>
                        </a:spcBef>
                        <a:spcAft>
                          <a:spcPts val="0"/>
                        </a:spcAft>
                        <a:buClr>
                          <a:srgbClr val="FFFFFF"/>
                        </a:buClr>
                        <a:buSzPts val="1800"/>
                        <a:buFont typeface="Calibri"/>
                        <a:buNone/>
                      </a:pPr>
                      <a:r>
                        <a:rPr lang="en-US" sz="1800" b="1" u="none" strike="noStrike" cap="none">
                          <a:solidFill>
                            <a:srgbClr val="FFFFFF"/>
                          </a:solidFill>
                          <a:latin typeface="Calibri"/>
                          <a:ea typeface="Calibri"/>
                          <a:cs typeface="Calibri"/>
                          <a:sym typeface="Calibri"/>
                        </a:rPr>
                        <a:t>Part</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1F2933"/>
                    </a:solidFill>
                  </a:tcPr>
                </a:tc>
                <a:tc>
                  <a:txBody>
                    <a:bodyPr/>
                    <a:lstStyle/>
                    <a:p>
                      <a:pPr marL="0" marR="0" lvl="0" indent="0" algn="l" rtl="0">
                        <a:spcBef>
                          <a:spcPts val="0"/>
                        </a:spcBef>
                        <a:spcAft>
                          <a:spcPts val="0"/>
                        </a:spcAft>
                        <a:buClr>
                          <a:srgbClr val="FFFFFF"/>
                        </a:buClr>
                        <a:buSzPts val="1800"/>
                        <a:buFont typeface="Calibri"/>
                        <a:buNone/>
                      </a:pPr>
                      <a:r>
                        <a:rPr lang="en-US" sz="1800" b="1" u="none" strike="noStrike" cap="none">
                          <a:solidFill>
                            <a:srgbClr val="FFFFFF"/>
                          </a:solidFill>
                          <a:latin typeface="Calibri"/>
                          <a:ea typeface="Calibri"/>
                          <a:cs typeface="Calibri"/>
                          <a:sym typeface="Calibri"/>
                        </a:rPr>
                        <a:t>Weight</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1F2933"/>
                    </a:solidFill>
                  </a:tcPr>
                </a:tc>
                <a:tc>
                  <a:txBody>
                    <a:bodyPr/>
                    <a:lstStyle/>
                    <a:p>
                      <a:pPr marL="0" marR="0" lvl="0" indent="0" algn="l" rtl="0">
                        <a:spcBef>
                          <a:spcPts val="0"/>
                        </a:spcBef>
                        <a:spcAft>
                          <a:spcPts val="0"/>
                        </a:spcAft>
                        <a:buClr>
                          <a:srgbClr val="FFFFFF"/>
                        </a:buClr>
                        <a:buSzPts val="1800"/>
                        <a:buFont typeface="Calibri"/>
                        <a:buNone/>
                      </a:pPr>
                      <a:r>
                        <a:rPr lang="en-US" sz="1800" b="1" u="none" strike="noStrike" cap="none">
                          <a:solidFill>
                            <a:srgbClr val="FFFFFF"/>
                          </a:solidFill>
                          <a:latin typeface="Calibri"/>
                          <a:ea typeface="Calibri"/>
                          <a:cs typeface="Calibri"/>
                          <a:sym typeface="Calibri"/>
                        </a:rPr>
                        <a:t>What I look for</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1F2933"/>
                    </a:solidFill>
                  </a:tcPr>
                </a:tc>
                <a:extLst>
                  <a:ext uri="{0D108BD9-81ED-4DB2-BD59-A6C34878D82A}">
                    <a16:rowId xmlns:a16="http://schemas.microsoft.com/office/drawing/2014/main" val="10000"/>
                  </a:ext>
                </a:extLst>
              </a:tr>
              <a:tr h="530350">
                <a:tc>
                  <a:txBody>
                    <a:bodyPr/>
                    <a:lstStyle/>
                    <a:p>
                      <a:pPr marL="0" marR="0" lvl="0" indent="0" algn="l" rtl="0">
                        <a:spcBef>
                          <a:spcPts val="0"/>
                        </a:spcBef>
                        <a:spcAft>
                          <a:spcPts val="0"/>
                        </a:spcAft>
                        <a:buClr>
                          <a:srgbClr val="334155"/>
                        </a:buClr>
                        <a:buSzPts val="1800"/>
                        <a:buFont typeface="Calibri"/>
                        <a:buNone/>
                      </a:pPr>
                      <a:r>
                        <a:rPr lang="en-US" sz="1800" u="none" strike="noStrike" cap="none">
                          <a:solidFill>
                            <a:srgbClr val="334155"/>
                          </a:solidFill>
                          <a:latin typeface="Calibri"/>
                          <a:ea typeface="Calibri"/>
                          <a:cs typeface="Calibri"/>
                          <a:sym typeface="Calibri"/>
                        </a:rPr>
                        <a:t>Requirements (Ch 3)</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F6E6E"/>
                        </a:buClr>
                        <a:buSzPts val="1800"/>
                        <a:buFont typeface="Calibri"/>
                        <a:buNone/>
                      </a:pPr>
                      <a:r>
                        <a:rPr lang="en-US" sz="1800" b="1" u="none" strike="noStrike" cap="none">
                          <a:solidFill>
                            <a:srgbClr val="0F6E6E"/>
                          </a:solidFill>
                          <a:latin typeface="Calibri"/>
                          <a:ea typeface="Calibri"/>
                          <a:cs typeface="Calibri"/>
                          <a:sym typeface="Calibri"/>
                        </a:rPr>
                        <a:t>15%</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tcPr>
                </a:tc>
                <a:tc>
                  <a:txBody>
                    <a:bodyPr/>
                    <a:lstStyle/>
                    <a:p>
                      <a:pPr marL="0" marR="0" lvl="0" indent="0" algn="l" rtl="0">
                        <a:spcBef>
                          <a:spcPts val="0"/>
                        </a:spcBef>
                        <a:spcAft>
                          <a:spcPts val="0"/>
                        </a:spcAft>
                        <a:buClr>
                          <a:srgbClr val="334155"/>
                        </a:buClr>
                        <a:buSzPts val="1800"/>
                        <a:buFont typeface="Calibri"/>
                        <a:buNone/>
                      </a:pPr>
                      <a:r>
                        <a:rPr lang="en-US" sz="1800" u="none" strike="noStrike" cap="none">
                          <a:solidFill>
                            <a:srgbClr val="334155"/>
                          </a:solidFill>
                          <a:latin typeface="Calibri"/>
                          <a:ea typeface="Calibri"/>
                          <a:cs typeface="Calibri"/>
                          <a:sym typeface="Calibri"/>
                        </a:rPr>
                        <a:t>Good interview questions, clear functional and nonfunctional requirements</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30350">
                <a:tc>
                  <a:txBody>
                    <a:bodyPr/>
                    <a:lstStyle/>
                    <a:p>
                      <a:pPr marL="0" marR="0" lvl="0" indent="0" algn="l" rtl="0">
                        <a:spcBef>
                          <a:spcPts val="0"/>
                        </a:spcBef>
                        <a:spcAft>
                          <a:spcPts val="0"/>
                        </a:spcAft>
                        <a:buClr>
                          <a:srgbClr val="334155"/>
                        </a:buClr>
                        <a:buSzPts val="1800"/>
                        <a:buFont typeface="Calibri"/>
                        <a:buNone/>
                      </a:pPr>
                      <a:r>
                        <a:rPr lang="en-US" sz="1800" u="none" strike="noStrike" cap="none">
                          <a:solidFill>
                            <a:srgbClr val="334155"/>
                          </a:solidFill>
                          <a:latin typeface="Calibri"/>
                          <a:ea typeface="Calibri"/>
                          <a:cs typeface="Calibri"/>
                          <a:sym typeface="Calibri"/>
                        </a:rPr>
                        <a:t>Use cases and DFDs (Ch 4)</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7FAFA"/>
                    </a:solidFill>
                  </a:tcPr>
                </a:tc>
                <a:tc>
                  <a:txBody>
                    <a:bodyPr/>
                    <a:lstStyle/>
                    <a:p>
                      <a:pPr marL="0" marR="0" lvl="0" indent="0" algn="ctr" rtl="0">
                        <a:spcBef>
                          <a:spcPts val="0"/>
                        </a:spcBef>
                        <a:spcAft>
                          <a:spcPts val="0"/>
                        </a:spcAft>
                        <a:buClr>
                          <a:srgbClr val="0F6E6E"/>
                        </a:buClr>
                        <a:buSzPts val="1800"/>
                        <a:buFont typeface="Calibri"/>
                        <a:buNone/>
                      </a:pPr>
                      <a:r>
                        <a:rPr lang="en-US" sz="1800" b="1" u="none" strike="noStrike" cap="none">
                          <a:solidFill>
                            <a:srgbClr val="0F6E6E"/>
                          </a:solidFill>
                          <a:latin typeface="Calibri"/>
                          <a:ea typeface="Calibri"/>
                          <a:cs typeface="Calibri"/>
                          <a:sym typeface="Calibri"/>
                        </a:rPr>
                        <a:t>18%</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tcPr>
                </a:tc>
                <a:tc>
                  <a:txBody>
                    <a:bodyPr/>
                    <a:lstStyle/>
                    <a:p>
                      <a:pPr marL="0" marR="0" lvl="0" indent="0" algn="l" rtl="0">
                        <a:spcBef>
                          <a:spcPts val="0"/>
                        </a:spcBef>
                        <a:spcAft>
                          <a:spcPts val="0"/>
                        </a:spcAft>
                        <a:buClr>
                          <a:srgbClr val="334155"/>
                        </a:buClr>
                        <a:buSzPts val="1800"/>
                        <a:buFont typeface="Calibri"/>
                        <a:buNone/>
                      </a:pPr>
                      <a:r>
                        <a:rPr lang="en-US" sz="1800" u="none" strike="noStrike" cap="none">
                          <a:solidFill>
                            <a:srgbClr val="334155"/>
                          </a:solidFill>
                          <a:latin typeface="Calibri"/>
                          <a:ea typeface="Calibri"/>
                          <a:cs typeface="Calibri"/>
                          <a:sym typeface="Calibri"/>
                        </a:rPr>
                        <a:t>Correct format, balanced DFD levels</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7FAFA"/>
                    </a:solidFill>
                  </a:tcPr>
                </a:tc>
                <a:extLst>
                  <a:ext uri="{0D108BD9-81ED-4DB2-BD59-A6C34878D82A}">
                    <a16:rowId xmlns:a16="http://schemas.microsoft.com/office/drawing/2014/main" val="10002"/>
                  </a:ext>
                </a:extLst>
              </a:tr>
              <a:tr h="530350">
                <a:tc>
                  <a:txBody>
                    <a:bodyPr/>
                    <a:lstStyle/>
                    <a:p>
                      <a:pPr marL="0" marR="0" lvl="0" indent="0" algn="l" rtl="0">
                        <a:spcBef>
                          <a:spcPts val="0"/>
                        </a:spcBef>
                        <a:spcAft>
                          <a:spcPts val="0"/>
                        </a:spcAft>
                        <a:buClr>
                          <a:srgbClr val="334155"/>
                        </a:buClr>
                        <a:buSzPts val="1800"/>
                        <a:buFont typeface="Calibri"/>
                        <a:buNone/>
                      </a:pPr>
                      <a:r>
                        <a:rPr lang="en-US" sz="1800" u="none" strike="noStrike" cap="none">
                          <a:solidFill>
                            <a:srgbClr val="334155"/>
                          </a:solidFill>
                          <a:latin typeface="Calibri"/>
                          <a:ea typeface="Calibri"/>
                          <a:cs typeface="Calibri"/>
                          <a:sym typeface="Calibri"/>
                        </a:rPr>
                        <a:t>Data model (Ch 5)</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F6E6E"/>
                        </a:buClr>
                        <a:buSzPts val="1800"/>
                        <a:buFont typeface="Calibri"/>
                        <a:buNone/>
                      </a:pPr>
                      <a:r>
                        <a:rPr lang="en-US" sz="1800" b="1" u="none" strike="noStrike" cap="none">
                          <a:solidFill>
                            <a:srgbClr val="0F6E6E"/>
                          </a:solidFill>
                          <a:latin typeface="Calibri"/>
                          <a:ea typeface="Calibri"/>
                          <a:cs typeface="Calibri"/>
                          <a:sym typeface="Calibri"/>
                        </a:rPr>
                        <a:t>15%</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tcPr>
                </a:tc>
                <a:tc>
                  <a:txBody>
                    <a:bodyPr/>
                    <a:lstStyle/>
                    <a:p>
                      <a:pPr marL="0" marR="0" lvl="0" indent="0" algn="l" rtl="0">
                        <a:spcBef>
                          <a:spcPts val="0"/>
                        </a:spcBef>
                        <a:spcAft>
                          <a:spcPts val="0"/>
                        </a:spcAft>
                        <a:buClr>
                          <a:srgbClr val="334155"/>
                        </a:buClr>
                        <a:buSzPts val="1800"/>
                        <a:buFont typeface="Calibri"/>
                        <a:buNone/>
                      </a:pPr>
                      <a:r>
                        <a:rPr lang="en-US" sz="1800" u="none" strike="noStrike" cap="none">
                          <a:solidFill>
                            <a:srgbClr val="334155"/>
                          </a:solidFill>
                          <a:latin typeface="Calibri"/>
                          <a:ea typeface="Calibri"/>
                          <a:cs typeface="Calibri"/>
                          <a:sym typeface="Calibri"/>
                        </a:rPr>
                        <a:t>Keys, relationships, normalization, matches the DFDs</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30350">
                <a:tc>
                  <a:txBody>
                    <a:bodyPr/>
                    <a:lstStyle/>
                    <a:p>
                      <a:pPr marL="0" marR="0" lvl="0" indent="0" algn="l" rtl="0">
                        <a:spcBef>
                          <a:spcPts val="0"/>
                        </a:spcBef>
                        <a:spcAft>
                          <a:spcPts val="0"/>
                        </a:spcAft>
                        <a:buClr>
                          <a:srgbClr val="334155"/>
                        </a:buClr>
                        <a:buSzPts val="1800"/>
                        <a:buFont typeface="Calibri"/>
                        <a:buNone/>
                      </a:pPr>
                      <a:r>
                        <a:rPr lang="en-US" sz="1800" u="none" strike="noStrike" cap="none">
                          <a:solidFill>
                            <a:srgbClr val="334155"/>
                          </a:solidFill>
                          <a:latin typeface="Calibri"/>
                          <a:ea typeface="Calibri"/>
                          <a:cs typeface="Calibri"/>
                          <a:sym typeface="Calibri"/>
                        </a:rPr>
                        <a:t>Design (Ch 6, 7, 8, 10)</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7FAFA"/>
                    </a:solidFill>
                  </a:tcPr>
                </a:tc>
                <a:tc>
                  <a:txBody>
                    <a:bodyPr/>
                    <a:lstStyle/>
                    <a:p>
                      <a:pPr marL="0" marR="0" lvl="0" indent="0" algn="ctr" rtl="0">
                        <a:spcBef>
                          <a:spcPts val="0"/>
                        </a:spcBef>
                        <a:spcAft>
                          <a:spcPts val="0"/>
                        </a:spcAft>
                        <a:buClr>
                          <a:srgbClr val="0F6E6E"/>
                        </a:buClr>
                        <a:buSzPts val="1800"/>
                        <a:buFont typeface="Calibri"/>
                        <a:buNone/>
                      </a:pPr>
                      <a:r>
                        <a:rPr lang="en-US" sz="1800" b="1" u="none" strike="noStrike" cap="none">
                          <a:solidFill>
                            <a:srgbClr val="0F6E6E"/>
                          </a:solidFill>
                          <a:latin typeface="Calibri"/>
                          <a:ea typeface="Calibri"/>
                          <a:cs typeface="Calibri"/>
                          <a:sym typeface="Calibri"/>
                        </a:rPr>
                        <a:t>10%</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tcPr>
                </a:tc>
                <a:tc>
                  <a:txBody>
                    <a:bodyPr/>
                    <a:lstStyle/>
                    <a:p>
                      <a:pPr marL="0" marR="0" lvl="0" indent="0" algn="l" rtl="0">
                        <a:spcBef>
                          <a:spcPts val="0"/>
                        </a:spcBef>
                        <a:spcAft>
                          <a:spcPts val="0"/>
                        </a:spcAft>
                        <a:buClr>
                          <a:srgbClr val="334155"/>
                        </a:buClr>
                        <a:buSzPts val="1800"/>
                        <a:buFont typeface="Calibri"/>
                        <a:buNone/>
                      </a:pPr>
                      <a:r>
                        <a:rPr lang="en-US" sz="1800" u="none" strike="noStrike" cap="none">
                          <a:solidFill>
                            <a:srgbClr val="334155"/>
                          </a:solidFill>
                          <a:latin typeface="Calibri"/>
                          <a:ea typeface="Calibri"/>
                          <a:cs typeface="Calibri"/>
                          <a:sym typeface="Calibri"/>
                        </a:rPr>
                        <a:t>Clear reasoning and clues for every conclusion</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7FAFA"/>
                    </a:solidFill>
                  </a:tcPr>
                </a:tc>
                <a:extLst>
                  <a:ext uri="{0D108BD9-81ED-4DB2-BD59-A6C34878D82A}">
                    <a16:rowId xmlns:a16="http://schemas.microsoft.com/office/drawing/2014/main" val="10004"/>
                  </a:ext>
                </a:extLst>
              </a:tr>
              <a:tr h="530350">
                <a:tc>
                  <a:txBody>
                    <a:bodyPr/>
                    <a:lstStyle/>
                    <a:p>
                      <a:pPr marL="0" marR="0" lvl="0" indent="0" algn="l" rtl="0">
                        <a:spcBef>
                          <a:spcPts val="0"/>
                        </a:spcBef>
                        <a:spcAft>
                          <a:spcPts val="0"/>
                        </a:spcAft>
                        <a:buClr>
                          <a:srgbClr val="334155"/>
                        </a:buClr>
                        <a:buSzPts val="1800"/>
                        <a:buFont typeface="Calibri"/>
                        <a:buNone/>
                      </a:pPr>
                      <a:r>
                        <a:rPr lang="en-US" sz="1800" u="none" strike="noStrike" cap="none">
                          <a:solidFill>
                            <a:srgbClr val="334155"/>
                          </a:solidFill>
                          <a:latin typeface="Calibri"/>
                          <a:ea typeface="Calibri"/>
                          <a:cs typeface="Calibri"/>
                          <a:sym typeface="Calibri"/>
                        </a:rPr>
                        <a:t>Evidence and logs</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F6E6E"/>
                        </a:buClr>
                        <a:buSzPts val="1800"/>
                        <a:buFont typeface="Calibri"/>
                        <a:buNone/>
                      </a:pPr>
                      <a:r>
                        <a:rPr lang="en-US" sz="1800" b="1" u="none" strike="noStrike" cap="none">
                          <a:solidFill>
                            <a:srgbClr val="0F6E6E"/>
                          </a:solidFill>
                          <a:latin typeface="Calibri"/>
                          <a:ea typeface="Calibri"/>
                          <a:cs typeface="Calibri"/>
                          <a:sym typeface="Calibri"/>
                        </a:rPr>
                        <a:t>14%</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tcPr>
                </a:tc>
                <a:tc>
                  <a:txBody>
                    <a:bodyPr/>
                    <a:lstStyle/>
                    <a:p>
                      <a:pPr marL="0" marR="0" lvl="0" indent="0" algn="l" rtl="0">
                        <a:spcBef>
                          <a:spcPts val="0"/>
                        </a:spcBef>
                        <a:spcAft>
                          <a:spcPts val="0"/>
                        </a:spcAft>
                        <a:buClr>
                          <a:srgbClr val="334155"/>
                        </a:buClr>
                        <a:buSzPts val="1800"/>
                        <a:buFont typeface="Calibri"/>
                        <a:buNone/>
                      </a:pPr>
                      <a:r>
                        <a:rPr lang="en-US" sz="1800" u="none" strike="noStrike" cap="none">
                          <a:solidFill>
                            <a:srgbClr val="334155"/>
                          </a:solidFill>
                          <a:latin typeface="Calibri"/>
                          <a:ea typeface="Calibri"/>
                          <a:cs typeface="Calibri"/>
                          <a:sym typeface="Calibri"/>
                        </a:rPr>
                        <a:t>Correct F / I / A labels, logs updated every milestone</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530350">
                <a:tc>
                  <a:txBody>
                    <a:bodyPr/>
                    <a:lstStyle/>
                    <a:p>
                      <a:pPr marL="0" marR="0" lvl="0" indent="0" algn="l" rtl="0">
                        <a:spcBef>
                          <a:spcPts val="0"/>
                        </a:spcBef>
                        <a:spcAft>
                          <a:spcPts val="0"/>
                        </a:spcAft>
                        <a:buClr>
                          <a:srgbClr val="334155"/>
                        </a:buClr>
                        <a:buSzPts val="1800"/>
                        <a:buFont typeface="Calibri"/>
                        <a:buNone/>
                      </a:pPr>
                      <a:r>
                        <a:rPr lang="en-US" sz="1800" u="none" strike="noStrike" cap="none">
                          <a:solidFill>
                            <a:srgbClr val="334155"/>
                          </a:solidFill>
                          <a:latin typeface="Calibri"/>
                          <a:ea typeface="Calibri"/>
                          <a:cs typeface="Calibri"/>
                          <a:sym typeface="Calibri"/>
                        </a:rPr>
                        <a:t>AI use</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7FAFA"/>
                    </a:solidFill>
                  </a:tcPr>
                </a:tc>
                <a:tc>
                  <a:txBody>
                    <a:bodyPr/>
                    <a:lstStyle/>
                    <a:p>
                      <a:pPr marL="0" marR="0" lvl="0" indent="0" algn="ctr" rtl="0">
                        <a:spcBef>
                          <a:spcPts val="0"/>
                        </a:spcBef>
                        <a:spcAft>
                          <a:spcPts val="0"/>
                        </a:spcAft>
                        <a:buClr>
                          <a:srgbClr val="0F6E6E"/>
                        </a:buClr>
                        <a:buSzPts val="1800"/>
                        <a:buFont typeface="Calibri"/>
                        <a:buNone/>
                      </a:pPr>
                      <a:r>
                        <a:rPr lang="en-US" sz="1800" b="1" u="none" strike="noStrike" cap="none">
                          <a:solidFill>
                            <a:srgbClr val="0F6E6E"/>
                          </a:solidFill>
                          <a:latin typeface="Calibri"/>
                          <a:ea typeface="Calibri"/>
                          <a:cs typeface="Calibri"/>
                          <a:sym typeface="Calibri"/>
                        </a:rPr>
                        <a:t>8%</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tcPr>
                </a:tc>
                <a:tc>
                  <a:txBody>
                    <a:bodyPr/>
                    <a:lstStyle/>
                    <a:p>
                      <a:pPr marL="0" marR="0" lvl="0" indent="0" algn="l" rtl="0">
                        <a:spcBef>
                          <a:spcPts val="0"/>
                        </a:spcBef>
                        <a:spcAft>
                          <a:spcPts val="0"/>
                        </a:spcAft>
                        <a:buClr>
                          <a:srgbClr val="334155"/>
                        </a:buClr>
                        <a:buSzPts val="1800"/>
                        <a:buFont typeface="Calibri"/>
                        <a:buNone/>
                      </a:pPr>
                      <a:r>
                        <a:rPr lang="en-US" sz="1800" u="none" strike="noStrike" cap="none">
                          <a:solidFill>
                            <a:srgbClr val="334155"/>
                          </a:solidFill>
                          <a:latin typeface="Calibri"/>
                          <a:ea typeface="Calibri"/>
                          <a:cs typeface="Calibri"/>
                          <a:sym typeface="Calibri"/>
                        </a:rPr>
                        <a:t>Chats submitted, AI answers checked, mistakes caught</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7FAFA"/>
                    </a:solidFill>
                  </a:tcPr>
                </a:tc>
                <a:extLst>
                  <a:ext uri="{0D108BD9-81ED-4DB2-BD59-A6C34878D82A}">
                    <a16:rowId xmlns:a16="http://schemas.microsoft.com/office/drawing/2014/main" val="10006"/>
                  </a:ext>
                </a:extLst>
              </a:tr>
              <a:tr h="530350">
                <a:tc>
                  <a:txBody>
                    <a:bodyPr/>
                    <a:lstStyle/>
                    <a:p>
                      <a:pPr marL="0" marR="0" lvl="0" indent="0" algn="l" rtl="0">
                        <a:spcBef>
                          <a:spcPts val="0"/>
                        </a:spcBef>
                        <a:spcAft>
                          <a:spcPts val="0"/>
                        </a:spcAft>
                        <a:buClr>
                          <a:srgbClr val="334155"/>
                        </a:buClr>
                        <a:buSzPts val="1800"/>
                        <a:buFont typeface="Calibri"/>
                        <a:buNone/>
                      </a:pPr>
                      <a:r>
                        <a:rPr lang="en-US" sz="1800" u="none" strike="noStrike" cap="none">
                          <a:solidFill>
                            <a:srgbClr val="334155"/>
                          </a:solidFill>
                          <a:latin typeface="Calibri"/>
                          <a:ea typeface="Calibri"/>
                          <a:cs typeface="Calibri"/>
                          <a:sym typeface="Calibri"/>
                        </a:rPr>
                        <a:t>Final presentation</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F6E6E"/>
                        </a:buClr>
                        <a:buSzPts val="1800"/>
                        <a:buFont typeface="Calibri"/>
                        <a:buNone/>
                      </a:pPr>
                      <a:r>
                        <a:rPr lang="en-US" sz="1800" b="1" u="none" strike="noStrike" cap="none">
                          <a:solidFill>
                            <a:srgbClr val="0F6E6E"/>
                          </a:solidFill>
                          <a:latin typeface="Calibri"/>
                          <a:ea typeface="Calibri"/>
                          <a:cs typeface="Calibri"/>
                          <a:sym typeface="Calibri"/>
                        </a:rPr>
                        <a:t>20%</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tcPr>
                </a:tc>
                <a:tc>
                  <a:txBody>
                    <a:bodyPr/>
                    <a:lstStyle/>
                    <a:p>
                      <a:pPr marL="0" marR="0" lvl="0" indent="0" algn="l" rtl="0">
                        <a:spcBef>
                          <a:spcPts val="0"/>
                        </a:spcBef>
                        <a:spcAft>
                          <a:spcPts val="0"/>
                        </a:spcAft>
                        <a:buClr>
                          <a:srgbClr val="334155"/>
                        </a:buClr>
                        <a:buSzPts val="1800"/>
                        <a:buFont typeface="Calibri"/>
                        <a:buNone/>
                      </a:pPr>
                      <a:r>
                        <a:rPr lang="en-US" sz="1800" u="none" strike="noStrike" cap="none">
                          <a:solidFill>
                            <a:srgbClr val="334155"/>
                          </a:solidFill>
                          <a:latin typeface="Calibri"/>
                          <a:ea typeface="Calibri"/>
                          <a:cs typeface="Calibri"/>
                          <a:sym typeface="Calibri"/>
                        </a:rPr>
                        <a:t>Both partners explain the work confidently</a:t>
                      </a:r>
                      <a:endParaRPr sz="1800" u="none" strike="noStrike" cap="none">
                        <a:latin typeface="Calibri"/>
                        <a:ea typeface="Calibri"/>
                        <a:cs typeface="Calibri"/>
                        <a:sym typeface="Calibri"/>
                      </a:endParaRPr>
                    </a:p>
                  </a:txBody>
                  <a:tcPr marL="45725" marR="45725" marT="45725" marB="45725" anchor="ctr">
                    <a:lnL w="9525" cap="flat" cmpd="sng">
                      <a:solidFill>
                        <a:srgbClr val="C9D3D3"/>
                      </a:solidFill>
                      <a:prstDash val="solid"/>
                      <a:round/>
                      <a:headEnd type="none" w="sm" len="sm"/>
                      <a:tailEnd type="none" w="sm" len="sm"/>
                    </a:lnL>
                    <a:lnR w="9525" cap="flat" cmpd="sng">
                      <a:solidFill>
                        <a:srgbClr val="C9D3D3"/>
                      </a:solidFill>
                      <a:prstDash val="solid"/>
                      <a:round/>
                      <a:headEnd type="none" w="sm" len="sm"/>
                      <a:tailEnd type="none" w="sm" len="sm"/>
                    </a:lnR>
                    <a:lnT w="9525" cap="flat" cmpd="sng">
                      <a:solidFill>
                        <a:srgbClr val="C9D3D3"/>
                      </a:solidFill>
                      <a:prstDash val="solid"/>
                      <a:round/>
                      <a:headEnd type="none" w="sm" len="sm"/>
                      <a:tailEnd type="none" w="sm" len="sm"/>
                    </a:lnT>
                    <a:lnB w="9525" cap="flat" cmpd="sng">
                      <a:solidFill>
                        <a:srgbClr val="C9D3D3"/>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468" name="Google Shape;468;p24"/>
          <p:cNvSpPr txBox="1"/>
          <p:nvPr/>
        </p:nvSpPr>
        <p:spPr>
          <a:xfrm>
            <a:off x="3048000" y="6210300"/>
            <a:ext cx="451485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Weight Subject to change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3"/>
        <p:cNvGrpSpPr/>
        <p:nvPr/>
      </p:nvGrpSpPr>
      <p:grpSpPr>
        <a:xfrm>
          <a:off x="0" y="0"/>
          <a:ext cx="0" cy="0"/>
          <a:chOff x="0" y="0"/>
          <a:chExt cx="0" cy="0"/>
        </a:xfrm>
      </p:grpSpPr>
      <p:sp>
        <p:nvSpPr>
          <p:cNvPr id="474" name="Google Shape;474;p25"/>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FINAL PRESENTATION</a:t>
            </a:r>
            <a:endParaRPr sz="1100">
              <a:solidFill>
                <a:schemeClr val="dk1"/>
              </a:solidFill>
              <a:latin typeface="Calibri"/>
              <a:ea typeface="Calibri"/>
              <a:cs typeface="Calibri"/>
              <a:sym typeface="Calibri"/>
            </a:endParaRPr>
          </a:p>
        </p:txBody>
      </p:sp>
      <p:sp>
        <p:nvSpPr>
          <p:cNvPr id="475" name="Google Shape;475;p25"/>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Final presentation: 15 minutes, then questions</a:t>
            </a:r>
            <a:endParaRPr sz="2800">
              <a:solidFill>
                <a:schemeClr val="dk1"/>
              </a:solidFill>
              <a:latin typeface="Calibri"/>
              <a:ea typeface="Calibri"/>
              <a:cs typeface="Calibri"/>
              <a:sym typeface="Calibri"/>
            </a:endParaRPr>
          </a:p>
        </p:txBody>
      </p:sp>
      <p:sp>
        <p:nvSpPr>
          <p:cNvPr id="476" name="Google Shape;476;p25"/>
          <p:cNvSpPr/>
          <p:nvPr/>
        </p:nvSpPr>
        <p:spPr>
          <a:xfrm>
            <a:off x="548640" y="173736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7" name="Google Shape;477;p25"/>
          <p:cNvSpPr txBox="1"/>
          <p:nvPr/>
        </p:nvSpPr>
        <p:spPr>
          <a:xfrm>
            <a:off x="548640" y="173736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478" name="Google Shape;478;p25"/>
          <p:cNvSpPr txBox="1"/>
          <p:nvPr/>
        </p:nvSpPr>
        <p:spPr>
          <a:xfrm>
            <a:off x="1371600" y="1737360"/>
            <a:ext cx="548640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000"/>
              <a:buFont typeface="Calibri"/>
              <a:buNone/>
            </a:pPr>
            <a:r>
              <a:rPr lang="en-US" sz="2000">
                <a:solidFill>
                  <a:srgbClr val="1F2933"/>
                </a:solidFill>
                <a:latin typeface="Calibri"/>
                <a:ea typeface="Calibri"/>
                <a:cs typeface="Calibri"/>
                <a:sym typeface="Calibri"/>
              </a:rPr>
              <a:t>Your company and process</a:t>
            </a:r>
            <a:endParaRPr sz="2000">
              <a:solidFill>
                <a:schemeClr val="dk1"/>
              </a:solidFill>
              <a:latin typeface="Calibri"/>
              <a:ea typeface="Calibri"/>
              <a:cs typeface="Calibri"/>
              <a:sym typeface="Calibri"/>
            </a:endParaRPr>
          </a:p>
        </p:txBody>
      </p:sp>
      <p:sp>
        <p:nvSpPr>
          <p:cNvPr id="479" name="Google Shape;479;p25"/>
          <p:cNvSpPr/>
          <p:nvPr/>
        </p:nvSpPr>
        <p:spPr>
          <a:xfrm>
            <a:off x="548640" y="246888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0" name="Google Shape;480;p25"/>
          <p:cNvSpPr txBox="1"/>
          <p:nvPr/>
        </p:nvSpPr>
        <p:spPr>
          <a:xfrm>
            <a:off x="548640" y="246888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481" name="Google Shape;481;p25"/>
          <p:cNvSpPr txBox="1"/>
          <p:nvPr/>
        </p:nvSpPr>
        <p:spPr>
          <a:xfrm>
            <a:off x="1371600" y="2468880"/>
            <a:ext cx="548640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000"/>
              <a:buFont typeface="Calibri"/>
              <a:buNone/>
            </a:pPr>
            <a:r>
              <a:rPr lang="en-US" sz="2000">
                <a:solidFill>
                  <a:srgbClr val="1F2933"/>
                </a:solidFill>
                <a:latin typeface="Calibri"/>
                <a:ea typeface="Calibri"/>
                <a:cs typeface="Calibri"/>
                <a:sym typeface="Calibri"/>
              </a:rPr>
              <a:t>Use cases and DFDs</a:t>
            </a:r>
            <a:endParaRPr sz="2000">
              <a:solidFill>
                <a:schemeClr val="dk1"/>
              </a:solidFill>
              <a:latin typeface="Calibri"/>
              <a:ea typeface="Calibri"/>
              <a:cs typeface="Calibri"/>
              <a:sym typeface="Calibri"/>
            </a:endParaRPr>
          </a:p>
        </p:txBody>
      </p:sp>
      <p:sp>
        <p:nvSpPr>
          <p:cNvPr id="482" name="Google Shape;482;p25"/>
          <p:cNvSpPr/>
          <p:nvPr/>
        </p:nvSpPr>
        <p:spPr>
          <a:xfrm>
            <a:off x="548640" y="320040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3" name="Google Shape;483;p25"/>
          <p:cNvSpPr txBox="1"/>
          <p:nvPr/>
        </p:nvSpPr>
        <p:spPr>
          <a:xfrm>
            <a:off x="548640" y="320040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484" name="Google Shape;484;p25"/>
          <p:cNvSpPr txBox="1"/>
          <p:nvPr/>
        </p:nvSpPr>
        <p:spPr>
          <a:xfrm>
            <a:off x="1371600" y="3200400"/>
            <a:ext cx="548640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000"/>
              <a:buFont typeface="Calibri"/>
              <a:buNone/>
            </a:pPr>
            <a:r>
              <a:rPr lang="en-US" sz="2000">
                <a:solidFill>
                  <a:srgbClr val="1F2933"/>
                </a:solidFill>
                <a:latin typeface="Calibri"/>
                <a:ea typeface="Calibri"/>
                <a:cs typeface="Calibri"/>
                <a:sym typeface="Calibri"/>
              </a:rPr>
              <a:t>Data model and architecture</a:t>
            </a:r>
            <a:endParaRPr sz="2000">
              <a:solidFill>
                <a:schemeClr val="dk1"/>
              </a:solidFill>
              <a:latin typeface="Calibri"/>
              <a:ea typeface="Calibri"/>
              <a:cs typeface="Calibri"/>
              <a:sym typeface="Calibri"/>
            </a:endParaRPr>
          </a:p>
        </p:txBody>
      </p:sp>
      <p:sp>
        <p:nvSpPr>
          <p:cNvPr id="485" name="Google Shape;485;p25"/>
          <p:cNvSpPr/>
          <p:nvPr/>
        </p:nvSpPr>
        <p:spPr>
          <a:xfrm>
            <a:off x="548640" y="393192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6" name="Google Shape;486;p25"/>
          <p:cNvSpPr txBox="1"/>
          <p:nvPr/>
        </p:nvSpPr>
        <p:spPr>
          <a:xfrm>
            <a:off x="548640" y="393192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487" name="Google Shape;487;p25"/>
          <p:cNvSpPr txBox="1"/>
          <p:nvPr/>
        </p:nvSpPr>
        <p:spPr>
          <a:xfrm>
            <a:off x="1371600" y="3931920"/>
            <a:ext cx="548640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000"/>
              <a:buFont typeface="Calibri"/>
              <a:buNone/>
            </a:pPr>
            <a:r>
              <a:rPr lang="en-US" sz="2000">
                <a:solidFill>
                  <a:srgbClr val="1F2933"/>
                </a:solidFill>
                <a:latin typeface="Calibri"/>
                <a:ea typeface="Calibri"/>
                <a:cs typeface="Calibri"/>
                <a:sym typeface="Calibri"/>
              </a:rPr>
              <a:t>Interface findings</a:t>
            </a:r>
            <a:endParaRPr sz="2000">
              <a:solidFill>
                <a:schemeClr val="dk1"/>
              </a:solidFill>
              <a:latin typeface="Calibri"/>
              <a:ea typeface="Calibri"/>
              <a:cs typeface="Calibri"/>
              <a:sym typeface="Calibri"/>
            </a:endParaRPr>
          </a:p>
        </p:txBody>
      </p:sp>
      <p:sp>
        <p:nvSpPr>
          <p:cNvPr id="488" name="Google Shape;488;p25"/>
          <p:cNvSpPr/>
          <p:nvPr/>
        </p:nvSpPr>
        <p:spPr>
          <a:xfrm>
            <a:off x="548640" y="466344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9" name="Google Shape;489;p25"/>
          <p:cNvSpPr txBox="1"/>
          <p:nvPr/>
        </p:nvSpPr>
        <p:spPr>
          <a:xfrm>
            <a:off x="548640" y="466344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490" name="Google Shape;490;p25"/>
          <p:cNvSpPr txBox="1"/>
          <p:nvPr/>
        </p:nvSpPr>
        <p:spPr>
          <a:xfrm>
            <a:off x="1371600" y="4663440"/>
            <a:ext cx="548640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000"/>
              <a:buFont typeface="Calibri"/>
              <a:buNone/>
            </a:pPr>
            <a:r>
              <a:rPr lang="en-US" sz="2000">
                <a:solidFill>
                  <a:srgbClr val="1F2933"/>
                </a:solidFill>
                <a:latin typeface="Calibri"/>
                <a:ea typeface="Calibri"/>
                <a:cs typeface="Calibri"/>
                <a:sym typeface="Calibri"/>
              </a:rPr>
              <a:t>What you know vs. what you assume</a:t>
            </a:r>
            <a:endParaRPr sz="2000">
              <a:solidFill>
                <a:schemeClr val="dk1"/>
              </a:solidFill>
              <a:latin typeface="Calibri"/>
              <a:ea typeface="Calibri"/>
              <a:cs typeface="Calibri"/>
              <a:sym typeface="Calibri"/>
            </a:endParaRPr>
          </a:p>
        </p:txBody>
      </p:sp>
      <p:sp>
        <p:nvSpPr>
          <p:cNvPr id="491" name="Google Shape;491;p25"/>
          <p:cNvSpPr/>
          <p:nvPr/>
        </p:nvSpPr>
        <p:spPr>
          <a:xfrm>
            <a:off x="548640" y="5394960"/>
            <a:ext cx="566928" cy="566928"/>
          </a:xfrm>
          <a:prstGeom prst="ellipse">
            <a:avLst/>
          </a:prstGeom>
          <a:solidFill>
            <a:srgbClr val="0F6E6E"/>
          </a:solidFill>
          <a:ln w="12700" cap="flat" cmpd="sng">
            <a:solidFill>
              <a:srgbClr val="0F6E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2" name="Google Shape;492;p25"/>
          <p:cNvSpPr txBox="1"/>
          <p:nvPr/>
        </p:nvSpPr>
        <p:spPr>
          <a:xfrm>
            <a:off x="548640" y="5394960"/>
            <a:ext cx="566928"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6</a:t>
            </a:r>
            <a:endParaRPr sz="1800">
              <a:solidFill>
                <a:schemeClr val="dk1"/>
              </a:solidFill>
              <a:latin typeface="Calibri"/>
              <a:ea typeface="Calibri"/>
              <a:cs typeface="Calibri"/>
              <a:sym typeface="Calibri"/>
            </a:endParaRPr>
          </a:p>
        </p:txBody>
      </p:sp>
      <p:sp>
        <p:nvSpPr>
          <p:cNvPr id="493" name="Google Shape;493;p25"/>
          <p:cNvSpPr txBox="1"/>
          <p:nvPr/>
        </p:nvSpPr>
        <p:spPr>
          <a:xfrm>
            <a:off x="1371600" y="5394960"/>
            <a:ext cx="548640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000"/>
              <a:buFont typeface="Calibri"/>
              <a:buNone/>
            </a:pPr>
            <a:r>
              <a:rPr lang="en-US" sz="2000">
                <a:solidFill>
                  <a:srgbClr val="1F2933"/>
                </a:solidFill>
                <a:latin typeface="Calibri"/>
                <a:ea typeface="Calibri"/>
                <a:cs typeface="Calibri"/>
                <a:sym typeface="Calibri"/>
              </a:rPr>
              <a:t>What the AI got wrong</a:t>
            </a:r>
            <a:endParaRPr sz="2000">
              <a:solidFill>
                <a:schemeClr val="dk1"/>
              </a:solidFill>
              <a:latin typeface="Calibri"/>
              <a:ea typeface="Calibri"/>
              <a:cs typeface="Calibri"/>
              <a:sym typeface="Calibri"/>
            </a:endParaRPr>
          </a:p>
        </p:txBody>
      </p:sp>
      <p:sp>
        <p:nvSpPr>
          <p:cNvPr id="494" name="Google Shape;494;p25"/>
          <p:cNvSpPr/>
          <p:nvPr/>
        </p:nvSpPr>
        <p:spPr>
          <a:xfrm>
            <a:off x="7223760" y="1737360"/>
            <a:ext cx="4389120" cy="4434840"/>
          </a:xfrm>
          <a:prstGeom prst="roundRect">
            <a:avLst>
              <a:gd name="adj" fmla="val 1667"/>
            </a:avLst>
          </a:prstGeom>
          <a:solidFill>
            <a:srgbClr val="D6EAEA"/>
          </a:solidFill>
          <a:ln w="12700" cap="flat" cmpd="sng">
            <a:solidFill>
              <a:srgbClr val="D6EAE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5" name="Google Shape;495;p25"/>
          <p:cNvSpPr txBox="1"/>
          <p:nvPr/>
        </p:nvSpPr>
        <p:spPr>
          <a:xfrm>
            <a:off x="7406640" y="1901952"/>
            <a:ext cx="402336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933"/>
              </a:buClr>
              <a:buSzPts val="2200"/>
              <a:buFont typeface="Calibri"/>
              <a:buNone/>
            </a:pPr>
            <a:r>
              <a:rPr lang="en-US" sz="2200" b="1">
                <a:solidFill>
                  <a:srgbClr val="1F2933"/>
                </a:solidFill>
                <a:latin typeface="Calibri"/>
                <a:ea typeface="Calibri"/>
                <a:cs typeface="Calibri"/>
                <a:sym typeface="Calibri"/>
              </a:rPr>
              <a:t>Be ready to…</a:t>
            </a:r>
            <a:endParaRPr sz="2200">
              <a:solidFill>
                <a:schemeClr val="dk1"/>
              </a:solidFill>
              <a:latin typeface="Calibri"/>
              <a:ea typeface="Calibri"/>
              <a:cs typeface="Calibri"/>
              <a:sym typeface="Calibri"/>
            </a:endParaRPr>
          </a:p>
        </p:txBody>
      </p:sp>
      <p:sp>
        <p:nvSpPr>
          <p:cNvPr id="496" name="Google Shape;496;p25"/>
          <p:cNvSpPr txBox="1"/>
          <p:nvPr/>
        </p:nvSpPr>
        <p:spPr>
          <a:xfrm>
            <a:off x="7406640" y="2496312"/>
            <a:ext cx="4023360" cy="35204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1800"/>
              <a:buFont typeface="Calibri"/>
              <a:buNone/>
            </a:pPr>
            <a:r>
              <a:rPr lang="en-US" sz="1800">
                <a:solidFill>
                  <a:srgbClr val="334155"/>
                </a:solidFill>
                <a:latin typeface="Calibri"/>
                <a:ea typeface="Calibri"/>
                <a:cs typeface="Calibri"/>
                <a:sym typeface="Calibri"/>
              </a:rPr>
              <a:t>Both present</a:t>
            </a:r>
            <a:endParaRPr sz="18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1800"/>
              <a:buFont typeface="Calibri"/>
              <a:buNone/>
            </a:pPr>
            <a:r>
              <a:rPr lang="en-US" sz="1800">
                <a:solidFill>
                  <a:srgbClr val="334155"/>
                </a:solidFill>
                <a:latin typeface="Calibri"/>
                <a:ea typeface="Calibri"/>
                <a:cs typeface="Calibri"/>
                <a:sym typeface="Calibri"/>
              </a:rPr>
              <a:t>Answer 10 minutes of questions</a:t>
            </a:r>
            <a:endParaRPr sz="18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1800"/>
              <a:buFont typeface="Calibri"/>
              <a:buNone/>
            </a:pPr>
            <a:r>
              <a:rPr lang="en-US" sz="1800">
                <a:solidFill>
                  <a:srgbClr val="334155"/>
                </a:solidFill>
                <a:latin typeface="Calibri"/>
                <a:ea typeface="Calibri"/>
                <a:cs typeface="Calibri"/>
                <a:sym typeface="Calibri"/>
              </a:rPr>
              <a:t>Trace any requirement through your work</a:t>
            </a:r>
            <a:endParaRPr sz="18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a:p>
            <a:pPr marL="0" marR="0" lvl="0" indent="0" algn="l" rtl="0">
              <a:spcBef>
                <a:spcPts val="0"/>
              </a:spcBef>
              <a:spcAft>
                <a:spcPts val="0"/>
              </a:spcAft>
              <a:buClr>
                <a:srgbClr val="334155"/>
              </a:buClr>
              <a:buSzPts val="1800"/>
              <a:buFont typeface="Calibri"/>
              <a:buNone/>
            </a:pPr>
            <a:r>
              <a:rPr lang="en-US" sz="1800">
                <a:solidFill>
                  <a:srgbClr val="334155"/>
                </a:solidFill>
                <a:latin typeface="Calibri"/>
                <a:ea typeface="Calibri"/>
                <a:cs typeface="Calibri"/>
                <a:sym typeface="Calibri"/>
              </a:rPr>
              <a:t>Redraw part of a diagram</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1"/>
        <p:cNvGrpSpPr/>
        <p:nvPr/>
      </p:nvGrpSpPr>
      <p:grpSpPr>
        <a:xfrm>
          <a:off x="0" y="0"/>
          <a:ext cx="0" cy="0"/>
          <a:chOff x="0" y="0"/>
          <a:chExt cx="0" cy="0"/>
        </a:xfrm>
      </p:grpSpPr>
      <p:sp>
        <p:nvSpPr>
          <p:cNvPr id="502" name="Google Shape;502;p26"/>
          <p:cNvSpPr txBox="1"/>
          <p:nvPr/>
        </p:nvSpPr>
        <p:spPr>
          <a:xfrm>
            <a:off x="548640" y="320040"/>
            <a:ext cx="109728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6E6E"/>
              </a:buClr>
              <a:buSzPts val="1100"/>
              <a:buFont typeface="Calibri"/>
              <a:buNone/>
            </a:pPr>
            <a:r>
              <a:rPr lang="en-US" sz="1100" b="1">
                <a:solidFill>
                  <a:srgbClr val="0F6E6E"/>
                </a:solidFill>
                <a:latin typeface="Calibri"/>
                <a:ea typeface="Calibri"/>
                <a:cs typeface="Calibri"/>
                <a:sym typeface="Calibri"/>
              </a:rPr>
              <a:t>COMMON MISTAKES</a:t>
            </a:r>
            <a:endParaRPr sz="1100">
              <a:solidFill>
                <a:schemeClr val="dk1"/>
              </a:solidFill>
              <a:latin typeface="Calibri"/>
              <a:ea typeface="Calibri"/>
              <a:cs typeface="Calibri"/>
              <a:sym typeface="Calibri"/>
            </a:endParaRPr>
          </a:p>
        </p:txBody>
      </p:sp>
      <p:sp>
        <p:nvSpPr>
          <p:cNvPr id="503" name="Google Shape;503;p26"/>
          <p:cNvSpPr txBox="1"/>
          <p:nvPr/>
        </p:nvSpPr>
        <p:spPr>
          <a:xfrm>
            <a:off x="548640" y="594360"/>
            <a:ext cx="1106424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2800"/>
              <a:buFont typeface="Cambria"/>
              <a:buNone/>
            </a:pPr>
            <a:r>
              <a:rPr lang="en-US" sz="2800" b="1">
                <a:solidFill>
                  <a:srgbClr val="1F2933"/>
                </a:solidFill>
                <a:latin typeface="Cambria"/>
                <a:ea typeface="Cambria"/>
                <a:cs typeface="Cambria"/>
                <a:sym typeface="Cambria"/>
              </a:rPr>
              <a:t>Avoid these common mistakes</a:t>
            </a:r>
            <a:endParaRPr sz="2800">
              <a:solidFill>
                <a:schemeClr val="dk1"/>
              </a:solidFill>
              <a:latin typeface="Calibri"/>
              <a:ea typeface="Calibri"/>
              <a:cs typeface="Calibri"/>
              <a:sym typeface="Calibri"/>
            </a:endParaRPr>
          </a:p>
        </p:txBody>
      </p:sp>
      <p:sp>
        <p:nvSpPr>
          <p:cNvPr id="504" name="Google Shape;504;p26"/>
          <p:cNvSpPr/>
          <p:nvPr/>
        </p:nvSpPr>
        <p:spPr>
          <a:xfrm>
            <a:off x="548640" y="1691640"/>
            <a:ext cx="5440680" cy="914400"/>
          </a:xfrm>
          <a:prstGeom prst="roundRect">
            <a:avLst>
              <a:gd name="adj" fmla="val 8000"/>
            </a:avLst>
          </a:prstGeom>
          <a:solidFill>
            <a:srgbClr val="F6E1E5"/>
          </a:solidFill>
          <a:ln w="12700" cap="flat" cmpd="sng">
            <a:solidFill>
              <a:srgbClr val="F6E1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5" name="Google Shape;505;p26"/>
          <p:cNvSpPr/>
          <p:nvPr/>
        </p:nvSpPr>
        <p:spPr>
          <a:xfrm>
            <a:off x="777240" y="1892808"/>
            <a:ext cx="512064" cy="512064"/>
          </a:xfrm>
          <a:prstGeom prst="ellipse">
            <a:avLst/>
          </a:prstGeom>
          <a:solidFill>
            <a:srgbClr val="B23A48"/>
          </a:solidFill>
          <a:ln w="12700" cap="flat" cmpd="sng">
            <a:solidFill>
              <a:srgbClr val="B23A4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6" name="Google Shape;506;p26"/>
          <p:cNvSpPr txBox="1"/>
          <p:nvPr/>
        </p:nvSpPr>
        <p:spPr>
          <a:xfrm>
            <a:off x="777240" y="1892808"/>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507" name="Google Shape;507;p26"/>
          <p:cNvSpPr txBox="1"/>
          <p:nvPr/>
        </p:nvSpPr>
        <p:spPr>
          <a:xfrm>
            <a:off x="1508760" y="1691640"/>
            <a:ext cx="429768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900"/>
              <a:buFont typeface="Calibri"/>
              <a:buNone/>
            </a:pPr>
            <a:r>
              <a:rPr lang="en-US" sz="1900">
                <a:solidFill>
                  <a:srgbClr val="1F2933"/>
                </a:solidFill>
                <a:latin typeface="Calibri"/>
                <a:ea typeface="Calibri"/>
                <a:cs typeface="Calibri"/>
                <a:sym typeface="Calibri"/>
              </a:rPr>
              <a:t>Treating AI answers as facts</a:t>
            </a:r>
            <a:endParaRPr sz="1900">
              <a:solidFill>
                <a:schemeClr val="dk1"/>
              </a:solidFill>
              <a:latin typeface="Calibri"/>
              <a:ea typeface="Calibri"/>
              <a:cs typeface="Calibri"/>
              <a:sym typeface="Calibri"/>
            </a:endParaRPr>
          </a:p>
        </p:txBody>
      </p:sp>
      <p:sp>
        <p:nvSpPr>
          <p:cNvPr id="508" name="Google Shape;508;p26"/>
          <p:cNvSpPr/>
          <p:nvPr/>
        </p:nvSpPr>
        <p:spPr>
          <a:xfrm>
            <a:off x="6172200" y="1691640"/>
            <a:ext cx="5440680" cy="914400"/>
          </a:xfrm>
          <a:prstGeom prst="roundRect">
            <a:avLst>
              <a:gd name="adj" fmla="val 8000"/>
            </a:avLst>
          </a:prstGeom>
          <a:solidFill>
            <a:srgbClr val="F6E1E5"/>
          </a:solidFill>
          <a:ln w="12700" cap="flat" cmpd="sng">
            <a:solidFill>
              <a:srgbClr val="F6E1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9" name="Google Shape;509;p26"/>
          <p:cNvSpPr/>
          <p:nvPr/>
        </p:nvSpPr>
        <p:spPr>
          <a:xfrm>
            <a:off x="6400800" y="1892808"/>
            <a:ext cx="512064" cy="512064"/>
          </a:xfrm>
          <a:prstGeom prst="ellipse">
            <a:avLst/>
          </a:prstGeom>
          <a:solidFill>
            <a:srgbClr val="B23A48"/>
          </a:solidFill>
          <a:ln w="12700" cap="flat" cmpd="sng">
            <a:solidFill>
              <a:srgbClr val="B23A4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0" name="Google Shape;510;p26"/>
          <p:cNvSpPr txBox="1"/>
          <p:nvPr/>
        </p:nvSpPr>
        <p:spPr>
          <a:xfrm>
            <a:off x="6400800" y="1892808"/>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511" name="Google Shape;511;p26"/>
          <p:cNvSpPr txBox="1"/>
          <p:nvPr/>
        </p:nvSpPr>
        <p:spPr>
          <a:xfrm>
            <a:off x="7132320" y="1691640"/>
            <a:ext cx="429768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900"/>
              <a:buFont typeface="Calibri"/>
              <a:buNone/>
            </a:pPr>
            <a:r>
              <a:rPr lang="en-US" sz="1900">
                <a:solidFill>
                  <a:srgbClr val="1F2933"/>
                </a:solidFill>
                <a:latin typeface="Calibri"/>
                <a:ea typeface="Calibri"/>
                <a:cs typeface="Calibri"/>
                <a:sym typeface="Calibri"/>
              </a:rPr>
              <a:t>Asking the AI to "tell me everything"</a:t>
            </a:r>
            <a:endParaRPr sz="1900">
              <a:solidFill>
                <a:schemeClr val="dk1"/>
              </a:solidFill>
              <a:latin typeface="Calibri"/>
              <a:ea typeface="Calibri"/>
              <a:cs typeface="Calibri"/>
              <a:sym typeface="Calibri"/>
            </a:endParaRPr>
          </a:p>
        </p:txBody>
      </p:sp>
      <p:sp>
        <p:nvSpPr>
          <p:cNvPr id="512" name="Google Shape;512;p26"/>
          <p:cNvSpPr/>
          <p:nvPr/>
        </p:nvSpPr>
        <p:spPr>
          <a:xfrm>
            <a:off x="548640" y="2788920"/>
            <a:ext cx="5440680" cy="914400"/>
          </a:xfrm>
          <a:prstGeom prst="roundRect">
            <a:avLst>
              <a:gd name="adj" fmla="val 8000"/>
            </a:avLst>
          </a:prstGeom>
          <a:solidFill>
            <a:srgbClr val="F6E1E5"/>
          </a:solidFill>
          <a:ln w="12700" cap="flat" cmpd="sng">
            <a:solidFill>
              <a:srgbClr val="F6E1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3" name="Google Shape;513;p26"/>
          <p:cNvSpPr/>
          <p:nvPr/>
        </p:nvSpPr>
        <p:spPr>
          <a:xfrm>
            <a:off x="777240" y="2990088"/>
            <a:ext cx="512064" cy="512064"/>
          </a:xfrm>
          <a:prstGeom prst="ellipse">
            <a:avLst/>
          </a:prstGeom>
          <a:solidFill>
            <a:srgbClr val="B23A48"/>
          </a:solidFill>
          <a:ln w="12700" cap="flat" cmpd="sng">
            <a:solidFill>
              <a:srgbClr val="B23A4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4" name="Google Shape;514;p26"/>
          <p:cNvSpPr txBox="1"/>
          <p:nvPr/>
        </p:nvSpPr>
        <p:spPr>
          <a:xfrm>
            <a:off x="777240" y="2990088"/>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515" name="Google Shape;515;p26"/>
          <p:cNvSpPr txBox="1"/>
          <p:nvPr/>
        </p:nvSpPr>
        <p:spPr>
          <a:xfrm>
            <a:off x="1508760" y="2788920"/>
            <a:ext cx="429768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900"/>
              <a:buFont typeface="Calibri"/>
              <a:buNone/>
            </a:pPr>
            <a:r>
              <a:rPr lang="en-US" sz="1900">
                <a:solidFill>
                  <a:srgbClr val="1F2933"/>
                </a:solidFill>
                <a:latin typeface="Calibri"/>
                <a:ea typeface="Calibri"/>
                <a:cs typeface="Calibri"/>
                <a:sym typeface="Calibri"/>
              </a:rPr>
              <a:t>Writing use cases as button clicks</a:t>
            </a:r>
            <a:endParaRPr sz="1900">
              <a:solidFill>
                <a:schemeClr val="dk1"/>
              </a:solidFill>
              <a:latin typeface="Calibri"/>
              <a:ea typeface="Calibri"/>
              <a:cs typeface="Calibri"/>
              <a:sym typeface="Calibri"/>
            </a:endParaRPr>
          </a:p>
        </p:txBody>
      </p:sp>
      <p:sp>
        <p:nvSpPr>
          <p:cNvPr id="516" name="Google Shape;516;p26"/>
          <p:cNvSpPr/>
          <p:nvPr/>
        </p:nvSpPr>
        <p:spPr>
          <a:xfrm>
            <a:off x="6172200" y="2788920"/>
            <a:ext cx="5440680" cy="914400"/>
          </a:xfrm>
          <a:prstGeom prst="roundRect">
            <a:avLst>
              <a:gd name="adj" fmla="val 8000"/>
            </a:avLst>
          </a:prstGeom>
          <a:solidFill>
            <a:srgbClr val="F6E1E5"/>
          </a:solidFill>
          <a:ln w="12700" cap="flat" cmpd="sng">
            <a:solidFill>
              <a:srgbClr val="F6E1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7" name="Google Shape;517;p26"/>
          <p:cNvSpPr/>
          <p:nvPr/>
        </p:nvSpPr>
        <p:spPr>
          <a:xfrm>
            <a:off x="6400800" y="2990088"/>
            <a:ext cx="512064" cy="512064"/>
          </a:xfrm>
          <a:prstGeom prst="ellipse">
            <a:avLst/>
          </a:prstGeom>
          <a:solidFill>
            <a:srgbClr val="B23A48"/>
          </a:solidFill>
          <a:ln w="12700" cap="flat" cmpd="sng">
            <a:solidFill>
              <a:srgbClr val="B23A4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8" name="Google Shape;518;p26"/>
          <p:cNvSpPr txBox="1"/>
          <p:nvPr/>
        </p:nvSpPr>
        <p:spPr>
          <a:xfrm>
            <a:off x="6400800" y="2990088"/>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519" name="Google Shape;519;p26"/>
          <p:cNvSpPr txBox="1"/>
          <p:nvPr/>
        </p:nvSpPr>
        <p:spPr>
          <a:xfrm>
            <a:off x="7132320" y="2788920"/>
            <a:ext cx="429768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900"/>
              <a:buFont typeface="Calibri"/>
              <a:buNone/>
            </a:pPr>
            <a:r>
              <a:rPr lang="en-US" sz="1900">
                <a:solidFill>
                  <a:srgbClr val="1F2933"/>
                </a:solidFill>
                <a:latin typeface="Calibri"/>
                <a:ea typeface="Calibri"/>
                <a:cs typeface="Calibri"/>
                <a:sym typeface="Calibri"/>
              </a:rPr>
              <a:t>DFD levels that don't match</a:t>
            </a:r>
            <a:endParaRPr sz="1900">
              <a:solidFill>
                <a:schemeClr val="dk1"/>
              </a:solidFill>
              <a:latin typeface="Calibri"/>
              <a:ea typeface="Calibri"/>
              <a:cs typeface="Calibri"/>
              <a:sym typeface="Calibri"/>
            </a:endParaRPr>
          </a:p>
        </p:txBody>
      </p:sp>
      <p:sp>
        <p:nvSpPr>
          <p:cNvPr id="520" name="Google Shape;520;p26"/>
          <p:cNvSpPr/>
          <p:nvPr/>
        </p:nvSpPr>
        <p:spPr>
          <a:xfrm>
            <a:off x="548640" y="3886200"/>
            <a:ext cx="5440680" cy="914400"/>
          </a:xfrm>
          <a:prstGeom prst="roundRect">
            <a:avLst>
              <a:gd name="adj" fmla="val 8000"/>
            </a:avLst>
          </a:prstGeom>
          <a:solidFill>
            <a:srgbClr val="F6E1E5"/>
          </a:solidFill>
          <a:ln w="12700" cap="flat" cmpd="sng">
            <a:solidFill>
              <a:srgbClr val="F6E1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1" name="Google Shape;521;p26"/>
          <p:cNvSpPr/>
          <p:nvPr/>
        </p:nvSpPr>
        <p:spPr>
          <a:xfrm>
            <a:off x="777240" y="4087368"/>
            <a:ext cx="512064" cy="512064"/>
          </a:xfrm>
          <a:prstGeom prst="ellipse">
            <a:avLst/>
          </a:prstGeom>
          <a:solidFill>
            <a:srgbClr val="B23A48"/>
          </a:solidFill>
          <a:ln w="12700" cap="flat" cmpd="sng">
            <a:solidFill>
              <a:srgbClr val="B23A4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2" name="Google Shape;522;p26"/>
          <p:cNvSpPr txBox="1"/>
          <p:nvPr/>
        </p:nvSpPr>
        <p:spPr>
          <a:xfrm>
            <a:off x="777240" y="4087368"/>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523" name="Google Shape;523;p26"/>
          <p:cNvSpPr txBox="1"/>
          <p:nvPr/>
        </p:nvSpPr>
        <p:spPr>
          <a:xfrm>
            <a:off x="1508760" y="3886200"/>
            <a:ext cx="429768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900"/>
              <a:buFont typeface="Calibri"/>
              <a:buNone/>
            </a:pPr>
            <a:r>
              <a:rPr lang="en-US" sz="1900">
                <a:solidFill>
                  <a:srgbClr val="1F2933"/>
                </a:solidFill>
                <a:latin typeface="Calibri"/>
                <a:ea typeface="Calibri"/>
                <a:cs typeface="Calibri"/>
                <a:sym typeface="Calibri"/>
              </a:rPr>
              <a:t>Making screens into entities</a:t>
            </a:r>
            <a:endParaRPr sz="1900">
              <a:solidFill>
                <a:schemeClr val="dk1"/>
              </a:solidFill>
              <a:latin typeface="Calibri"/>
              <a:ea typeface="Calibri"/>
              <a:cs typeface="Calibri"/>
              <a:sym typeface="Calibri"/>
            </a:endParaRPr>
          </a:p>
        </p:txBody>
      </p:sp>
      <p:sp>
        <p:nvSpPr>
          <p:cNvPr id="524" name="Google Shape;524;p26"/>
          <p:cNvSpPr/>
          <p:nvPr/>
        </p:nvSpPr>
        <p:spPr>
          <a:xfrm>
            <a:off x="6172200" y="3886200"/>
            <a:ext cx="5440680" cy="914400"/>
          </a:xfrm>
          <a:prstGeom prst="roundRect">
            <a:avLst>
              <a:gd name="adj" fmla="val 8000"/>
            </a:avLst>
          </a:prstGeom>
          <a:solidFill>
            <a:srgbClr val="F6E1E5"/>
          </a:solidFill>
          <a:ln w="12700" cap="flat" cmpd="sng">
            <a:solidFill>
              <a:srgbClr val="F6E1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5" name="Google Shape;525;p26"/>
          <p:cNvSpPr/>
          <p:nvPr/>
        </p:nvSpPr>
        <p:spPr>
          <a:xfrm>
            <a:off x="6400800" y="4087368"/>
            <a:ext cx="512064" cy="512064"/>
          </a:xfrm>
          <a:prstGeom prst="ellipse">
            <a:avLst/>
          </a:prstGeom>
          <a:solidFill>
            <a:srgbClr val="B23A48"/>
          </a:solidFill>
          <a:ln w="12700" cap="flat" cmpd="sng">
            <a:solidFill>
              <a:srgbClr val="B23A4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6" name="Google Shape;526;p26"/>
          <p:cNvSpPr txBox="1"/>
          <p:nvPr/>
        </p:nvSpPr>
        <p:spPr>
          <a:xfrm>
            <a:off x="6400800" y="4087368"/>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527" name="Google Shape;527;p26"/>
          <p:cNvSpPr txBox="1"/>
          <p:nvPr/>
        </p:nvSpPr>
        <p:spPr>
          <a:xfrm>
            <a:off x="7132320" y="3886200"/>
            <a:ext cx="429768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900"/>
              <a:buFont typeface="Calibri"/>
              <a:buNone/>
            </a:pPr>
            <a:r>
              <a:rPr lang="en-US" sz="1900">
                <a:solidFill>
                  <a:srgbClr val="1F2933"/>
                </a:solidFill>
                <a:latin typeface="Calibri"/>
                <a:ea typeface="Calibri"/>
                <a:cs typeface="Calibri"/>
                <a:sym typeface="Calibri"/>
              </a:rPr>
              <a:t>Vague requirements like "fast"</a:t>
            </a:r>
            <a:endParaRPr sz="1900">
              <a:solidFill>
                <a:schemeClr val="dk1"/>
              </a:solidFill>
              <a:latin typeface="Calibri"/>
              <a:ea typeface="Calibri"/>
              <a:cs typeface="Calibri"/>
              <a:sym typeface="Calibri"/>
            </a:endParaRPr>
          </a:p>
        </p:txBody>
      </p:sp>
      <p:sp>
        <p:nvSpPr>
          <p:cNvPr id="528" name="Google Shape;528;p26"/>
          <p:cNvSpPr/>
          <p:nvPr/>
        </p:nvSpPr>
        <p:spPr>
          <a:xfrm>
            <a:off x="548640" y="4983480"/>
            <a:ext cx="5440680" cy="914400"/>
          </a:xfrm>
          <a:prstGeom prst="roundRect">
            <a:avLst>
              <a:gd name="adj" fmla="val 8000"/>
            </a:avLst>
          </a:prstGeom>
          <a:solidFill>
            <a:srgbClr val="F6E1E5"/>
          </a:solidFill>
          <a:ln w="12700" cap="flat" cmpd="sng">
            <a:solidFill>
              <a:srgbClr val="F6E1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9" name="Google Shape;529;p26"/>
          <p:cNvSpPr/>
          <p:nvPr/>
        </p:nvSpPr>
        <p:spPr>
          <a:xfrm>
            <a:off x="777240" y="5184648"/>
            <a:ext cx="512064" cy="512064"/>
          </a:xfrm>
          <a:prstGeom prst="ellipse">
            <a:avLst/>
          </a:prstGeom>
          <a:solidFill>
            <a:srgbClr val="B23A48"/>
          </a:solidFill>
          <a:ln w="12700" cap="flat" cmpd="sng">
            <a:solidFill>
              <a:srgbClr val="B23A4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0" name="Google Shape;530;p26"/>
          <p:cNvSpPr txBox="1"/>
          <p:nvPr/>
        </p:nvSpPr>
        <p:spPr>
          <a:xfrm>
            <a:off x="777240" y="5184648"/>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531" name="Google Shape;531;p26"/>
          <p:cNvSpPr txBox="1"/>
          <p:nvPr/>
        </p:nvSpPr>
        <p:spPr>
          <a:xfrm>
            <a:off x="1508760" y="4983480"/>
            <a:ext cx="429768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900"/>
              <a:buFont typeface="Calibri"/>
              <a:buNone/>
            </a:pPr>
            <a:r>
              <a:rPr lang="en-US" sz="1900">
                <a:solidFill>
                  <a:srgbClr val="1F2933"/>
                </a:solidFill>
                <a:latin typeface="Calibri"/>
                <a:ea typeface="Calibri"/>
                <a:cs typeface="Calibri"/>
                <a:sym typeface="Calibri"/>
              </a:rPr>
              <a:t>Filling in logs at the last minute</a:t>
            </a:r>
            <a:endParaRPr sz="1900">
              <a:solidFill>
                <a:schemeClr val="dk1"/>
              </a:solidFill>
              <a:latin typeface="Calibri"/>
              <a:ea typeface="Calibri"/>
              <a:cs typeface="Calibri"/>
              <a:sym typeface="Calibri"/>
            </a:endParaRPr>
          </a:p>
        </p:txBody>
      </p:sp>
      <p:sp>
        <p:nvSpPr>
          <p:cNvPr id="532" name="Google Shape;532;p26"/>
          <p:cNvSpPr/>
          <p:nvPr/>
        </p:nvSpPr>
        <p:spPr>
          <a:xfrm>
            <a:off x="6172200" y="4983480"/>
            <a:ext cx="5440680" cy="914400"/>
          </a:xfrm>
          <a:prstGeom prst="roundRect">
            <a:avLst>
              <a:gd name="adj" fmla="val 8000"/>
            </a:avLst>
          </a:prstGeom>
          <a:solidFill>
            <a:srgbClr val="F6E1E5"/>
          </a:solidFill>
          <a:ln w="12700" cap="flat" cmpd="sng">
            <a:solidFill>
              <a:srgbClr val="F6E1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3" name="Google Shape;533;p26"/>
          <p:cNvSpPr/>
          <p:nvPr/>
        </p:nvSpPr>
        <p:spPr>
          <a:xfrm>
            <a:off x="6400800" y="5184648"/>
            <a:ext cx="512064" cy="512064"/>
          </a:xfrm>
          <a:prstGeom prst="ellipse">
            <a:avLst/>
          </a:prstGeom>
          <a:solidFill>
            <a:srgbClr val="B23A48"/>
          </a:solidFill>
          <a:ln w="12700" cap="flat" cmpd="sng">
            <a:solidFill>
              <a:srgbClr val="B23A4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4" name="Google Shape;534;p26"/>
          <p:cNvSpPr txBox="1"/>
          <p:nvPr/>
        </p:nvSpPr>
        <p:spPr>
          <a:xfrm>
            <a:off x="6400800" y="5184648"/>
            <a:ext cx="512064"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535" name="Google Shape;535;p26"/>
          <p:cNvSpPr txBox="1"/>
          <p:nvPr/>
        </p:nvSpPr>
        <p:spPr>
          <a:xfrm>
            <a:off x="7132320" y="4983480"/>
            <a:ext cx="429768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933"/>
              </a:buClr>
              <a:buSzPts val="1900"/>
              <a:buFont typeface="Calibri"/>
              <a:buNone/>
            </a:pPr>
            <a:r>
              <a:rPr lang="en-US" sz="1900">
                <a:solidFill>
                  <a:srgbClr val="1F2933"/>
                </a:solidFill>
                <a:latin typeface="Calibri"/>
                <a:ea typeface="Calibri"/>
                <a:cs typeface="Calibri"/>
                <a:sym typeface="Calibri"/>
              </a:rPr>
              <a:t>Stating guesses as facts</a:t>
            </a:r>
            <a:endParaRPr sz="19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F2933"/>
        </a:solidFill>
        <a:effectLst/>
      </p:bgPr>
    </p:bg>
    <p:spTree>
      <p:nvGrpSpPr>
        <p:cNvPr id="1" name="Shape 540"/>
        <p:cNvGrpSpPr/>
        <p:nvPr/>
      </p:nvGrpSpPr>
      <p:grpSpPr>
        <a:xfrm>
          <a:off x="0" y="0"/>
          <a:ext cx="0" cy="0"/>
          <a:chOff x="0" y="0"/>
          <a:chExt cx="0" cy="0"/>
        </a:xfrm>
      </p:grpSpPr>
      <p:sp>
        <p:nvSpPr>
          <p:cNvPr id="541" name="Google Shape;541;p27"/>
          <p:cNvSpPr txBox="1"/>
          <p:nvPr/>
        </p:nvSpPr>
        <p:spPr>
          <a:xfrm>
            <a:off x="731520" y="1828800"/>
            <a:ext cx="10058400" cy="11887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5400"/>
              <a:buFont typeface="Cambria"/>
              <a:buNone/>
            </a:pPr>
            <a:r>
              <a:rPr lang="en-US" sz="5400" b="1">
                <a:solidFill>
                  <a:srgbClr val="FFFFFF"/>
                </a:solidFill>
                <a:latin typeface="Cambria"/>
                <a:ea typeface="Cambria"/>
                <a:cs typeface="Cambria"/>
                <a:sym typeface="Cambria"/>
              </a:rPr>
              <a:t>Questions?</a:t>
            </a:r>
            <a:endParaRPr sz="5400">
              <a:solidFill>
                <a:schemeClr val="dk1"/>
              </a:solidFill>
              <a:latin typeface="Calibri"/>
              <a:ea typeface="Calibri"/>
              <a:cs typeface="Calibri"/>
              <a:sym typeface="Calibri"/>
            </a:endParaRPr>
          </a:p>
        </p:txBody>
      </p:sp>
      <p:sp>
        <p:nvSpPr>
          <p:cNvPr id="542" name="Google Shape;542;p27"/>
          <p:cNvSpPr txBox="1"/>
          <p:nvPr/>
        </p:nvSpPr>
        <p:spPr>
          <a:xfrm>
            <a:off x="731520" y="3200400"/>
            <a:ext cx="1005840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8C4C4"/>
              </a:buClr>
              <a:buSzPts val="2400"/>
              <a:buFont typeface="Calibri"/>
              <a:buNone/>
            </a:pPr>
            <a:r>
              <a:rPr lang="en-US" sz="2400">
                <a:solidFill>
                  <a:srgbClr val="B8C4C4"/>
                </a:solidFill>
                <a:latin typeface="Calibri"/>
                <a:ea typeface="Calibri"/>
                <a:cs typeface="Calibri"/>
                <a:sym typeface="Calibri"/>
              </a:rPr>
              <a:t>Next step: choose your company.</a:t>
            </a:r>
            <a:endParaRPr sz="2400">
              <a:solidFill>
                <a:schemeClr val="dk1"/>
              </a:solidFill>
              <a:latin typeface="Calibri"/>
              <a:ea typeface="Calibri"/>
              <a:cs typeface="Calibri"/>
              <a:sym typeface="Calibri"/>
            </a:endParaRPr>
          </a:p>
        </p:txBody>
      </p:sp>
      <p:sp>
        <p:nvSpPr>
          <p:cNvPr id="543" name="Google Shape;543;p27"/>
          <p:cNvSpPr/>
          <p:nvPr/>
        </p:nvSpPr>
        <p:spPr>
          <a:xfrm>
            <a:off x="731520" y="5029200"/>
            <a:ext cx="502920" cy="502920"/>
          </a:xfrm>
          <a:prstGeom prst="ellipse">
            <a:avLst/>
          </a:prstGeom>
          <a:solidFill>
            <a:srgbClr val="2E7D4F"/>
          </a:solidFill>
          <a:ln w="12700" cap="flat" cmpd="sng">
            <a:solidFill>
              <a:srgbClr val="2E7D4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4" name="Google Shape;544;p27"/>
          <p:cNvSpPr txBox="1"/>
          <p:nvPr/>
        </p:nvSpPr>
        <p:spPr>
          <a:xfrm>
            <a:off x="731520" y="502920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70"/>
              <a:buFont typeface="Calibri"/>
              <a:buNone/>
            </a:pPr>
            <a:r>
              <a:rPr lang="en-US" sz="1870" b="1">
                <a:solidFill>
                  <a:srgbClr val="FFFFFF"/>
                </a:solidFill>
                <a:latin typeface="Calibri"/>
                <a:ea typeface="Calibri"/>
                <a:cs typeface="Calibri"/>
                <a:sym typeface="Calibri"/>
              </a:rPr>
              <a:t>F</a:t>
            </a:r>
            <a:endParaRPr sz="1870">
              <a:solidFill>
                <a:schemeClr val="dk1"/>
              </a:solidFill>
              <a:latin typeface="Calibri"/>
              <a:ea typeface="Calibri"/>
              <a:cs typeface="Calibri"/>
              <a:sym typeface="Calibri"/>
            </a:endParaRPr>
          </a:p>
        </p:txBody>
      </p:sp>
      <p:sp>
        <p:nvSpPr>
          <p:cNvPr id="545" name="Google Shape;545;p27"/>
          <p:cNvSpPr/>
          <p:nvPr/>
        </p:nvSpPr>
        <p:spPr>
          <a:xfrm>
            <a:off x="1344168" y="5029200"/>
            <a:ext cx="502920" cy="502920"/>
          </a:xfrm>
          <a:prstGeom prst="ellipse">
            <a:avLst/>
          </a:prstGeom>
          <a:solidFill>
            <a:srgbClr val="B7791F"/>
          </a:solidFill>
          <a:ln w="12700" cap="flat" cmpd="sng">
            <a:solidFill>
              <a:srgbClr val="B7791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6" name="Google Shape;546;p27"/>
          <p:cNvSpPr txBox="1"/>
          <p:nvPr/>
        </p:nvSpPr>
        <p:spPr>
          <a:xfrm>
            <a:off x="1344168" y="502920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70"/>
              <a:buFont typeface="Calibri"/>
              <a:buNone/>
            </a:pPr>
            <a:r>
              <a:rPr lang="en-US" sz="1870" b="1">
                <a:solidFill>
                  <a:srgbClr val="FFFFFF"/>
                </a:solidFill>
                <a:latin typeface="Calibri"/>
                <a:ea typeface="Calibri"/>
                <a:cs typeface="Calibri"/>
                <a:sym typeface="Calibri"/>
              </a:rPr>
              <a:t>I</a:t>
            </a:r>
            <a:endParaRPr sz="1870">
              <a:solidFill>
                <a:schemeClr val="dk1"/>
              </a:solidFill>
              <a:latin typeface="Calibri"/>
              <a:ea typeface="Calibri"/>
              <a:cs typeface="Calibri"/>
              <a:sym typeface="Calibri"/>
            </a:endParaRPr>
          </a:p>
        </p:txBody>
      </p:sp>
      <p:sp>
        <p:nvSpPr>
          <p:cNvPr id="547" name="Google Shape;547;p27"/>
          <p:cNvSpPr/>
          <p:nvPr/>
        </p:nvSpPr>
        <p:spPr>
          <a:xfrm>
            <a:off x="1956816" y="5029200"/>
            <a:ext cx="502920" cy="502920"/>
          </a:xfrm>
          <a:prstGeom prst="ellipse">
            <a:avLst/>
          </a:prstGeom>
          <a:solidFill>
            <a:srgbClr val="B23A48"/>
          </a:solidFill>
          <a:ln w="12700" cap="flat" cmpd="sng">
            <a:solidFill>
              <a:srgbClr val="B23A4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8" name="Google Shape;548;p27"/>
          <p:cNvSpPr txBox="1"/>
          <p:nvPr/>
        </p:nvSpPr>
        <p:spPr>
          <a:xfrm>
            <a:off x="1956816" y="502920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70"/>
              <a:buFont typeface="Calibri"/>
              <a:buNone/>
            </a:pPr>
            <a:r>
              <a:rPr lang="en-US" sz="1870" b="1">
                <a:solidFill>
                  <a:srgbClr val="FFFFFF"/>
                </a:solidFill>
                <a:latin typeface="Calibri"/>
                <a:ea typeface="Calibri"/>
                <a:cs typeface="Calibri"/>
                <a:sym typeface="Calibri"/>
              </a:rPr>
              <a:t>A</a:t>
            </a:r>
            <a:endParaRPr sz="187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7434</Words>
  <Application>Microsoft Office PowerPoint</Application>
  <PresentationFormat>Widescreen</PresentationFormat>
  <Paragraphs>430</Paragraphs>
  <Slides>30</Slides>
  <Notes>30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PptxGenJS</dc:creator>
  <cp:lastModifiedBy>Morteza Mohammady Gharasuie</cp:lastModifiedBy>
  <cp:revision>1</cp:revision>
  <dcterms:created xsi:type="dcterms:W3CDTF">2026-09-16T20:48:25Z</dcterms:created>
  <dcterms:modified xsi:type="dcterms:W3CDTF">2026-09-17T20:01:46Z</dcterms:modified>
</cp:coreProperties>
</file>